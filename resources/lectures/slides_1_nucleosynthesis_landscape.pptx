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3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4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83" r:id="rId3"/>
    <p:sldId id="318" r:id="rId4"/>
    <p:sldId id="319" r:id="rId5"/>
    <p:sldId id="320" r:id="rId6"/>
    <p:sldId id="321" r:id="rId7"/>
    <p:sldId id="322" r:id="rId8"/>
    <p:sldId id="298" r:id="rId9"/>
    <p:sldId id="323" r:id="rId10"/>
    <p:sldId id="324" r:id="rId11"/>
    <p:sldId id="297" r:id="rId12"/>
    <p:sldId id="284" r:id="rId13"/>
    <p:sldId id="317" r:id="rId14"/>
    <p:sldId id="288" r:id="rId15"/>
    <p:sldId id="309" r:id="rId16"/>
    <p:sldId id="285" r:id="rId17"/>
    <p:sldId id="325" r:id="rId18"/>
    <p:sldId id="326" r:id="rId19"/>
    <p:sldId id="303" r:id="rId20"/>
    <p:sldId id="302" r:id="rId21"/>
    <p:sldId id="304" r:id="rId22"/>
    <p:sldId id="310" r:id="rId23"/>
    <p:sldId id="311" r:id="rId24"/>
    <p:sldId id="314" r:id="rId25"/>
    <p:sldId id="312" r:id="rId26"/>
    <p:sldId id="313" r:id="rId27"/>
    <p:sldId id="28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00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6"/>
    <p:restoredTop sz="94664"/>
  </p:normalViewPr>
  <p:slideViewPr>
    <p:cSldViewPr snapToGrid="0">
      <p:cViewPr>
        <p:scale>
          <a:sx n="130" d="100"/>
          <a:sy n="130" d="100"/>
        </p:scale>
        <p:origin x="4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26.542"/>
    </inkml:context>
    <inkml:brush xml:id="br0">
      <inkml:brushProperty name="width" value="0.035" units="cm"/>
      <inkml:brushProperty name="height" value="0.035" units="cm"/>
      <inkml:brushProperty name="color" value="#04002E"/>
    </inkml:brush>
  </inkml:definitions>
  <inkml:trace contextRef="#ctx0" brushRef="#br0">249 149 24575,'-23'0'0,"-10"0"0,-8 0 0,-3 0 0,6 0 0,6 0 0,13 0 0,4 0 0,11 0 0,4 0 0,4 0 0,5 0 0,1 0 0,4 0 0,4 0 0,2-1 0,3-1 0,-2 0 0,-4-1 0,-3-1 0,-1 0 0,-2-1 0,-3-1 0,-1 0 0,-1 0 0,-1 0 0,-1 1 0,0-1 0,0 1 0,-1 0 0,-1 0 0,0 1 0,-2 1 0,-2 0 0,-5 2 0,-5 1 0,-6 0 0,-2 0 0,-1 0 0,4 1 0,4 0 0,5-2 0,5-2 0,1-2 0,2-2 0,0 0 0,0 2 0,0 0 0,0 1 0,0 1 0,0 0 0,0 0 0,0 1 0,0-1 0,0 1 0,0-1 0,0 1 0,0 0 0,0-1 0,0 0 0,1 1 0,1 1 0,0 1 0,1 2 0,-1 3 0,0 2 0,-1 2 0,0 1 0,-1-1 0,0-1 0,-2 0 0,2-3 0,-2-2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39.244"/>
    </inkml:context>
    <inkml:brush xml:id="br0">
      <inkml:brushProperty name="width" value="0.035" units="cm"/>
      <inkml:brushProperty name="height" value="0.035" units="cm"/>
      <inkml:brushProperty name="color" value="#04002E"/>
    </inkml:brush>
  </inkml:definitions>
  <inkml:trace contextRef="#ctx0" brushRef="#br0">509 158 24575,'0'-5'0,"0"1"0,0-1 0,0-1 0,0-2 0,0 1 0,0 0 0,0 0 0,0 2 0,0-1 0,0 1 0,0 2 0,0 0 0,-1 0 0,0 0 0,0 0 0,-1 0 0,2-1 0,0 0 0,-1-2 0,0 1 0,0 0 0,0 2 0,1 3 0,0 3 0,0 2 0,0 0 0,0 2 0,0 0 0,-1 1 0,0 1 0,0-1 0,-1-1 0,1-1 0,0 0 0,0-1 0,0 0 0,0 0 0,0 0 0,0 1 0,0 2 0,0 2 0,0 1 0,-1 0 0,0-2 0,1-3 0,1-1 0,-1-1 0,0-1 0,0 0 0,0-1 0,0 0 0,0-1 0,0 1 0,-1-1 0,1 1 0,-2-1 0,0 0 0,0-1 0,-2 0 0,0 0 0,0-2 0,0-3 0,1-2 0,1-1 0,1-1 0,2 1 0,0 2 0,0 2 0,0 1 0,0 2 0,1-2 0,0 1 0,0 0 0,0 0 0,0 1 0,1 0 0,-1 1 0,2 0 0,-1 0 0,1 0 0,0 0 0,0 0 0,1 0 0,0 0 0,0-1 0,-1 0 0,0-1 0,0-1 0,-2 1 0,0 0 0,-1 0 0,-3 1 0,-3 0 0,-6 1 0,-5 0 0,-5 0 0,-2 0 0,-1 0 0,4 0 0,4 0 0,5 0 0,4 1 0,3 1 0,2 0 0,1 1 0,1-2 0,-1 0 0,0 0 0,0-1 0,0 0 0,0 1 0,0 0 0,-1-1 0,1 0 0,-1 0 0,1-1 0,8 1 0,1-1 0,7 1 0,-1 0 0,0 0 0,-2-1 0,0-1 0,-3-1 0,-2 0 0,-2-1 0,-3 0 0,0 1 0,-2-1 0,-1 0 0,-2 0 0,-1 0 0,-1 1 0,0 0 0,1 0 0,1 0 0,1 1 0,0 1 0,0 0 0,0 1 0,-2-1 0,-2 1 0,-2 1 0,-1 2 0,0 4 0,2 3 0,1 3 0,3 2 0,2 1 0,2-1 0,0-2 0,0-2 0,0-3 0,0-1 0,0-4 0,0-4 0,2-6 0,1-6 0,2-4 0,1-2 0,0 2 0,-2 1 0,-1 4 0,-2 4 0,-1 4 0,0 5 0,0 7 0,0 6 0,0 4 0,0 1 0,0-4 0,0-3 0,0-3 0,0-4 0,-1-4 0,1-5 0,-1-6 0,1-5 0,-2-2 0,0 2 0,-1 4 0,-2 5 0,-1 4 0,-1 2 0,-3 4 0,-1 7 0,-3 7 0,-2 8 0,-1 4 0,3 0 0,4-5 0,5-7 0,4-10 0,1-11 0,2-9 0,3-8 0,2-5 0,0 2 0,0 0 0,-2 4 0,-1 2 0,-2 2 0,0 3 0,0 1 0,0 3 0,-2 1 0,1 2 0,-1 0 0,1 0 0,0-1 0,0 1 0,-1 3 0,1 13 0,-1 3 0,0 12 0,0-4 0,0-1 0,1-6 0,0-4 0,1-5 0,0-3 0,2-1 0,0-1 0,0-1 0,0 0 0,0 0 0,-1 0 0,-1-1 0,1-3 0,0-5 0,1-6 0,1-6 0,-2-2 0,0-3 0,1 0 0,-1 0 0,0 3 0,0 3 0,-2 8 0,-1 5 0,-1 6 0,-4 13 0,-1 0 0,-6 13 0,2-5 0,-1 2 0,2-3 0,2-3 0,1-4 0,4-3 0,1-3 0,3-6 0,3-3 0,2-4 0,1-1 0,0-1 0,0 0 0,0 0 0,0 1 0,-1 1 0,-1 2 0,-1 2 0,-2 1 0,-1 1 0,-1 0 0,-8 0 0,-4 3 0,-10 5 0,-3 4 0,-1 4 0,1 2 0,1 3 0,3 1 0,4-1 0,3-1 0,2-3 0,4-2 0,0-1 0,3-3 0,1-2 0,0-2 0,1-1 0,1-1 0,-1 0 0,1-1 0,-1 1 0,1-2 0,0 0 0,0-1 0,1-3 0,-1-5 0,2-7 0,1-4 0,2-1 0,1 1 0,2 3 0,0 3 0,0 2 0,1 3 0,0 1 0,-1 1 0,0-1 0,1 0 0,0 1 0,-2 0 0,0 0 0,-2 1 0,1-1 0,-2 0 0,1 0 0,-2 1 0,1 0 0,-1 0 0,0-1 0,0 1 0,0 1 0,-1 0 0,-3 1 0,-2 1 0,-3 2 0,-3 2 0,-1 4 0,0 4 0,0 2 0,4 1 0,1 0 0,1 0 0,2-1 0,-1-2 0,0-1 0,0 0 0,-2-1 0,-1-1 0,-1 0 0,1 0 0,1-1 0,2 0 0,1 0 0,1-2 0,1-1 0,0-1 0,1-3 0,0-4 0,0-3 0,0 0 0,0 0 0,0 0 0,0-1 0,0-2 0,1 0 0,2 0 0,3 0 0,1 1 0,2 2 0,-2 1 0,-1 1 0,-1 0 0,0 0 0,-1 0 0,0 1 0,0 0 0,-1 0 0,1 0 0,1 1 0,0 0 0,0-1 0,1 0 0,1-1 0,0 2 0,-1 1 0,-2 1 0,-2 1 0,-2-1 0,-1-1 0,-1-1 0,0 1 0,-1 1 0,-1 1 0,-2 0 0,0 0 0,-1 1 0,-1 1 0,0 1 0,2 1 0,0 0 0,3-2 0,1-1 0,0-2 0,1 0 0,0 1 0,-2 0 0,1 0 0,0 0 0,-1 0 0,1 0 0,1 1 0,1 0 0,-1 1 0,1 1 0,-1-1 0,0 0 0,1 0 0,-1-1 0,-1 1 0,0-1 0,1 0 0,-1 0 0,1 1 0,0-1 0,-1 1 0,1 1 0,0-1 0,-1 0 0,-1-1 0,1 1 0,-1-2 0,2-1 0,1-2 0,0-2 0,0-1 0,0-2 0,0 1 0,1-1 0,3 1 0,1 0 0,2 1 0,-2 1 0,1-1 0,-2 2 0,-1 1 0,-1 0 0,0 1 0,0 1 0,0 1 0,1-1 0,0 1 0,0 0 0,0 0 0,0 0 0,0 0 0,0 0 0,-1 0 0,1 0 0,0 0 0,1 0 0,-1 1 0,-2-1 0,0 2 0,-2 0 0,-2 2 0,-2 1 0,-3 2 0,0 3 0,0-1 0,2 1 0,1-1 0,0-2 0,1 0 0,0-2 0,1-2 0,-1-1 0,1-1 0,0 1 0,0 0 0,0 1 0,1 0 0,0 1 0,1 0 0,0 1 0,1 0 0,0-1 0,0 2 0,0-1 0,0 1 0,0 1 0,0 0 0,0 1 0,0 0 0,0 1 0,0-1 0,0 0 0,-1 0 0,-1-1 0,0-1 0,0 0 0,1 0 0,-1-2 0,0-1 0,0 0 0,0-1 0,-1-1 0,0-3 0,0-4 0,0-4 0,1-5 0,0 0 0,2 3 0,-1 3 0,1 2 0,0 2 0,-1 3 0,0 0 0,-2 2 0,0-1 0,0 2 0,-1 0 0,1 3 0,1 1 0,1 2 0,0-1 0,2 1 0,1-3 0,1 0 0,2-3 0,1 0 0,1-2 0,0-2 0,0-3 0,-1-1 0,0 0 0,-2 2 0,-2 3 0,-2 2 0,-1 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54.618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268 114 24575,'-39'0'0,"0"0"0,1 0 0,10 0 0,12 0 0,12 0 0,18-3 0,1 1 0,10-3 0,0 0 0,9-2 0,14-6 0,13-4 0,4-2 0,-1 3 0,-10 3 0,-13 6 0,-10 3 0,-11 3 0,-8 0 0,-4 1 0,-3 0 0,-2 1 0,-1 0 0,0 1 0,1 0 0,0 2 0,0 0 0,-6 2 0,-9 2 0,-16 4 0,-21 7 0,-18 7 0,-10 6 0,6-1 0,11-4 0,18-8 0,17-7 0,11-5 0,11-5 0,18-6 0,-4 0 0,13-4 0,-4 2 0,10-2 0,11-5 0,11-4 0,4 0 0,-2 0 0,-9 4 0,-13 4 0,-10 3 0,-8 2 0,-6 3 0,-3 0 0,-2 1 0,0 0 0,-10 5 0,-4-1 0,-10 5 0,-2 2 0,1 2 0,1 0 0,4-1 0,4-2 0,6-4 0,2-1 0,4-2 0,2-1 0,7-2 0,2 0 0,8-1 0,0-1 0,6-1 0,4 0 0,3 1 0,-1 2 0,-6-1 0,-7 0 0,-8 0 0,-6-1 0,-14 0 0,-1 0 0,-10 2 0,2 0 0,-5 0 0,-12 0 0,-17 0 0,-17 3 0,-9 0 0,0 0 0,10 0 0,10-3 0,13 0 0,11 0 0,9 0 0,11 0 0,7 1 0,4 0 0,2 1 0,1 0 0,-1 0 0,0 1 0,-1-2 0,2 0 0,14 3 0,2-1 0,12 4 0,-3 0 0,-3 3 0,-3-1 0,-5-1 0,-4-2 0,-3-2 0,-3-2 0,-9-1 0,5-1 0,-6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58.501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0 24 24575,'21'0'0,"17"0"0,24 0 0,22 1 0,1 0 0,-9 0 0,-17 0 0,-15-1 0,-8 0 0,-9 0 0,-6 0 0,-3 0 0,-2-2 0,-2-1 0,0-1 0,-3-2 0,0 2 0,-2 0 0,1 2 0,-2 1 0,0 0 0,-2 1 0,-1 0 0,-2 0 0,-1 1 0,-1 2 0,-1 1 0,-5 2 0,-10 1 0,-13 2 0,-17 2 0,-14 2 0,-12 1 0,-4-1 0,3-3 0,9-2 0,14-4 0,12-2 0,12 0 0,10-2 0,6 2 0,4-1 0,4-1 0,9 1 0,12-1 0,16 0 0,20 1 0,14 5 0,9 5 0,-4 2 0,-11 1 0,-13-3 0,-15-3 0,-7-2 0,-8-3 0,-2-1 0,-1-1 0,0-1 0,-3 0 0,-4 0 0,-1-1 0,-2-1 0,1-1 0,0-2 0,-1 1 0,-1 2 0,-2 0 0,-1 2 0,-2-1 0,-1-2 0,-3 0 0,-4-2 0,-4 1 0,-3 0 0,-2-1 0,1 0 0,1 1 0,2 1 0,3 2 0,1 0 0,1 1 0,1 0 0,0 0 0,-2 0 0,-2 0 0,-2 0 0,-2 1 0,0-1 0,0 1 0,6 0 0,27-6 0,4-1 0,22-5 0,-11 1 0,-7 1 0,-10 4 0,-9 1 0,-8 2 0,-11 1 0,-3 2 0,-10 3 0,-5 4 0,-7 3 0,-5 3 0,-1 1 0,1 1 0,2-2 0,3 1 0,6-2 0,3-1 0,1-2 0,3-1 0,1-2 0,4-2 0,3-2 0,3 0 0,1-2 0,1-1 0,1 1 0,1-1 0,2 0 0,0-1 0,1 0 0,-1-1 0,0-1 0,0-1 0,-2-2 0,-1 1 0,-2-1 0,-1 0 0,-1 1 0,-2 0 0,-3 0 0,-5 2 0,-1 0 0,-2 0 0,3 1 0,5 0 0,4 1 0,3-1 0,2 1 0,2 0 0,1-1 0,0 1 0,1 0 0,0 0 0,2 0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26.542"/>
    </inkml:context>
    <inkml:brush xml:id="br0">
      <inkml:brushProperty name="width" value="0.035" units="cm"/>
      <inkml:brushProperty name="height" value="0.035" units="cm"/>
      <inkml:brushProperty name="color" value="#04002E"/>
    </inkml:brush>
  </inkml:definitions>
  <inkml:trace contextRef="#ctx0" brushRef="#br0">249 149 24575,'-23'0'0,"-10"0"0,-8 0 0,-3 0 0,6 0 0,6 0 0,13 0 0,4 0 0,11 0 0,4 0 0,4 0 0,5 0 0,1 0 0,4 0 0,4 0 0,2-1 0,3-1 0,-2 0 0,-4-1 0,-3-1 0,-1 0 0,-2-1 0,-3-1 0,-1 0 0,-1 0 0,-1 0 0,-1 1 0,0-1 0,0 1 0,-1 0 0,-1 0 0,0 1 0,-2 1 0,-2 0 0,-5 2 0,-5 1 0,-6 0 0,-2 0 0,-1 0 0,4 1 0,4 0 0,5-2 0,5-2 0,1-2 0,2-2 0,0 0 0,0 2 0,0 0 0,0 1 0,0 1 0,0 0 0,0 0 0,0 1 0,0-1 0,0 1 0,0-1 0,0 1 0,0 0 0,0-1 0,0 0 0,1 1 0,1 1 0,0 1 0,1 2 0,-1 3 0,0 2 0,-1 2 0,0 1 0,-1-1 0,0-1 0,-2 0 0,2-3 0,-2-2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39.244"/>
    </inkml:context>
    <inkml:brush xml:id="br0">
      <inkml:brushProperty name="width" value="0.035" units="cm"/>
      <inkml:brushProperty name="height" value="0.035" units="cm"/>
      <inkml:brushProperty name="color" value="#04002E"/>
    </inkml:brush>
  </inkml:definitions>
  <inkml:trace contextRef="#ctx0" brushRef="#br0">509 158 24575,'0'-5'0,"0"1"0,0-1 0,0-1 0,0-2 0,0 1 0,0 0 0,0 0 0,0 2 0,0-1 0,0 1 0,0 2 0,0 0 0,-1 0 0,0 0 0,0 0 0,-1 0 0,2-1 0,0 0 0,-1-2 0,0 1 0,0 0 0,0 2 0,1 3 0,0 3 0,0 2 0,0 0 0,0 2 0,0 0 0,-1 1 0,0 1 0,0-1 0,-1-1 0,1-1 0,0 0 0,0-1 0,0 0 0,0 0 0,0 0 0,0 1 0,0 2 0,0 2 0,0 1 0,-1 0 0,0-2 0,1-3 0,1-1 0,-1-1 0,0-1 0,0 0 0,0-1 0,0 0 0,0-1 0,0 1 0,-1-1 0,1 1 0,-2-1 0,0 0 0,0-1 0,-2 0 0,0 0 0,0-2 0,0-3 0,1-2 0,1-1 0,1-1 0,2 1 0,0 2 0,0 2 0,0 1 0,0 2 0,1-2 0,0 1 0,0 0 0,0 0 0,0 1 0,1 0 0,-1 1 0,2 0 0,-1 0 0,1 0 0,0 0 0,0 0 0,1 0 0,0 0 0,0-1 0,-1 0 0,0-1 0,0-1 0,-2 1 0,0 0 0,-1 0 0,-3 1 0,-3 0 0,-6 1 0,-5 0 0,-5 0 0,-2 0 0,-1 0 0,4 0 0,4 0 0,5 0 0,4 1 0,3 1 0,2 0 0,1 1 0,1-2 0,-1 0 0,0 0 0,0-1 0,0 0 0,0 1 0,0 0 0,-1-1 0,1 0 0,-1 0 0,1-1 0,8 1 0,1-1 0,7 1 0,-1 0 0,0 0 0,-2-1 0,0-1 0,-3-1 0,-2 0 0,-2-1 0,-3 0 0,0 1 0,-2-1 0,-1 0 0,-2 0 0,-1 0 0,-1 1 0,0 0 0,1 0 0,1 0 0,1 1 0,0 1 0,0 0 0,0 1 0,-2-1 0,-2 1 0,-2 1 0,-1 2 0,0 4 0,2 3 0,1 3 0,3 2 0,2 1 0,2-1 0,0-2 0,0-2 0,0-3 0,0-1 0,0-4 0,0-4 0,2-6 0,1-6 0,2-4 0,1-2 0,0 2 0,-2 1 0,-1 4 0,-2 4 0,-1 4 0,0 5 0,0 7 0,0 6 0,0 4 0,0 1 0,0-4 0,0-3 0,0-3 0,0-4 0,-1-4 0,1-5 0,-1-6 0,1-5 0,-2-2 0,0 2 0,-1 4 0,-2 5 0,-1 4 0,-1 2 0,-3 4 0,-1 7 0,-3 7 0,-2 8 0,-1 4 0,3 0 0,4-5 0,5-7 0,4-10 0,1-11 0,2-9 0,3-8 0,2-5 0,0 2 0,0 0 0,-2 4 0,-1 2 0,-2 2 0,0 3 0,0 1 0,0 3 0,-2 1 0,1 2 0,-1 0 0,1 0 0,0-1 0,0 1 0,-1 3 0,1 13 0,-1 3 0,0 12 0,0-4 0,0-1 0,1-6 0,0-4 0,1-5 0,0-3 0,2-1 0,0-1 0,0-1 0,0 0 0,0 0 0,-1 0 0,-1-1 0,1-3 0,0-5 0,1-6 0,1-6 0,-2-2 0,0-3 0,1 0 0,-1 0 0,0 3 0,0 3 0,-2 8 0,-1 5 0,-1 6 0,-4 13 0,-1 0 0,-6 13 0,2-5 0,-1 2 0,2-3 0,2-3 0,1-4 0,4-3 0,1-3 0,3-6 0,3-3 0,2-4 0,1-1 0,0-1 0,0 0 0,0 0 0,0 1 0,-1 1 0,-1 2 0,-1 2 0,-2 1 0,-1 1 0,-1 0 0,-8 0 0,-4 3 0,-10 5 0,-3 4 0,-1 4 0,1 2 0,1 3 0,3 1 0,4-1 0,3-1 0,2-3 0,4-2 0,0-1 0,3-3 0,1-2 0,0-2 0,1-1 0,1-1 0,-1 0 0,1-1 0,-1 1 0,1-2 0,0 0 0,0-1 0,1-3 0,-1-5 0,2-7 0,1-4 0,2-1 0,1 1 0,2 3 0,0 3 0,0 2 0,1 3 0,0 1 0,-1 1 0,0-1 0,1 0 0,0 1 0,-2 0 0,0 0 0,-2 1 0,1-1 0,-2 0 0,1 0 0,-2 1 0,1 0 0,-1 0 0,0-1 0,0 1 0,0 1 0,-1 0 0,-3 1 0,-2 1 0,-3 2 0,-3 2 0,-1 4 0,0 4 0,0 2 0,4 1 0,1 0 0,1 0 0,2-1 0,-1-2 0,0-1 0,0 0 0,-2-1 0,-1-1 0,-1 0 0,1 0 0,1-1 0,2 0 0,1 0 0,1-2 0,1-1 0,0-1 0,1-3 0,0-4 0,0-3 0,0 0 0,0 0 0,0 0 0,0-1 0,0-2 0,1 0 0,2 0 0,3 0 0,1 1 0,2 2 0,-2 1 0,-1 1 0,-1 0 0,0 0 0,-1 0 0,0 1 0,0 0 0,-1 0 0,1 0 0,1 1 0,0 0 0,0-1 0,1 0 0,1-1 0,0 2 0,-1 1 0,-2 1 0,-2 1 0,-2-1 0,-1-1 0,-1-1 0,0 1 0,-1 1 0,-1 1 0,-2 0 0,0 0 0,-1 1 0,-1 1 0,0 1 0,2 1 0,0 0 0,3-2 0,1-1 0,0-2 0,1 0 0,0 1 0,-2 0 0,1 0 0,0 0 0,-1 0 0,1 0 0,1 1 0,1 0 0,-1 1 0,1 1 0,-1-1 0,0 0 0,1 0 0,-1-1 0,-1 1 0,0-1 0,1 0 0,-1 0 0,1 1 0,0-1 0,-1 1 0,1 1 0,0-1 0,-1 0 0,-1-1 0,1 1 0,-1-2 0,2-1 0,1-2 0,0-2 0,0-1 0,0-2 0,0 1 0,1-1 0,3 1 0,1 0 0,2 1 0,-2 1 0,1-1 0,-2 2 0,-1 1 0,-1 0 0,0 1 0,0 1 0,0 1 0,1-1 0,0 1 0,0 0 0,0 0 0,0 0 0,0 0 0,0 0 0,-1 0 0,1 0 0,0 0 0,1 0 0,-1 1 0,-2-1 0,0 2 0,-2 0 0,-2 2 0,-2 1 0,-3 2 0,0 3 0,0-1 0,2 1 0,1-1 0,0-2 0,1 0 0,0-2 0,1-2 0,-1-1 0,1-1 0,0 1 0,0 0 0,0 1 0,1 0 0,0 1 0,1 0 0,0 1 0,1 0 0,0-1 0,0 2 0,0-1 0,0 1 0,0 1 0,0 0 0,0 1 0,0 0 0,0 1 0,0-1 0,0 0 0,-1 0 0,-1-1 0,0-1 0,0 0 0,1 0 0,-1-2 0,0-1 0,0 0 0,0-1 0,-1-1 0,0-3 0,0-4 0,0-4 0,1-5 0,0 0 0,2 3 0,-1 3 0,1 2 0,0 2 0,-1 3 0,0 0 0,-2 2 0,0-1 0,0 2 0,-1 0 0,1 3 0,1 1 0,1 2 0,0-1 0,2 1 0,1-3 0,1 0 0,2-3 0,1 0 0,1-2 0,0-2 0,0-3 0,-1-1 0,0 0 0,-2 2 0,-2 3 0,-2 2 0,-1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54.618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268 114 24575,'-39'0'0,"0"0"0,1 0 0,10 0 0,12 0 0,12 0 0,18-3 0,1 1 0,10-3 0,0 0 0,9-2 0,14-6 0,13-4 0,4-2 0,-1 3 0,-10 3 0,-13 6 0,-10 3 0,-11 3 0,-8 0 0,-4 1 0,-3 0 0,-2 1 0,-1 0 0,0 1 0,1 0 0,0 2 0,0 0 0,-6 2 0,-9 2 0,-16 4 0,-21 7 0,-18 7 0,-10 6 0,6-1 0,11-4 0,18-8 0,17-7 0,11-5 0,11-5 0,18-6 0,-4 0 0,13-4 0,-4 2 0,10-2 0,11-5 0,11-4 0,4 0 0,-2 0 0,-9 4 0,-13 4 0,-10 3 0,-8 2 0,-6 3 0,-3 0 0,-2 1 0,0 0 0,-10 5 0,-4-1 0,-10 5 0,-2 2 0,1 2 0,1 0 0,4-1 0,4-2 0,6-4 0,2-1 0,4-2 0,2-1 0,7-2 0,2 0 0,8-1 0,0-1 0,6-1 0,4 0 0,3 1 0,-1 2 0,-6-1 0,-7 0 0,-8 0 0,-6-1 0,-14 0 0,-1 0 0,-10 2 0,2 0 0,-5 0 0,-12 0 0,-17 0 0,-17 3 0,-9 0 0,0 0 0,10 0 0,10-3 0,13 0 0,11 0 0,9 0 0,11 0 0,7 1 0,4 0 0,2 1 0,1 0 0,-1 0 0,0 1 0,-1-2 0,2 0 0,14 3 0,2-1 0,12 4 0,-3 0 0,-3 3 0,-3-1 0,-5-1 0,-4-2 0,-3-2 0,-3-2 0,-9-1 0,5-1 0,-6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58.501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0 24 24575,'21'0'0,"17"0"0,24 0 0,22 1 0,1 0 0,-9 0 0,-17 0 0,-15-1 0,-8 0 0,-9 0 0,-6 0 0,-3 0 0,-2-2 0,-2-1 0,0-1 0,-3-2 0,0 2 0,-2 0 0,1 2 0,-2 1 0,0 0 0,-2 1 0,-1 0 0,-2 0 0,-1 1 0,-1 2 0,-1 1 0,-5 2 0,-10 1 0,-13 2 0,-17 2 0,-14 2 0,-12 1 0,-4-1 0,3-3 0,9-2 0,14-4 0,12-2 0,12 0 0,10-2 0,6 2 0,4-1 0,4-1 0,9 1 0,12-1 0,16 0 0,20 1 0,14 5 0,9 5 0,-4 2 0,-11 1 0,-13-3 0,-15-3 0,-7-2 0,-8-3 0,-2-1 0,-1-1 0,0-1 0,-3 0 0,-4 0 0,-1-1 0,-2-1 0,1-1 0,0-2 0,-1 1 0,-1 2 0,-2 0 0,-1 2 0,-2-1 0,-1-2 0,-3 0 0,-4-2 0,-4 1 0,-3 0 0,-2-1 0,1 0 0,1 1 0,2 1 0,3 2 0,1 0 0,1 1 0,1 0 0,0 0 0,-2 0 0,-2 0 0,-2 0 0,-2 1 0,0-1 0,0 1 0,6 0 0,27-6 0,4-1 0,22-5 0,-11 1 0,-7 1 0,-10 4 0,-9 1 0,-8 2 0,-11 1 0,-3 2 0,-10 3 0,-5 4 0,-7 3 0,-5 3 0,-1 1 0,1 1 0,2-2 0,3 1 0,6-2 0,3-1 0,1-2 0,3-1 0,1-2 0,4-2 0,3-2 0,3 0 0,1-2 0,1-1 0,1 1 0,1-1 0,2 0 0,0-1 0,1 0 0,-1-1 0,0-1 0,0-1 0,-2-2 0,-1 1 0,-2-1 0,-1 0 0,-1 1 0,-2 0 0,-3 0 0,-5 2 0,-1 0 0,-2 0 0,3 1 0,5 0 0,4 1 0,3-1 0,2 1 0,2 0 0,1-1 0,0 1 0,1 0 0,0 0 0,2 0 0,0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0:36.7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1468 24575,'53'-83'0,"-1"0"0,1 1 0,0-1 0,-1 0 0,1 0 0,-1 0 0,1 1 0,7-3 0,5-6 0,3-3 0,0 3 0,-3 6 0,-6 10 0,-9 14 0,-11 20 0,19 0 0,-4 4 0,11-7 0,-19 12 0,-29 19 0,3 0 0,-17 10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0:36.7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0 24575,'-23'0'0,"1"0"0,-4 0 0,1 0 0,5 0 0,1 0 0,4 0 0,2 0 0,4 0 0,7 0 0,13 0 0,3 0 0,10 0 0,2 2 0,5 0 0,3 2 0,-1 0 0,-1-2 0,-5 2 0,-2-2 0,-4 0 0,-3-1 0,-2-1 0,-2 0 0,-5 2 0,-6 0 0,-7 4 0,-6 2 0,-5 2 0,-3 6 0,-2 2 0,-1 4 0,1 3 0,1-3 0,2-2 0,3-2 0,2-3 0,3 0 0,3-2 0,1 0 0,2-3 0,1-3 0,2-3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26.542"/>
    </inkml:context>
    <inkml:brush xml:id="br0">
      <inkml:brushProperty name="width" value="0.035" units="cm"/>
      <inkml:brushProperty name="height" value="0.035" units="cm"/>
      <inkml:brushProperty name="color" value="#04002E"/>
    </inkml:brush>
  </inkml:definitions>
  <inkml:trace contextRef="#ctx0" brushRef="#br0">249 149 24575,'-23'0'0,"-10"0"0,-8 0 0,-3 0 0,6 0 0,6 0 0,13 0 0,4 0 0,11 0 0,4 0 0,4 0 0,5 0 0,1 0 0,4 0 0,4 0 0,2-1 0,3-1 0,-2 0 0,-4-1 0,-3-1 0,-1 0 0,-2-1 0,-3-1 0,-1 0 0,-1 0 0,-1 0 0,-1 1 0,0-1 0,0 1 0,-1 0 0,-1 0 0,0 1 0,-2 1 0,-2 0 0,-5 2 0,-5 1 0,-6 0 0,-2 0 0,-1 0 0,4 1 0,4 0 0,5-2 0,5-2 0,1-2 0,2-2 0,0 0 0,0 2 0,0 0 0,0 1 0,0 1 0,0 0 0,0 0 0,0 1 0,0-1 0,0 1 0,0-1 0,0 1 0,0 0 0,0-1 0,0 0 0,1 1 0,1 1 0,0 1 0,1 2 0,-1 3 0,0 2 0,-1 2 0,0 1 0,-1-1 0,0-1 0,-2 0 0,2-3 0,-2-2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39.244"/>
    </inkml:context>
    <inkml:brush xml:id="br0">
      <inkml:brushProperty name="width" value="0.035" units="cm"/>
      <inkml:brushProperty name="height" value="0.035" units="cm"/>
      <inkml:brushProperty name="color" value="#04002E"/>
    </inkml:brush>
  </inkml:definitions>
  <inkml:trace contextRef="#ctx0" brushRef="#br0">509 158 24575,'0'-5'0,"0"1"0,0-1 0,0-1 0,0-2 0,0 1 0,0 0 0,0 0 0,0 2 0,0-1 0,0 1 0,0 2 0,0 0 0,-1 0 0,0 0 0,0 0 0,-1 0 0,2-1 0,0 0 0,-1-2 0,0 1 0,0 0 0,0 2 0,1 3 0,0 3 0,0 2 0,0 0 0,0 2 0,0 0 0,-1 1 0,0 1 0,0-1 0,-1-1 0,1-1 0,0 0 0,0-1 0,0 0 0,0 0 0,0 0 0,0 1 0,0 2 0,0 2 0,0 1 0,-1 0 0,0-2 0,1-3 0,1-1 0,-1-1 0,0-1 0,0 0 0,0-1 0,0 0 0,0-1 0,0 1 0,-1-1 0,1 1 0,-2-1 0,0 0 0,0-1 0,-2 0 0,0 0 0,0-2 0,0-3 0,1-2 0,1-1 0,1-1 0,2 1 0,0 2 0,0 2 0,0 1 0,0 2 0,1-2 0,0 1 0,0 0 0,0 0 0,0 1 0,1 0 0,-1 1 0,2 0 0,-1 0 0,1 0 0,0 0 0,0 0 0,1 0 0,0 0 0,0-1 0,-1 0 0,0-1 0,0-1 0,-2 1 0,0 0 0,-1 0 0,-3 1 0,-3 0 0,-6 1 0,-5 0 0,-5 0 0,-2 0 0,-1 0 0,4 0 0,4 0 0,5 0 0,4 1 0,3 1 0,2 0 0,1 1 0,1-2 0,-1 0 0,0 0 0,0-1 0,0 0 0,0 1 0,0 0 0,-1-1 0,1 0 0,-1 0 0,1-1 0,8 1 0,1-1 0,7 1 0,-1 0 0,0 0 0,-2-1 0,0-1 0,-3-1 0,-2 0 0,-2-1 0,-3 0 0,0 1 0,-2-1 0,-1 0 0,-2 0 0,-1 0 0,-1 1 0,0 0 0,1 0 0,1 0 0,1 1 0,0 1 0,0 0 0,0 1 0,-2-1 0,-2 1 0,-2 1 0,-1 2 0,0 4 0,2 3 0,1 3 0,3 2 0,2 1 0,2-1 0,0-2 0,0-2 0,0-3 0,0-1 0,0-4 0,0-4 0,2-6 0,1-6 0,2-4 0,1-2 0,0 2 0,-2 1 0,-1 4 0,-2 4 0,-1 4 0,0 5 0,0 7 0,0 6 0,0 4 0,0 1 0,0-4 0,0-3 0,0-3 0,0-4 0,-1-4 0,1-5 0,-1-6 0,1-5 0,-2-2 0,0 2 0,-1 4 0,-2 5 0,-1 4 0,-1 2 0,-3 4 0,-1 7 0,-3 7 0,-2 8 0,-1 4 0,3 0 0,4-5 0,5-7 0,4-10 0,1-11 0,2-9 0,3-8 0,2-5 0,0 2 0,0 0 0,-2 4 0,-1 2 0,-2 2 0,0 3 0,0 1 0,0 3 0,-2 1 0,1 2 0,-1 0 0,1 0 0,0-1 0,0 1 0,-1 3 0,1 13 0,-1 3 0,0 12 0,0-4 0,0-1 0,1-6 0,0-4 0,1-5 0,0-3 0,2-1 0,0-1 0,0-1 0,0 0 0,0 0 0,-1 0 0,-1-1 0,1-3 0,0-5 0,1-6 0,1-6 0,-2-2 0,0-3 0,1 0 0,-1 0 0,0 3 0,0 3 0,-2 8 0,-1 5 0,-1 6 0,-4 13 0,-1 0 0,-6 13 0,2-5 0,-1 2 0,2-3 0,2-3 0,1-4 0,4-3 0,1-3 0,3-6 0,3-3 0,2-4 0,1-1 0,0-1 0,0 0 0,0 0 0,0 1 0,-1 1 0,-1 2 0,-1 2 0,-2 1 0,-1 1 0,-1 0 0,-8 0 0,-4 3 0,-10 5 0,-3 4 0,-1 4 0,1 2 0,1 3 0,3 1 0,4-1 0,3-1 0,2-3 0,4-2 0,0-1 0,3-3 0,1-2 0,0-2 0,1-1 0,1-1 0,-1 0 0,1-1 0,-1 1 0,1-2 0,0 0 0,0-1 0,1-3 0,-1-5 0,2-7 0,1-4 0,2-1 0,1 1 0,2 3 0,0 3 0,0 2 0,1 3 0,0 1 0,-1 1 0,0-1 0,1 0 0,0 1 0,-2 0 0,0 0 0,-2 1 0,1-1 0,-2 0 0,1 0 0,-2 1 0,1 0 0,-1 0 0,0-1 0,0 1 0,0 1 0,-1 0 0,-3 1 0,-2 1 0,-3 2 0,-3 2 0,-1 4 0,0 4 0,0 2 0,4 1 0,1 0 0,1 0 0,2-1 0,-1-2 0,0-1 0,0 0 0,-2-1 0,-1-1 0,-1 0 0,1 0 0,1-1 0,2 0 0,1 0 0,1-2 0,1-1 0,0-1 0,1-3 0,0-4 0,0-3 0,0 0 0,0 0 0,0 0 0,0-1 0,0-2 0,1 0 0,2 0 0,3 0 0,1 1 0,2 2 0,-2 1 0,-1 1 0,-1 0 0,0 0 0,-1 0 0,0 1 0,0 0 0,-1 0 0,1 0 0,1 1 0,0 0 0,0-1 0,1 0 0,1-1 0,0 2 0,-1 1 0,-2 1 0,-2 1 0,-2-1 0,-1-1 0,-1-1 0,0 1 0,-1 1 0,-1 1 0,-2 0 0,0 0 0,-1 1 0,-1 1 0,0 1 0,2 1 0,0 0 0,3-2 0,1-1 0,0-2 0,1 0 0,0 1 0,-2 0 0,1 0 0,0 0 0,-1 0 0,1 0 0,1 1 0,1 0 0,-1 1 0,1 1 0,-1-1 0,0 0 0,1 0 0,-1-1 0,-1 1 0,0-1 0,1 0 0,-1 0 0,1 1 0,0-1 0,-1 1 0,1 1 0,0-1 0,-1 0 0,-1-1 0,1 1 0,-1-2 0,2-1 0,1-2 0,0-2 0,0-1 0,0-2 0,0 1 0,1-1 0,3 1 0,1 0 0,2 1 0,-2 1 0,1-1 0,-2 2 0,-1 1 0,-1 0 0,0 1 0,0 1 0,0 1 0,1-1 0,0 1 0,0 0 0,0 0 0,0 0 0,0 0 0,0 0 0,-1 0 0,1 0 0,0 0 0,1 0 0,-1 1 0,-2-1 0,0 2 0,-2 0 0,-2 2 0,-2 1 0,-3 2 0,0 3 0,0-1 0,2 1 0,1-1 0,0-2 0,1 0 0,0-2 0,1-2 0,-1-1 0,1-1 0,0 1 0,0 0 0,0 1 0,1 0 0,0 1 0,1 0 0,0 1 0,1 0 0,0-1 0,0 2 0,0-1 0,0 1 0,0 1 0,0 0 0,0 1 0,0 0 0,0 1 0,0-1 0,0 0 0,-1 0 0,-1-1 0,0-1 0,0 0 0,1 0 0,-1-2 0,0-1 0,0 0 0,0-1 0,-1-1 0,0-3 0,0-4 0,0-4 0,1-5 0,0 0 0,2 3 0,-1 3 0,1 2 0,0 2 0,-1 3 0,0 0 0,-2 2 0,0-1 0,0 2 0,-1 0 0,1 3 0,1 1 0,1 2 0,0-1 0,2 1 0,1-3 0,1 0 0,2-3 0,1 0 0,1-2 0,0-2 0,0-3 0,-1-1 0,0 0 0,-2 2 0,-2 3 0,-2 2 0,-1 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54.618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268 114 24575,'-39'0'0,"0"0"0,1 0 0,10 0 0,12 0 0,12 0 0,18-3 0,1 1 0,10-3 0,0 0 0,9-2 0,14-6 0,13-4 0,4-2 0,-1 3 0,-10 3 0,-13 6 0,-10 3 0,-11 3 0,-8 0 0,-4 1 0,-3 0 0,-2 1 0,-1 0 0,0 1 0,1 0 0,0 2 0,0 0 0,-6 2 0,-9 2 0,-16 4 0,-21 7 0,-18 7 0,-10 6 0,6-1 0,11-4 0,18-8 0,17-7 0,11-5 0,11-5 0,18-6 0,-4 0 0,13-4 0,-4 2 0,10-2 0,11-5 0,11-4 0,4 0 0,-2 0 0,-9 4 0,-13 4 0,-10 3 0,-8 2 0,-6 3 0,-3 0 0,-2 1 0,0 0 0,-10 5 0,-4-1 0,-10 5 0,-2 2 0,1 2 0,1 0 0,4-1 0,4-2 0,6-4 0,2-1 0,4-2 0,2-1 0,7-2 0,2 0 0,8-1 0,0-1 0,6-1 0,4 0 0,3 1 0,-1 2 0,-6-1 0,-7 0 0,-8 0 0,-6-1 0,-14 0 0,-1 0 0,-10 2 0,2 0 0,-5 0 0,-12 0 0,-17 0 0,-17 3 0,-9 0 0,0 0 0,10 0 0,10-3 0,13 0 0,11 0 0,9 0 0,11 0 0,7 1 0,4 0 0,2 1 0,1 0 0,-1 0 0,0 1 0,-1-2 0,2 0 0,14 3 0,2-1 0,12 4 0,-3 0 0,-3 3 0,-3-1 0,-5-1 0,-4-2 0,-3-2 0,-3-2 0,-9-1 0,5-1 0,-6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09:58.501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0 24 24575,'21'0'0,"17"0"0,24 0 0,22 1 0,1 0 0,-9 0 0,-17 0 0,-15-1 0,-8 0 0,-9 0 0,-6 0 0,-3 0 0,-2-2 0,-2-1 0,0-1 0,-3-2 0,0 2 0,-2 0 0,1 2 0,-2 1 0,0 0 0,-2 1 0,-1 0 0,-2 0 0,-1 1 0,-1 2 0,-1 1 0,-5 2 0,-10 1 0,-13 2 0,-17 2 0,-14 2 0,-12 1 0,-4-1 0,3-3 0,9-2 0,14-4 0,12-2 0,12 0 0,10-2 0,6 2 0,4-1 0,4-1 0,9 1 0,12-1 0,16 0 0,20 1 0,14 5 0,9 5 0,-4 2 0,-11 1 0,-13-3 0,-15-3 0,-7-2 0,-8-3 0,-2-1 0,-1-1 0,0-1 0,-3 0 0,-4 0 0,-1-1 0,-2-1 0,1-1 0,0-2 0,-1 1 0,-1 2 0,-2 0 0,-1 2 0,-2-1 0,-1-2 0,-3 0 0,-4-2 0,-4 1 0,-3 0 0,-2-1 0,1 0 0,1 1 0,2 1 0,3 2 0,1 0 0,1 1 0,1 0 0,0 0 0,-2 0 0,-2 0 0,-2 0 0,-2 1 0,0-1 0,0 1 0,6 0 0,27-6 0,4-1 0,22-5 0,-11 1 0,-7 1 0,-10 4 0,-9 1 0,-8 2 0,-11 1 0,-3 2 0,-10 3 0,-5 4 0,-7 3 0,-5 3 0,-1 1 0,1 1 0,2-2 0,3 1 0,6-2 0,3-1 0,1-2 0,3-1 0,1-2 0,4-2 0,3-2 0,3 0 0,1-2 0,1-1 0,1 1 0,1-1 0,2 0 0,0-1 0,1 0 0,-1-1 0,0-1 0,0-1 0,-2-2 0,-1 1 0,-2-1 0,-1 0 0,-1 1 0,-2 0 0,-3 0 0,-5 2 0,-1 0 0,-2 0 0,3 1 0,5 0 0,4 1 0,3-1 0,2 1 0,2 0 0,1-1 0,0 1 0,1 0 0,0 0 0,2 0 0,0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0:36.7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1468 24575,'53'-83'0,"-1"0"0,1 1 0,0-1 0,-1 0 0,1 0 0,-1 0 0,1 1 0,7-3 0,5-6 0,3-3 0,0 3 0,-3 6 0,-6 10 0,-9 14 0,-11 20 0,19 0 0,-4 4 0,11-7 0,-19 12 0,-29 19 0,3 0 0,-17 10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0:36.7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0 24575,'-23'0'0,"1"0"0,-4 0 0,1 0 0,5 0 0,1 0 0,4 0 0,2 0 0,4 0 0,7 0 0,13 0 0,3 0 0,10 0 0,2 2 0,5 0 0,3 2 0,-1 0 0,-1-2 0,-5 2 0,-2-2 0,-4 0 0,-3-1 0,-2-1 0,-2 0 0,-5 2 0,-6 0 0,-7 4 0,-6 2 0,-5 2 0,-3 6 0,-2 2 0,-1 4 0,1 3 0,1-3 0,2-2 0,3-2 0,2-3 0,3 0 0,3-2 0,1 0 0,2-3 0,1-3 0,2-3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1:23.615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963 371 24575,'-10'63'0,"0"-1"0,-1-4 0,-1-3 0,-13 33 0,5-33 0,14-36 0,4-27 0,2-19 0,3-11 0,6-12 0,7-7 0,8-11 0,6-8 0,3-3 0,-2 8 0,-6 16 0,-10 17 0,-8 18 0,-13 16 0,-20 31 0,-5 11 0,-5 9 0,-13 19 0,-3 7 0,13-18 0,-2 3 0,1-1 0,0 0 0,0-1 0,2-4 0,-6 10 0,3-8 0,-9 11 0,26-46 0,34-69 0,8 1 0,4-8 0,6-12 0,3-3 0,4-6 0,0 0 0,-6 15 0,-3 4 0,10-24 0,-16 33 0,-12 30 0,-8 18 0,-9 16 0,-7 14 0,-3 12 0,-2 8 0,5-4 0,4-9 0,5-18 0,5-28 0,10-30 0,12-28 0,10-17 0,3 7 0,-10 19 0,-13 27 0,-11 20 0,-18 29 0,-21 33 0,-18 31 0,23-29 0,-1 2 0,3-4 0,2-3 0,-19 23 0,20-34 0,16-32 0,8-31 0,5-27 0,0-15 0,1-4 0,0 17 0,-1 25 0,-3 29 0,-2 27 0,-4 26 0,-10 20 0,-8 9 0,-7-2 0,1-12 0,8-20 0,9-18 0,7-18 0,4-19 0,3-21 0,2-16 0,-1-5 0,-2 7 0,-6 18 0,-4 13 0,-4 20 0,-3 16 0,-2 16 0,-2 13 0,-5 5 0,2-5 0,2-12 0,9-19 0,9-28 0,11-35 0,23-39 0,-5 29 0,3-1 0,6-2 0,3 0 0,-1 7 0,-1 2 0,15-21 0,-15 26 0,-14 25 0,-10 26 0,-3 27 0,-4 28 0,-3 22 0,1 8 0,0-10 0,2-23 0,3-24 0,6-32 0,7-33 0,4-23 0,-1-11 0,-4 6 0,-5 26 0,-4 27 0,-5 29 0,-6 28 0,-1 20 0,-1 5 0,4-14 0,2-26 0,5-42 0,16-53 0,-3 11 0,3-4 0,5-10 0,1 0 0,0 5 0,-1 3 0,11-17 0,-15 33 0,-12 35 0,-7 29 0,-7 28 0,-4 18 0,-5-1 0,3-16 0,3-30 0,9-41 0,26-53 0,-2 13 0,3-5 0,8-9 0,2 0 0,0 6 0,0 3 0,15-18 0,-23 40 0,-20 36 0,-14 30 0,-14 26 0,-6 17 0,-4 2 0,6-17 0,10-28 0,10-40 0,14-33 0,12-24 0,7-4 0,-1 17 0,-8 18 0,-11 24 0,-5 19 0,-8 15 0,-7 13 0,-3 5 0,1 1 0,4-2 0,5-6 0,2-8 0,0-10 0,0-4 0,0-3 0,-1 3 0,-2 6 0,-2 6 0,-2 9 0,-2 6 0,2 4 0,2-7 0,3-13 0,6-24 0,8-24 0,11-22 0,6-10 0,2 3 0,-5 10 0,-8 15 0,-4 12 0,-2 8 0,-2 7 0,-2 4 0,-2 8 0,-4 12 0,-2 24 0,-7 27 0,-8 23 0,4-43 0,0 0 0,-10 42 0,7-23 0,8-30 0,3-27 0,9-27 0,9-23 0,11-17 0,4-7 0,-2 6 0,-8 15 0,-9 16 0,-5 13 0,-3 12 0,-6 14 0,-2 8 0,-1 3 0,-1-5 0,4-13 0,2-22 0,3-34 0,5-39 0,0 32 0,2-1 0,0-1 0,1 2 0,11-33 0,-7 31 0,-7 29 0,-4 23 0,-3 20 0,0 16 0,0 9 0,-1 5 0,-2-3 0,-3-8 0,-2-8 0,0-8 0,2-7 0,3-6 0,0-2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1:28.460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515 899 24575,'0'-19'0,"-1"-7"0,-2-10 0,-4 1 0,-3 8 0,-1 11 0,1 10 0,0 4 0,0 11 0,-4 23 0,-8 47 0,6-20 0,-2 5 0,-2 9 0,-1 2 0,-2-1 0,0-3 0,4-14 0,1-5 0,-9 19 0,10-35 0,11-38 0,4-30 0,3-27 0,4-19 0,5-4 0,1 6 0,-3 14 0,-5 16 0,-3 15 0,-1 13 0,-2 6 0,-6 5 0,-6 4 0,-6 10 0,-6 22 0,-5 18 0,-2 19 0,0 4 0,6-10 0,5-16 0,10-34 0,8-57 0,13-20 0,7-14 0,0 9 0,3-6 0,1-1-294,4-10 0,1-1 0,1 1 294,1 1 0,1 1 0,-2 5 0,5-13 0,-3 9 0,-9 25 0,-3 8 0,2-6 0,-11 53 0,-10 44 0,-13 38 0,4-22 0,-2 3 0,-5 5 0,-1 2 441,-2-1 0,-1-1-441,2-6 0,1-3 0,-14 27 0,15-26 0,11-32 0,7-27 0,3-23 0,7-22 0,7-10 0,7 2 0,5 9 0,-2 17 0,-5 12 0,-8 14 0,-6 27 0,-7 34 0,-4-6 0,-2 6 0,-3 12 0,0 2 0,-1 5 0,-1-1 0,2-5 0,0-3 0,1 27 0,4-37 0,8-46 0,12-38 0,10-32 0,6-18 0,-3 4 0,-7 16 0,-8 27 0,-8 26 0,-3 27 0,-2 27 0,-2 17 0,-4 6 0,-2-15 0,0-20 0,2-23 0,4-32 0,5-41 0,6 11 0,3-6 0,3-7 0,3-1 0,2 0 0,1 3 0,-1 9 0,-2 5 0,2-9 0,-16 37 0,-26 49 0,-29 44 0,18-26 0,-2 3 0,-3 2 0,0 0 0,4-8 0,3-4 0,-12 10 0,18-37 0,23-42 0,19-31 0,12-15 0,4 3 0,-5 21 0,-11 22 0,-6 17 0,-5 15 0,-2 15 0,-3 13 0,-1 10 0,1-3 0,3-12 0,6-12 0,17-23 0,25-33 0,22-25 0,-31 24 0,0 0 0,-3 2 0,-2 3 0,17-14 0,-20 19 0,-16 17 0,-9 10 0,-6 10 0,-11 18 0,-11 18 0,-9 15 0,-4 5 0,10-12 0,9-20 0,19-33 0,19-31 0,15-21 0,5 0 0,-8 13 0,-12 18 0,-11 16 0,-7 12 0,-7 16 0,-8 14 0,-5 10 0,-5-1 0,3-11 0,6-15 0,4-18 0,14-28 0,14-22 0,11-10 0,3 4 0,-10 22 0,-12 23 0,-13 32 0,-12 27 0,-14 25 0,-5 8 0,4-16 0,10-25 0,11-36 0,13-29 0,11-23 0,6-5 0,-1 9 0,-8 20 0,-11 34 0,-12 25 0,-9 16 0,-2-1 0,2-15 0,8-19 0,10-27 0,29-53 0,-6 13 0,15-23 0,-22 49 0,-9 17 0,-6 16 0,-3 19 0,-2 15 0,0 5 0,0-10 0,1-18 0,2-21 0,3-12 0,2 1 0,0 12 0,-7 24 0,-6 16 0,-3 0 0,2-15 0,4-29 0,8-25 0,4-10 0,3 7 0,-2 16 0,-5 18 0,-4 14 0,-2 7 0,0 0 0,0-10 0,0-4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1:30.251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149 270 24575,'-10'14'0,"2"3"0,3 0 0,2-1 0,1-6 0,1-7 0,-1-22 0,1-7 0,6-22 0,8-1 0,10-3 0,6 1 0,-3 7 0,-6 9 0,-8 13 0,-11 24 0,-11 32 0,-9 31 0,-8 23 0,12-40 0,-1 1 0,-19 43 0,0-12 0,1-22 0,9-23 0,8-19 0,8-10 0,6-5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1:30.484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1 1 24575,'0'0'0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1:33.209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780 522 24575,'6'-75'0,"10"-4"0,7-16 0,3 3 0,-7 11 0,-10 21 0,-12 26 0,-19 28 0,-16 37 0,-13 43 0,23-19 0,2 4 0,2 4 0,3 2 0,2-3 0,1-3 0,-7 29 0,10-35 0,7-26 0,6-30 0,2-26 0,1-20 0,4-14 0,4 3 0,3 12 0,-1 18 0,-4 29 0,-10 36 0,-10 34 0,-8 22 0,-5 4 0,2-17 0,6-28 0,5-37 0,7-49 0,5-43 0,3 26 0,2-3 0,0-1 0,1 1 0,3-32 0,-2 31 0,-6 28 0,-9 33 0,-8 46 0,-7 44 0,11-32 0,0 2 0,2 3 0,0-1 0,3-12 0,0-3 0,-3 17 0,4-36 0,4-48 0,2-50 0,3 16 0,1-5 0,3-11 0,1-1 0,1-1 0,0 3 0,0 9 0,-1 5 0,3-23 0,-8 35 0,-7 37 0,-7 46 0,-4 36 0,7-25 0,0 2 0,1 3 0,0 0 0,-3 34 0,0-29 0,4-36 0,1-40 0,3-37 0,2-32 0,0-17 0,1 11 0,0 25 0,0 29 0,-7 25 0,-4 34 0,-5 28 0,-1 23 0,5 4 0,3-20 0,4-23 0,1-28 0,2-41 0,0-37 0,4-30 0,0 44 0,0 0 0,3-33 0,-4 32 0,-7 31 0,-9 39 0,-2 34 0,1 27 0,4 13 0,5-17 0,2-26 0,0-37 0,0-42 0,2-37 0,1-20 0,2 2 0,-1 26 0,-2 29 0,-7 30 0,-3 31 0,0 23 0,5 14 0,5-9 0,2-26 0,1-30 0,0-33 0,0-18 0,0-2 0,-2 11 0,-6 23 0,-10 34 0,-6 34 0,0 26 0,5 12 0,10-18 0,5-28 0,4-41 0,0-52 0,0-34 0,0-13 0,0 19 0,0 42 0,-2 42 0,-1 39 0,1 24 0,0 13 0,2-10 0,0-24 0,0-24 0,0-29 0,0-17 0,-1-6 0,-2 6 0,0 14 0,1 11 0,1 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1:35.468"/>
    </inkml:context>
    <inkml:brush xml:id="br0">
      <inkml:brushProperty name="width" value="0.1" units="cm"/>
      <inkml:brushProperty name="height" value="0.1" units="cm"/>
      <inkml:brushProperty name="color" value="#04002E"/>
    </inkml:brush>
  </inkml:definitions>
  <inkml:trace contextRef="#ctx0" brushRef="#br0">1 235 24575,'0'35'0,"0"31"0,0 27 0,0-36 0,0-1 0,0 44 0,1-35 0,8-28 0,10-45 0,19-51 0,-12 11 0,1-7 0,3-12 0,-1-1 0,-1 0 0,0 2 0,-7 13 0,-2 5 0,7-15 0,-13 35 0,-8 43 0,-12 40 0,-9 26 0,-9 15 0,-3-9 0,5-23 0,4-23 0,5-22 0,4-23 0,0-29 0,2-23 0,3-18 0,3-3 0,3 15 0,2 16 0,-2 23 0,-10 26 0,-12 23 0,-7 16 0,0 5 0,6-11 0,6-15 0,7-16 0,5-23 0,14-21 0,18-17 0,14-7 0,6 14 0,-13 20 0,-18 32 0,-13 33 0,-10 30 0,0 11 0,2-10 0,3-22 0,7-26 0,12-30 0,15-25 0,13-18 0,4-3 0,-6 15 0,-13 18 0,-13 20 0,-10 18 0,-5 16 0,-2 9 0,-1-2 0,2-14 0,5-18 0,18-31 0,22-30 0,-16 18 0,2-2 0,3-3 0,-2 1 0,22-25 0,-22 29 0,-20 33 0,-15 33 0,-8 23 0,0 6 0,1-9 0,4-20 0,9-22 0,8-18 0,5-9 0,2 3 0,-6 9 0,-8 16 0,-7 18 0,-8 13 0,-3 8 0,0-5 0,5-17 0,7-26 0,5-22 0,5-10 0,0 2 0,-5 16 0,-9 23 0,-9 21 0,-2 15 0,2 1 0,6-13 0,6-24 0,1-24 0,0-17 0,-3-4 0,-1 8 0,0 14 0,0 12 0,2 10 0,2-3 0,0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2:52.346"/>
    </inkml:context>
    <inkml:brush xml:id="br0">
      <inkml:brushProperty name="width" value="0.2" units="cm"/>
      <inkml:brushProperty name="height" value="0.2" units="cm"/>
      <inkml:brushProperty name="color" value="#04002E"/>
    </inkml:brush>
  </inkml:definitions>
  <inkml:trace contextRef="#ctx0" brushRef="#br0">387 546 24575,'-71'-40'0,"0"-1"0,0 0 0,-30-24 0,31 32 0,67 63 0,5-103 0,12-11 0,-8 25 0,1 1 0,7-9 0,-8 52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2:55.046"/>
    </inkml:context>
    <inkml:brush xml:id="br0">
      <inkml:brushProperty name="width" value="0.2" units="cm"/>
      <inkml:brushProperty name="height" value="0.2" units="cm"/>
      <inkml:brushProperty name="color" value="#04002E"/>
    </inkml:brush>
  </inkml:definitions>
  <inkml:trace contextRef="#ctx0" brushRef="#br0">1 564 24575,'0'73'0,"0"12"0,0 13 0,0-1 0,0-15 0,0-25 0,0-27 0,0-30 0,2-34 0,2-39 0,-2 18 0,0-4 0,1-9 0,0-2 0,2-6 0,1 0 0,3-2 0,1 2 0,2 4 0,1 3 0,0 8 0,1 3 0,11-26 0,-5 37 0,-2 24 0,-3 16 0,-2 21 0,1 27 0,-5 38 0,-5-23 0,-2 3 0,0 7 0,0 1 0,-1 2 0,1-1 0,0-4 0,0-2 0,0-6 0,1-3 0,1 31 0,1-26 0,0-21 0,2-15 0,3-7 0,-1 0 0,0 0 0,-4 5 0,-2 6 0,1 6 0,-1 12 0,0 18 0,-1 19 0,-2 13 0,0-4 0,0-22 0,0-31 0,0-56 0,7-50 0,-1 15 0,2-5 0,2-11 0,2 0 0,1 5 0,2 1 0,-2 7 0,0 2 0,12-36 0,-1 21 0,-1 14 0,-1 15 0,-3 12 0,-3 11 0,-4 10 0,-5 11 0,-3 23 0,-2 30 0,-2 43 0,0-34 0,0 4 0,0 7 0,0 1 0,1-1 0,0-2 0,2-11 0,0-4 0,6 26 0,4-40 0,-2-37 0,-1-33 0,-3-33 0,-4-28 0,-2 36 0,-1-1 0,0 0 0,0 1 0,0-40 0,0 12 0,0 15 0,0 15 0,2 15 0,2 16 0,1 16 0,1 28 0,-1 32 0,4 37 0,-3-38 0,1 1 0,0-2 0,1-3 0,7 33 0,-2-34 0,0-29 0,0-44 0,-1-42 0,-6 10 0,-2-4 0,0-10 0,-1-1 0,-1 4 0,1 3 0,3-40 0,1 41 0,3 29 0,2 20 0,1 21 0,3 23 0,4 26 0,2 20 0,3 0 0,-2-18 0,-5-28 0,-6-38 0,-6-36 0,-8-23 0,-6-6 0,-3 13 0,-1 22 0,4 17 0,5 10 0,1 7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9:12:58.145"/>
    </inkml:context>
    <inkml:brush xml:id="br0">
      <inkml:brushProperty name="width" value="0.2" units="cm"/>
      <inkml:brushProperty name="height" value="0.2" units="cm"/>
      <inkml:brushProperty name="color" value="#04002E"/>
    </inkml:brush>
  </inkml:definitions>
  <inkml:trace contextRef="#ctx0" brushRef="#br0">642 187 24575,'-5'59'0,"1"33"0,4-35 0,0 3 0,0 4 0,0 0 0,0-7 0,0-5 0,0 20 0,0-29 0,0-47 0,0-44 0,0-41 0,0 28 0,0-2 0,0-2 0,0 0 0,0 3 0,0 2 0,0-37 0,0 24 0,0 22 0,0 15 0,-1 14 0,-4 12 0,-3 20 0,-6 40 0,4-2 0,-1 6 0,-2 15 0,-2 4 0,-4 11 0,-2 1 0,-2 0 0,-2-3 0,1-11 0,-1-5 0,3-12 0,-1-7 0,-10 7 0,13-59 0,10-54 0,6 10 0,3-4 0,1-11 0,0-1 0,0 4 0,0 3 0,0-30 0,-3 33 0,-4 29 0,-4 15 0,-5 12 0,-5 22 0,-3 27 0,0 29 0,2 16 0,5-12 0,3-24 0,5-41 0,5-54 0,2-52 0,2 24 0,0-4 0,0-4 0,0 0 0,0 9 0,0 4 0,0-24 0,-2 41 0,-5 31 0,-7 31 0,-6 33 0,-3 27 0,1 13 0,5-15 0,5-27 0,5-33 0,2-42 0,3-47 0,1 23 0,1-4 0,1-1 0,0 1 0,7-32 0,2 35 0,3 27 0,2 16 0,-2 23 0,5 24 0,5 29 0,-8-23 0,4 2 0,6 3 0,4-1 0,4-3 0,5-2 0,3-7 0,2-5 0,44 12 0,-8-47 0,-11-43 0,-37 5 0,-5-7 0,-2-7 0,-3-1 0,-3 4 0,-1 3 0,10-27 0,-7 34 0,-3 24 0,-2 24 0,-1 28 0,4 31 0,0 22 0,2 4 0,-4-15 0,-4-36 0,-5-39 0,-4-46 0,-1-34 0,-2-9 0,0 9 0,0 33 0,6 49 0,4 44 0,7 36 0,2 7 0,-3-19 0,-1-30 0,-6-29 0,-2-35 0,-4-30 0,-2-14 0,0-2 0,-1 21 0,0 24 0,0 22 0,3 21 0,2 10 0,1 1 0,-1-11 0,-3-17 0,-2-9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74CA21-33C7-0044-A1A9-DF0D667C515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421861-F4B3-C74F-AB6A-28B5F1749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84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725F8-C326-27E4-159C-88BC22B6D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39857-C068-3724-0040-BA1C602CA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1E909-A072-E58A-72D2-F55547B997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1B006-9AD1-7874-DF7C-12A7069016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37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5EC4-C141-9FBE-749A-7350AC1B3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7E3FA-D591-484D-DD87-E9A1B77CA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77279-210B-1EE9-B2BA-368594542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C15D9-2B0D-3062-CD84-61560AB10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36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AB235-AEA4-98CE-8EE4-3C831194B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1ADF18-72CC-7F28-5AE4-72CEB44C0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1AEB38-D2DF-0145-CCE5-30B9871923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76DEE-2A67-1EE7-71AB-9B75903A9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31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CFB68-0F54-E7A9-2B60-EA606C59A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09490-02F0-0DD2-8997-BB506AC146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D7394-E01C-2A85-0403-3A0F61291D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89EE3-16FB-09B4-142D-072DFF0D7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1681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61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DD14F-0B7B-663B-A4FE-6EDC45FD4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F4F97F-BC43-B34B-EA34-21298CAE7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8A47A-DB57-0AA0-3C98-714DCC47D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29173-1EA0-375F-2362-55388538F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802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48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56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434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25C98-2730-499B-BB78-A4BDF171F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AE07E-F6EF-1E13-CEC5-3C47DB0AE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206C93-E1E2-3F9C-1B14-050F2B837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4EC90-6E6A-C409-8D90-20BFD74C2D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162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9757D-E6C3-8B88-D090-279B54374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0B35E-A434-35D1-CDBE-0E0A58F16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09C551-8EBB-7AF4-87B5-D1C9E75DE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E2B2C-BA35-01C0-5EDF-C6B2779CA2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F6F71-9D00-B40D-7B2C-4906D16FF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50710-0F07-2DDD-C864-C770015B1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01D71C-C241-50DE-12B5-6F4A9CA1F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4982A-4581-FF11-A85A-FBBB17077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516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944A8-6386-20F8-6B2B-19AEFB8BB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D668D-D965-9382-E71E-01806B568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5D7A2D-803B-A26C-B123-09A9086E9B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51C41-9E50-D3AE-7030-7F2D687164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115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75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ABD28-9CD1-1D7C-A6AD-934029B9F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3B80C-A5FD-1467-0657-E51AD772DB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A74E9-544B-FC52-D231-44EBE21B80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3BCF4-3F66-CC92-A129-905F03DF2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168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0E7FD-65FD-4CE6-B62E-EC0838F4E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669E3-188E-1E47-55D8-324F10903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87100-E881-C87C-2AEF-4F130DA38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349D6-1229-9C1F-B026-F089F56E3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97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88413-AD0C-BA0E-D7BF-B162D7E9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D6641-79E1-0A5B-BC38-5C7A84C25C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5511A-072F-A45B-0EF2-C9ECECFE6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A20BE-DD9B-0075-3401-EA65E0D7E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3156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9D9E0-A6E2-44E4-5635-F1C54502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B419A-5C04-9001-014A-0D257CD40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0D97F-4308-2AAB-D74B-C4CF65431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72240-F63C-B546-8C71-E04BAD965A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182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3E2F7-2733-AD06-F2FA-E215CC4C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F9446-6AF7-4BAD-CC34-71F6B76000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1155D02-83A8-40B7-5CED-C4DFEB35927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sz="12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such as </a:t>
                </a:r>
                <a14:m>
                  <m:oMath xmlns:m="http://schemas.openxmlformats.org/officeDocument/2006/math">
                    <m:r>
                      <a:rPr lang="en-AU" sz="1200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5</m:t>
                    </m:r>
                    <m:r>
                      <a:rPr lang="en-AU" sz="1200" b="0" i="0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4</m:t>
                    </m:r>
                    <m:r>
                      <m:rPr>
                        <m:sty m:val="p"/>
                      </m:rPr>
                      <a:rPr lang="en-AU" sz="1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Fe</m:t>
                    </m:r>
                  </m:oMath>
                </a14:m>
                <a:r>
                  <a:rPr lang="en-AU" sz="12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AU" sz="1200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5</m:t>
                    </m:r>
                    <m:r>
                      <a:rPr lang="en-AU" sz="1200" b="0" i="0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8</m:t>
                    </m:r>
                    <m:r>
                      <m:rPr>
                        <m:sty m:val="p"/>
                      </m:rPr>
                      <a:rPr lang="en-AU" sz="12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Ni</m:t>
                    </m:r>
                  </m:oMath>
                </a14:m>
                <a:r>
                  <a:rPr lang="en-AU" sz="12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, and Mn </a:t>
                </a:r>
                <a:endParaRPr lang="en-US"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1155D02-83A8-40B7-5CED-C4DFEB35927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sz="12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such as </a:t>
                </a:r>
                <a:r>
                  <a:rPr lang="en-AU" sz="1200" b="0" i="0" baseline="30000">
                    <a:solidFill>
                      <a:schemeClr val="bg1"/>
                    </a:solidFill>
                    <a:latin typeface="Cambria Math" panose="02040503050406030204" pitchFamily="18" charset="0"/>
                    <a:cs typeface="Segoe UI Light" panose="020B0502040204020203" pitchFamily="34" charset="0"/>
                  </a:rPr>
                  <a:t>54</a:t>
                </a:r>
                <a:r>
                  <a:rPr lang="en-AU" sz="1200" b="0" i="0">
                    <a:solidFill>
                      <a:schemeClr val="bg1"/>
                    </a:solidFill>
                    <a:latin typeface="Cambria Math" panose="02040503050406030204" pitchFamily="18" charset="0"/>
                    <a:cs typeface="Segoe UI Light" panose="020B0502040204020203" pitchFamily="34" charset="0"/>
                  </a:rPr>
                  <a:t>Fe</a:t>
                </a:r>
                <a:r>
                  <a:rPr lang="en-AU" sz="12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, </a:t>
                </a:r>
                <a:r>
                  <a:rPr lang="en-AU" sz="1200" b="0" i="0" baseline="30000">
                    <a:solidFill>
                      <a:schemeClr val="bg1"/>
                    </a:solidFill>
                    <a:latin typeface="Cambria Math" panose="02040503050406030204" pitchFamily="18" charset="0"/>
                    <a:cs typeface="Segoe UI Light" panose="020B0502040204020203" pitchFamily="34" charset="0"/>
                  </a:rPr>
                  <a:t>58</a:t>
                </a:r>
                <a:r>
                  <a:rPr lang="en-AU" sz="1200" b="0" i="0">
                    <a:solidFill>
                      <a:schemeClr val="bg1"/>
                    </a:solidFill>
                    <a:latin typeface="Cambria Math" panose="02040503050406030204" pitchFamily="18" charset="0"/>
                    <a:cs typeface="Segoe UI Light" panose="020B0502040204020203" pitchFamily="34" charset="0"/>
                  </a:rPr>
                  <a:t>Ni</a:t>
                </a:r>
                <a:r>
                  <a:rPr lang="en-AU" sz="12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, and Mn 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A48E1-710C-993D-0C8D-7F7DFB437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21861-F4B3-C74F-AB6A-28B5F174992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04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C540-EB84-17F6-E24C-010A09DB4C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2098F6-14A9-6BC9-26A5-FB5F39506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CCBB6-1478-472A-CF35-9C1CD012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3304D-2C31-E435-D854-1BE9ABF3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E46F6-30F0-07B6-E8FD-03D4221F5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73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99262-17F4-9A60-E793-770DBADF7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CA35E-AC45-EB70-2BE2-68404B4E4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91CD27-80FA-2958-F0CC-6CC50FD6C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04820-438C-EE53-03CC-B24002993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CECF2-CD8D-7E39-660C-1296ADA7B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837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EB2C9-5BCA-220E-686C-919A95B2F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C16D7-0C92-4C9E-A29C-E68CB394C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4E749-4803-EE99-80CB-5E2A0A41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3DAF0-F044-A21A-A511-021DF5E6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F71AB-10E2-0D28-9CF3-41B5A56B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82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E528-81D9-0E8C-11B6-40407A1F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23CD3-F52D-32AE-CFED-D3330C3B94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86D2A-F80F-97C8-5937-FC417105A8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918F2-9DAE-17F0-8F72-95D7D87F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99C30A-6392-7219-6165-CB2E9A9D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4AB23-E24C-4131-34A7-D1B6F166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15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71E2D-86EB-08A0-E071-C775104C3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C876A-CAEE-B657-4629-CE455BE90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49FD0-C0BB-42E6-B9AF-D0645B538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0DC4A-9ED3-941E-4938-94D34996B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C8054-034D-1EA1-BF2F-E4E8E31DD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A47ECE-4E8E-B776-4801-72B96B731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149BE-476E-C9EB-7838-DB8E2A036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CDB775-942B-06C0-ABFF-A18EC547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FB61-1F59-C657-2C92-3DBF07840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B81652-6C42-15B3-EC2D-51C10A52C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736FE-55CE-1923-BD60-2BE35C145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EE178-A18D-4FC5-DC33-0AC9DE21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680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28A17-0CE4-1A0F-894A-CD1E1BF9B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35EF2F-ADAC-9FCA-917C-F1B78BE12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CB110-9F0C-AF37-50F2-3823DFF43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5018-6F9E-4F0C-2676-51C528ACC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5633F-5E49-C664-5CD5-137292FB76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D1250-76A1-BE0E-A11F-D41D7D579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59DCF-9112-01EB-D737-19A6862C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1A1E4-FC69-349F-0FE4-F6022C0DE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6B5D4-2519-94D0-3C34-A0C375A1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17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57D31-751A-D50F-D0E9-619C0F6CE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774BAA-7A30-79AA-03DF-5DD1CAFCB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E53F3-B702-2EE7-71D6-9F7889942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5F5CD-C24B-2F01-10E4-4B0ED706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CD7B1-FF17-AED4-FC6E-AB1081E82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CEB0D5-816D-F4B7-3874-B053D324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75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1F82C-C022-7278-B881-1C7D628CB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A9B78-99D4-8441-4A54-E4EE151AA8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45F4D-C3E9-4AFC-BA2B-CE36D99F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F8474-0DC7-0BEC-5718-730477F4F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9DD0-0E4F-848A-9EC0-D30328306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78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DC8962-7C32-B562-57A8-5C3CABD059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A5801-EB9B-279B-9BBE-1B8FF64D2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6BE85-F2C8-F519-89BA-16034DCF8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4CA7B-90E6-5A89-06F4-D490B1995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CF6C-DE43-3712-88DC-F7DD3B32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4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C13E96-38EA-6073-6D50-6EC93370E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3F023-E46C-2189-9014-A05D31278D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83CE8-3D56-B3A0-F026-9EF5F65F2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22D2E-0A99-DF42-9E3F-0FA94C4C292D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F3326-FDB7-EC21-5FEE-C0D3F929D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2A375-AED9-DBEA-AEA6-28B1F8FDA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248D49-596F-6440-B339-DAB697C8B4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163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customXml" Target="../ink/ink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0" Type="http://schemas.openxmlformats.org/officeDocument/2006/relationships/customXml" Target="../ink/ink3.xml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13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customXml" Target="../ink/ink8.xml"/><Relationship Id="rId17" Type="http://schemas.openxmlformats.org/officeDocument/2006/relationships/image" Target="../media/image80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13.png"/><Relationship Id="rId5" Type="http://schemas.openxmlformats.org/officeDocument/2006/relationships/image" Target="../media/image6.png"/><Relationship Id="rId15" Type="http://schemas.openxmlformats.org/officeDocument/2006/relationships/image" Target="../media/image70.png"/><Relationship Id="rId10" Type="http://schemas.openxmlformats.org/officeDocument/2006/relationships/customXml" Target="../ink/ink7.xml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1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13" Type="http://schemas.openxmlformats.org/officeDocument/2006/relationships/image" Target="../media/image14.png"/><Relationship Id="rId18" Type="http://schemas.openxmlformats.org/officeDocument/2006/relationships/image" Target="../media/image17.png"/><Relationship Id="rId26" Type="http://schemas.openxmlformats.org/officeDocument/2006/relationships/image" Target="../media/image21.png"/><Relationship Id="rId3" Type="http://schemas.openxmlformats.org/officeDocument/2006/relationships/image" Target="../media/image3.png"/><Relationship Id="rId21" Type="http://schemas.openxmlformats.org/officeDocument/2006/relationships/customXml" Target="../ink/ink18.xml"/><Relationship Id="rId7" Type="http://schemas.openxmlformats.org/officeDocument/2006/relationships/image" Target="../media/image11.png"/><Relationship Id="rId12" Type="http://schemas.openxmlformats.org/officeDocument/2006/relationships/customXml" Target="../ink/ink14.xml"/><Relationship Id="rId17" Type="http://schemas.openxmlformats.org/officeDocument/2006/relationships/image" Target="../media/image16.png"/><Relationship Id="rId25" Type="http://schemas.openxmlformats.org/officeDocument/2006/relationships/customXml" Target="../ink/ink20.xml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16.xml"/><Relationship Id="rId20" Type="http://schemas.openxmlformats.org/officeDocument/2006/relationships/image" Target="../media/image18.png"/><Relationship Id="rId29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1.xml"/><Relationship Id="rId11" Type="http://schemas.openxmlformats.org/officeDocument/2006/relationships/image" Target="../media/image13.png"/><Relationship Id="rId24" Type="http://schemas.openxmlformats.org/officeDocument/2006/relationships/image" Target="../media/image20.png"/><Relationship Id="rId5" Type="http://schemas.openxmlformats.org/officeDocument/2006/relationships/image" Target="../media/image6.png"/><Relationship Id="rId15" Type="http://schemas.openxmlformats.org/officeDocument/2006/relationships/image" Target="../media/image15.png"/><Relationship Id="rId23" Type="http://schemas.openxmlformats.org/officeDocument/2006/relationships/customXml" Target="../ink/ink19.xml"/><Relationship Id="rId28" Type="http://schemas.openxmlformats.org/officeDocument/2006/relationships/image" Target="../media/image22.png"/><Relationship Id="rId10" Type="http://schemas.openxmlformats.org/officeDocument/2006/relationships/customXml" Target="../ink/ink13.xml"/><Relationship Id="rId19" Type="http://schemas.openxmlformats.org/officeDocument/2006/relationships/customXml" Target="../ink/ink17.xml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14" Type="http://schemas.openxmlformats.org/officeDocument/2006/relationships/customXml" Target="../ink/ink15.xml"/><Relationship Id="rId22" Type="http://schemas.openxmlformats.org/officeDocument/2006/relationships/image" Target="../media/image19.png"/><Relationship Id="rId27" Type="http://schemas.openxmlformats.org/officeDocument/2006/relationships/customXml" Target="../ink/ink21.xml"/><Relationship Id="rId30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.xml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0" Type="http://schemas.openxmlformats.org/officeDocument/2006/relationships/customXml" Target="../ink/ink25.xml"/><Relationship Id="rId4" Type="http://schemas.openxmlformats.org/officeDocument/2006/relationships/image" Target="../media/image4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90.png"/><Relationship Id="rId18" Type="http://schemas.openxmlformats.org/officeDocument/2006/relationships/image" Target="../media/image240.png"/><Relationship Id="rId3" Type="http://schemas.openxmlformats.org/officeDocument/2006/relationships/image" Target="../media/image3.png"/><Relationship Id="rId7" Type="http://schemas.openxmlformats.org/officeDocument/2006/relationships/image" Target="../media/image130.png"/><Relationship Id="rId12" Type="http://schemas.openxmlformats.org/officeDocument/2006/relationships/image" Target="../media/image180.png"/><Relationship Id="rId17" Type="http://schemas.openxmlformats.org/officeDocument/2006/relationships/image" Target="../media/image23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70.png"/><Relationship Id="rId5" Type="http://schemas.openxmlformats.org/officeDocument/2006/relationships/image" Target="../media/image110.png"/><Relationship Id="rId15" Type="http://schemas.openxmlformats.org/officeDocument/2006/relationships/image" Target="../media/image210.png"/><Relationship Id="rId10" Type="http://schemas.openxmlformats.org/officeDocument/2006/relationships/image" Target="../media/image160.png"/><Relationship Id="rId19" Type="http://schemas.openxmlformats.org/officeDocument/2006/relationships/image" Target="../media/image250.png"/><Relationship Id="rId4" Type="http://schemas.openxmlformats.org/officeDocument/2006/relationships/image" Target="../media/image4.png"/><Relationship Id="rId9" Type="http://schemas.openxmlformats.org/officeDocument/2006/relationships/image" Target="../media/image150.png"/><Relationship Id="rId14" Type="http://schemas.openxmlformats.org/officeDocument/2006/relationships/image" Target="../media/image20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4" Type="http://schemas.openxmlformats.org/officeDocument/2006/relationships/image" Target="../media/image4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png"/><Relationship Id="rId3" Type="http://schemas.openxmlformats.org/officeDocument/2006/relationships/image" Target="../media/image3.png"/><Relationship Id="rId7" Type="http://schemas.openxmlformats.org/officeDocument/2006/relationships/image" Target="../media/image30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11" Type="http://schemas.openxmlformats.org/officeDocument/2006/relationships/image" Target="../media/image42.png"/><Relationship Id="rId5" Type="http://schemas.openxmlformats.org/officeDocument/2006/relationships/image" Target="../media/image43.png"/><Relationship Id="rId10" Type="http://schemas.openxmlformats.org/officeDocument/2006/relationships/image" Target="../media/image330.png"/><Relationship Id="rId4" Type="http://schemas.openxmlformats.org/officeDocument/2006/relationships/image" Target="../media/image4.png"/><Relationship Id="rId9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51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52.png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53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34A9E2EE-A5DF-F03E-A2B3-AB17EF5B6667}"/>
              </a:ext>
            </a:extLst>
          </p:cNvPr>
          <p:cNvSpPr txBox="1">
            <a:spLocks/>
          </p:cNvSpPr>
          <p:nvPr/>
        </p:nvSpPr>
        <p:spPr>
          <a:xfrm>
            <a:off x="1524000" y="4290884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 Giulia Cinquegrana</a:t>
            </a:r>
          </a:p>
          <a:p>
            <a:r>
              <a:rPr lang="en-US" sz="1600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Swinburne University of Technology, Melbourne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6EFA46-91A6-A78F-FE1E-148B0854C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9217" y="5115471"/>
            <a:ext cx="4473903" cy="64028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9698153-9FBA-AA7E-33F4-DE3710738861}"/>
              </a:ext>
            </a:extLst>
          </p:cNvPr>
          <p:cNvSpPr txBox="1">
            <a:spLocks/>
          </p:cNvSpPr>
          <p:nvPr/>
        </p:nvSpPr>
        <p:spPr>
          <a:xfrm>
            <a:off x="-14718" y="1444911"/>
            <a:ext cx="12221435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I. NUCLEOSYNTHESIS:</a:t>
            </a:r>
          </a:p>
          <a:p>
            <a:r>
              <a:rPr lang="en-US" sz="3000" b="1" dirty="0">
                <a:solidFill>
                  <a:srgbClr val="FFD5FB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 stellar origins of the elements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E81DE0-CC68-7868-85D1-F4300B7007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62" t="22834" r="66424" b="20804"/>
          <a:stretch>
            <a:fillRect/>
          </a:stretch>
        </p:blipFill>
        <p:spPr>
          <a:xfrm>
            <a:off x="5394731" y="1208383"/>
            <a:ext cx="1142324" cy="115381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09EA08D-3210-A56E-FDE0-239495D35BFD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16188CC-4B8C-589D-AC97-4099A238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8BF1E6F-E6DB-09BC-5987-2901D7D92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C35808E-65D6-E6DC-4E6A-385EBED20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161A265-4F0C-9795-0813-C381C2544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2303DF0-1860-BB6A-0D5D-F4DF99E12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6FBC9B02-58CC-5C26-851A-482CC838B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288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0EB8A-75C1-13B0-B18A-5E95AC0D7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Brief History of Nucleosynthesis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C67A0-8523-D449-29DD-7522EFC5E5AF}"/>
              </a:ext>
            </a:extLst>
          </p:cNvPr>
          <p:cNvSpPr txBox="1">
            <a:spLocks/>
          </p:cNvSpPr>
          <p:nvPr/>
        </p:nvSpPr>
        <p:spPr>
          <a:xfrm>
            <a:off x="8941364" y="62268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/>
              <a:t>2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7E01043-1612-FE65-A0CC-3A48FABAB661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EC781CF-D392-D1B1-F9F3-6D47D8C4D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0AE592E-4AFF-8949-845F-561DAFFAF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DDE98DE-8226-6D9C-66F8-40038676B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4AA43C-E01D-0CEE-7DB7-9997244FF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4A375A3-24E1-E46C-D076-01F6AF761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0EAF2830-2D3D-AFFB-CB55-2ACD175C22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031" b="30171"/>
          <a:stretch>
            <a:fillRect/>
          </a:stretch>
        </p:blipFill>
        <p:spPr>
          <a:xfrm>
            <a:off x="278353" y="2050129"/>
            <a:ext cx="11635293" cy="30967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A5175D9-F3CB-ACEE-07F2-958E441609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311" b="10306"/>
          <a:stretch>
            <a:fillRect/>
          </a:stretch>
        </p:blipFill>
        <p:spPr>
          <a:xfrm>
            <a:off x="739109" y="4891976"/>
            <a:ext cx="10925897" cy="753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20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C7F85-500B-5301-5F14-CFA7742F8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72E4-0669-7863-8B3C-C87934463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Brief History of Nucleosynthesis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CFCD2-7E63-597B-21DD-F7A040B401B5}"/>
              </a:ext>
            </a:extLst>
          </p:cNvPr>
          <p:cNvSpPr txBox="1">
            <a:spLocks/>
          </p:cNvSpPr>
          <p:nvPr/>
        </p:nvSpPr>
        <p:spPr>
          <a:xfrm>
            <a:off x="8941364" y="62268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/>
              <a:t>3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B1633D-A08F-7CFA-0806-243609CCE285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CCEB521-CAB1-8019-1DF6-4404CEE74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0542A68-F000-B214-3028-BEE694C1D0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4B68CBA-9C42-CD70-F3DC-3A6D3CF8F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DE577F3-031D-9963-9A04-9166A937D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A1DA2D3-D853-3CAA-DD37-0D94840BD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C7D4AD97-8BC2-FA42-CA99-EDC0C2EC3D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031" b="30171"/>
          <a:stretch>
            <a:fillRect/>
          </a:stretch>
        </p:blipFill>
        <p:spPr>
          <a:xfrm>
            <a:off x="278353" y="2050129"/>
            <a:ext cx="11635293" cy="30967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8A9A0D8-DD54-75A7-5D50-29445DAB12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311" b="10306"/>
          <a:stretch>
            <a:fillRect/>
          </a:stretch>
        </p:blipFill>
        <p:spPr>
          <a:xfrm>
            <a:off x="739109" y="4891976"/>
            <a:ext cx="10925897" cy="75333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C06AA72-8628-7A70-5757-D0D4CA862CFF}"/>
              </a:ext>
            </a:extLst>
          </p:cNvPr>
          <p:cNvSpPr/>
          <p:nvPr/>
        </p:nvSpPr>
        <p:spPr>
          <a:xfrm rot="16200000">
            <a:off x="1705482" y="2501209"/>
            <a:ext cx="6891728" cy="1889308"/>
          </a:xfrm>
          <a:prstGeom prst="roundRect">
            <a:avLst>
              <a:gd name="adj" fmla="val 0"/>
            </a:avLst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7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18E26-0B9B-CEA6-F663-7FC5FDEB1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9DFB-806A-AA57-8675-24A2D3E28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Brief History of Nucleosynthesis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2C0EF-B336-2EDE-68DD-28EE11E7E6AD}"/>
              </a:ext>
            </a:extLst>
          </p:cNvPr>
          <p:cNvSpPr txBox="1">
            <a:spLocks/>
          </p:cNvSpPr>
          <p:nvPr/>
        </p:nvSpPr>
        <p:spPr>
          <a:xfrm>
            <a:off x="8941364" y="62268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/>
              <a:t>4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BDFE80C-83F4-EBEE-2829-6101DC8232CE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F6FD790-0316-2A02-CA26-7D7B354C6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52E17BB-4A86-AE31-23EE-C0A6718E2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D553EA5-EBE2-F2DD-3BF5-1746B9202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B25301F-B3B8-8C1B-1CF4-80117BD4F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ABB7E88-537E-928C-CB7C-8F5D3215B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1C92A642-7B39-4FC1-F18E-453B912563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031" b="30171"/>
          <a:stretch>
            <a:fillRect/>
          </a:stretch>
        </p:blipFill>
        <p:spPr>
          <a:xfrm>
            <a:off x="278353" y="2050129"/>
            <a:ext cx="11635293" cy="30967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2DC851A-F97C-28F1-9CA1-803712AEDA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311" b="10306"/>
          <a:stretch>
            <a:fillRect/>
          </a:stretch>
        </p:blipFill>
        <p:spPr>
          <a:xfrm>
            <a:off x="739109" y="4891976"/>
            <a:ext cx="10925897" cy="75333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00FE001-8EE9-F22E-3574-C2BC04C7173E}"/>
              </a:ext>
            </a:extLst>
          </p:cNvPr>
          <p:cNvSpPr/>
          <p:nvPr/>
        </p:nvSpPr>
        <p:spPr>
          <a:xfrm rot="16200000">
            <a:off x="1600331" y="1622553"/>
            <a:ext cx="6891728" cy="3646618"/>
          </a:xfrm>
          <a:prstGeom prst="roundRect">
            <a:avLst>
              <a:gd name="adj" fmla="val 0"/>
            </a:avLst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745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C0227-733A-0D4C-C4F6-A533B1B6D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480F-C122-CFE5-8052-BD73C0740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Brief History of Nucleosynthesis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64B6A-B8FE-5337-F993-1343C02C08E4}"/>
              </a:ext>
            </a:extLst>
          </p:cNvPr>
          <p:cNvSpPr txBox="1">
            <a:spLocks/>
          </p:cNvSpPr>
          <p:nvPr/>
        </p:nvSpPr>
        <p:spPr>
          <a:xfrm>
            <a:off x="8941364" y="62268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/>
              <a:t>5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B839B50-95D6-0BA9-4526-F0A270C479E6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64D4D09-10EB-7CEC-3876-D2DCE5A8D9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EA77AA5-0ADC-B243-28BF-9E772A303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C951756-F84A-C2EF-663E-6802292BC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BCD9A88-FF00-EE82-D2F2-B7CE6F8AB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ADAA27D-A0AA-CC82-19BA-7EDE5DC1AC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D7E07E3B-2307-6310-533A-82F74A6FFE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031" b="30171"/>
          <a:stretch>
            <a:fillRect/>
          </a:stretch>
        </p:blipFill>
        <p:spPr>
          <a:xfrm>
            <a:off x="278353" y="2050129"/>
            <a:ext cx="11635293" cy="30967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B8514EE-BEF0-E159-D445-15D4585CF8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311" b="10306"/>
          <a:stretch>
            <a:fillRect/>
          </a:stretch>
        </p:blipFill>
        <p:spPr>
          <a:xfrm>
            <a:off x="739109" y="4891976"/>
            <a:ext cx="10925897" cy="75333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7C9897B-D3ED-81FE-AAF0-C0A4BF264AB6}"/>
              </a:ext>
            </a:extLst>
          </p:cNvPr>
          <p:cNvSpPr/>
          <p:nvPr/>
        </p:nvSpPr>
        <p:spPr>
          <a:xfrm rot="16200000">
            <a:off x="4080351" y="1567825"/>
            <a:ext cx="6891728" cy="3756074"/>
          </a:xfrm>
          <a:prstGeom prst="roundRect">
            <a:avLst>
              <a:gd name="adj" fmla="val 0"/>
            </a:avLst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26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8AFEF-A327-0DA8-F597-96A22C332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97BE-04EF-77C9-0859-4D5E0355C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Brief History of Nucleosynthesis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830E4-8037-DA31-8DFF-2D769584A47E}"/>
              </a:ext>
            </a:extLst>
          </p:cNvPr>
          <p:cNvSpPr txBox="1">
            <a:spLocks/>
          </p:cNvSpPr>
          <p:nvPr/>
        </p:nvSpPr>
        <p:spPr>
          <a:xfrm>
            <a:off x="8941364" y="62268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/>
              <a:t>6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12C8115-02C0-0967-B77F-9FAE8EF41C9B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DC84A07-97E2-2329-3937-826D1EEA0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5182D24-780E-5C7E-1051-B159C6A57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1DB6AC9-030C-BAB3-7131-7555C69FE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7AD4C30-DFB1-724B-3BFB-1DEFF5D84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6557F65-ED58-3363-E9CE-1031242FCA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6F0210B8-EE09-8EE2-3906-5C1DC7A8D6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031" b="30171"/>
          <a:stretch>
            <a:fillRect/>
          </a:stretch>
        </p:blipFill>
        <p:spPr>
          <a:xfrm>
            <a:off x="278353" y="2050129"/>
            <a:ext cx="11635293" cy="30967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09DD5EA-0463-ED2C-E045-520C952321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311" b="10306"/>
          <a:stretch>
            <a:fillRect/>
          </a:stretch>
        </p:blipFill>
        <p:spPr>
          <a:xfrm>
            <a:off x="739109" y="4891976"/>
            <a:ext cx="10925897" cy="75333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89D7871-B080-9E83-2878-05117E8F3B0D}"/>
              </a:ext>
            </a:extLst>
          </p:cNvPr>
          <p:cNvSpPr/>
          <p:nvPr/>
        </p:nvSpPr>
        <p:spPr>
          <a:xfrm rot="16200000">
            <a:off x="7045117" y="3076587"/>
            <a:ext cx="6891728" cy="738553"/>
          </a:xfrm>
          <a:prstGeom prst="roundRect">
            <a:avLst>
              <a:gd name="adj" fmla="val 0"/>
            </a:avLst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994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68989-8D7C-509A-A102-612A463B9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B3E4-D375-D5A3-A644-2531F827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 Brief History of Nucleosynthesis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0BDD7-80E0-0C88-E56D-DDBA4C21D757}"/>
              </a:ext>
            </a:extLst>
          </p:cNvPr>
          <p:cNvSpPr txBox="1">
            <a:spLocks/>
          </p:cNvSpPr>
          <p:nvPr/>
        </p:nvSpPr>
        <p:spPr>
          <a:xfrm>
            <a:off x="8941364" y="622684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/>
              <a:t>7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1BA424-5C3D-DDA6-417A-7B76D32F1ABC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391B24A-D893-DB4E-C466-594DB1E5D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D74DD0A-161B-3FA3-8902-31D09F99A8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660DD41-F65C-8C34-B51B-1FC876BA4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E2DDEF8-2128-596D-8B0D-7AEAF375C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1D43300-BB71-6589-92D4-6D1593128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539EA384-2758-33F0-0920-9896067F89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031" b="30171"/>
          <a:stretch>
            <a:fillRect/>
          </a:stretch>
        </p:blipFill>
        <p:spPr>
          <a:xfrm>
            <a:off x="278353" y="2050129"/>
            <a:ext cx="11635293" cy="309676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7409C85-1B3D-1FB2-831B-3FECA3A54D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311" b="10306"/>
          <a:stretch>
            <a:fillRect/>
          </a:stretch>
        </p:blipFill>
        <p:spPr>
          <a:xfrm>
            <a:off x="739109" y="4891976"/>
            <a:ext cx="10925897" cy="753335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AC1CF1-F0A7-8B59-DCD9-AF1504C7D12D}"/>
              </a:ext>
            </a:extLst>
          </p:cNvPr>
          <p:cNvSpPr/>
          <p:nvPr/>
        </p:nvSpPr>
        <p:spPr>
          <a:xfrm rot="16200000">
            <a:off x="7897387" y="2597112"/>
            <a:ext cx="6891728" cy="1697503"/>
          </a:xfrm>
          <a:prstGeom prst="roundRect">
            <a:avLst>
              <a:gd name="adj" fmla="val 0"/>
            </a:avLst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615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B966F-ADB5-C8C2-086C-C21F811BC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6B25B65-527E-C94B-804B-7886982D5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Hydrogen burning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3227F3-DEB8-2DAD-6D52-6788F1A83360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0921B46-9633-3458-9895-53AC4E21D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B32ED50-1591-EB3D-193E-B82475726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3DB9570-2128-08DA-5D76-4318AEAB5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A5C752F-BC68-FBD4-8287-F794D4370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2621509-52FD-BFCD-A7B5-6DA4D419B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3E210D0-6BDF-78DB-E478-8B9689C35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43" y="1836630"/>
            <a:ext cx="4850240" cy="4174146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9A01DF2-E71D-0EC1-2EA5-DF49CCEE9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401" y="1827283"/>
            <a:ext cx="2896428" cy="217443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Proton-Proton Chains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6047C25A-5E4B-B81F-0963-2F05E6169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20147-8146-253A-A657-3D2462731ACB}"/>
              </a:ext>
            </a:extLst>
          </p:cNvPr>
          <p:cNvSpPr txBox="1">
            <a:spLocks/>
          </p:cNvSpPr>
          <p:nvPr/>
        </p:nvSpPr>
        <p:spPr>
          <a:xfrm>
            <a:off x="2065476" y="3128545"/>
            <a:ext cx="583939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pp-I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7501B0-52B0-0C62-0B6C-15716054BEAA}"/>
                  </a:ext>
                </a:extLst>
              </p14:cNvPr>
              <p14:cNvContentPartPr/>
              <p14:nvPr/>
            </p14:nvContentPartPr>
            <p14:xfrm>
              <a:off x="2247000" y="3109187"/>
              <a:ext cx="89640" cy="5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7501B0-52B0-0C62-0B6C-15716054BE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40880" y="3103067"/>
                <a:ext cx="1018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2A2AC0D-9EAA-23CF-E521-92BBD69F0C9A}"/>
                  </a:ext>
                </a:extLst>
              </p14:cNvPr>
              <p14:cNvContentPartPr/>
              <p14:nvPr/>
            </p14:nvContentPartPr>
            <p14:xfrm>
              <a:off x="2116370" y="3080640"/>
              <a:ext cx="18360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2A2AC0D-9EAA-23CF-E521-92BBD69F0C9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10250" y="3074520"/>
                <a:ext cx="195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F439AF8-EB81-4A63-E8B6-3D5E61F18632}"/>
                  </a:ext>
                </a:extLst>
              </p14:cNvPr>
              <p14:cNvContentPartPr/>
              <p14:nvPr/>
            </p14:nvContentPartPr>
            <p14:xfrm>
              <a:off x="2357210" y="3979200"/>
              <a:ext cx="251640" cy="88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F439AF8-EB81-4A63-E8B6-3D5E61F1863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39210" y="3961560"/>
                <a:ext cx="28728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3CCB62C-5990-28FF-86BC-D3E74B1A32BD}"/>
                  </a:ext>
                </a:extLst>
              </p14:cNvPr>
              <p14:cNvContentPartPr/>
              <p14:nvPr/>
            </p14:nvContentPartPr>
            <p14:xfrm>
              <a:off x="4290410" y="3985680"/>
              <a:ext cx="289800" cy="87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3CCB62C-5990-28FF-86BC-D3E74B1A32B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72410" y="3968040"/>
                <a:ext cx="325440" cy="1227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C5AF79D-6251-C1DC-E44D-7002C0866965}"/>
              </a:ext>
            </a:extLst>
          </p:cNvPr>
          <p:cNvSpPr txBox="1">
            <a:spLocks/>
          </p:cNvSpPr>
          <p:nvPr/>
        </p:nvSpPr>
        <p:spPr>
          <a:xfrm>
            <a:off x="2299970" y="3775925"/>
            <a:ext cx="583939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pp-II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31381A2-652A-41E8-F798-613715F7CCBC}"/>
              </a:ext>
            </a:extLst>
          </p:cNvPr>
          <p:cNvSpPr txBox="1">
            <a:spLocks/>
          </p:cNvSpPr>
          <p:nvPr/>
        </p:nvSpPr>
        <p:spPr>
          <a:xfrm>
            <a:off x="4043645" y="3761757"/>
            <a:ext cx="583939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pp-III</a:t>
            </a:r>
          </a:p>
        </p:txBody>
      </p:sp>
    </p:spTree>
    <p:extLst>
      <p:ext uri="{BB962C8B-B14F-4D97-AF65-F5344CB8AC3E}">
        <p14:creationId xmlns:p14="http://schemas.microsoft.com/office/powerpoint/2010/main" val="2574586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136D8-FCC7-F811-885A-1E4CC10E5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264C626-9EF3-31B2-8588-F1B54DD32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Hydrogen burning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44DBE9-716C-77C3-39D1-B3556744DA28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C95CBFE-35C4-DBB0-3909-3348EBE1B7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049CECD-590D-F285-2CF3-8C330EB19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5B4E60B-16A4-D48A-9FBB-0E36FEC63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22D9659-4120-9DCA-BFD7-363F3ED1A5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D462E0-0758-B626-50EC-38C4F5B53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E224D61-4BBE-7522-3F65-418DDA5929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43" y="1836630"/>
            <a:ext cx="4850240" cy="4174146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4052B5F4-FEFD-0D2C-D67D-00C0FFEB5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401" y="1827283"/>
            <a:ext cx="2896428" cy="217443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Proton-Proton Chains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2DE47602-CE94-E5B0-66B3-7FFA5575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7A66-DA70-B63C-66B4-794BE9488D86}"/>
              </a:ext>
            </a:extLst>
          </p:cNvPr>
          <p:cNvSpPr txBox="1">
            <a:spLocks/>
          </p:cNvSpPr>
          <p:nvPr/>
        </p:nvSpPr>
        <p:spPr>
          <a:xfrm>
            <a:off x="2065476" y="3128545"/>
            <a:ext cx="583939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pp-I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950DA6B-338C-B201-5678-B0E96DCFA702}"/>
                  </a:ext>
                </a:extLst>
              </p14:cNvPr>
              <p14:cNvContentPartPr/>
              <p14:nvPr/>
            </p14:nvContentPartPr>
            <p14:xfrm>
              <a:off x="2247000" y="3109187"/>
              <a:ext cx="89640" cy="5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950DA6B-338C-B201-5678-B0E96DCFA7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40904" y="3103108"/>
                <a:ext cx="101831" cy="65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3010209-5C1D-EBEE-144D-E8FB4DE3AA3C}"/>
                  </a:ext>
                </a:extLst>
              </p14:cNvPr>
              <p14:cNvContentPartPr/>
              <p14:nvPr/>
            </p14:nvContentPartPr>
            <p14:xfrm>
              <a:off x="2116370" y="3080640"/>
              <a:ext cx="18360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3010209-5C1D-EBEE-144D-E8FB4DE3AA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10250" y="3074520"/>
                <a:ext cx="195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DF998BD-FC36-D385-9AF0-561ACE546FB8}"/>
                  </a:ext>
                </a:extLst>
              </p14:cNvPr>
              <p14:cNvContentPartPr/>
              <p14:nvPr/>
            </p14:nvContentPartPr>
            <p14:xfrm>
              <a:off x="2357210" y="3979200"/>
              <a:ext cx="251640" cy="88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DF998BD-FC36-D385-9AF0-561ACE546F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39236" y="3961200"/>
                <a:ext cx="287229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C60D983-85B2-2CFE-B1E7-489287FBEFEA}"/>
                  </a:ext>
                </a:extLst>
              </p14:cNvPr>
              <p14:cNvContentPartPr/>
              <p14:nvPr/>
            </p14:nvContentPartPr>
            <p14:xfrm>
              <a:off x="4290410" y="3985680"/>
              <a:ext cx="289800" cy="87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C60D983-85B2-2CFE-B1E7-489287FBEFE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72410" y="3967680"/>
                <a:ext cx="325440" cy="1227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28847DF-DE32-F52C-D1A5-1C8DD2585D75}"/>
              </a:ext>
            </a:extLst>
          </p:cNvPr>
          <p:cNvSpPr txBox="1">
            <a:spLocks/>
          </p:cNvSpPr>
          <p:nvPr/>
        </p:nvSpPr>
        <p:spPr>
          <a:xfrm>
            <a:off x="2299970" y="3775925"/>
            <a:ext cx="583939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pp-II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9FAF9BD-6FCE-1065-3CF4-26B8F3AEC2C8}"/>
              </a:ext>
            </a:extLst>
          </p:cNvPr>
          <p:cNvSpPr txBox="1">
            <a:spLocks/>
          </p:cNvSpPr>
          <p:nvPr/>
        </p:nvSpPr>
        <p:spPr>
          <a:xfrm>
            <a:off x="4043645" y="3761757"/>
            <a:ext cx="583939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pp-III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5BA5B4-B430-0E4A-9045-FB2055AB2F99}"/>
              </a:ext>
            </a:extLst>
          </p:cNvPr>
          <p:cNvGrpSpPr/>
          <p:nvPr/>
        </p:nvGrpSpPr>
        <p:grpSpPr>
          <a:xfrm>
            <a:off x="1373512" y="4735840"/>
            <a:ext cx="476280" cy="528840"/>
            <a:chOff x="1715440" y="4780640"/>
            <a:chExt cx="476280" cy="52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A3E66AC-3F0D-70EE-1564-44959211ECA5}"/>
                    </a:ext>
                  </a:extLst>
                </p14:cNvPr>
                <p14:cNvContentPartPr/>
                <p14:nvPr/>
              </p14:nvContentPartPr>
              <p14:xfrm>
                <a:off x="1715440" y="4780640"/>
                <a:ext cx="416880" cy="528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C5A59C8-49E8-D097-73F8-77EEBA05308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09325" y="4774520"/>
                  <a:ext cx="429109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48C7EC3-79E1-8DAE-3504-5BE316F770D9}"/>
                    </a:ext>
                  </a:extLst>
                </p14:cNvPr>
                <p14:cNvContentPartPr/>
                <p14:nvPr/>
              </p14:nvContentPartPr>
              <p14:xfrm>
                <a:off x="2069320" y="4780640"/>
                <a:ext cx="122400" cy="96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29534E2-1E57-961E-EF08-4680340DAE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63182" y="4774543"/>
                  <a:ext cx="134676" cy="10903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368530A-F384-56B7-37F5-996B2B3DBAF4}"/>
              </a:ext>
            </a:extLst>
          </p:cNvPr>
          <p:cNvSpPr txBox="1">
            <a:spLocks/>
          </p:cNvSpPr>
          <p:nvPr/>
        </p:nvSpPr>
        <p:spPr>
          <a:xfrm>
            <a:off x="665203" y="5330080"/>
            <a:ext cx="2896428" cy="520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2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*⁷Li survives in Li-rich giants by mixing to cooler regions before capturing a proton</a:t>
            </a:r>
            <a:endParaRPr lang="en-US" sz="1200" i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486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74A3D-0514-E66E-00B1-2A9FCB600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C822643-00FD-95DB-E07D-BE34EBCAA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Hydrogen burning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BDDE004-4912-B015-A945-1BE27CFAE4A0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C7D13B-389A-637B-97B1-8A7CB7BEC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4B67577-81F7-FFB0-0A22-739DA5048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AD49BF2-9681-D898-E60B-68B49BCCC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D748A84-F1EC-4054-E2B3-07E2BDD07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B93EDF74-5FD0-EFDA-46C6-A1A72D74E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F9C4376-6DFA-1321-9473-28EE9CAC5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243" y="1836630"/>
            <a:ext cx="4850240" cy="4174146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2B7BE6E-1A05-FAD2-EBCE-E6367CF65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7401" y="1827283"/>
            <a:ext cx="2896428" cy="217443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Proton-Proton Chains</a:t>
            </a:r>
          </a:p>
        </p:txBody>
      </p:sp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E49D459D-F1B3-DB02-1CCC-6DA7D5EE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0E38D-CCAF-4AEF-EEFC-3167549E3D6E}"/>
              </a:ext>
            </a:extLst>
          </p:cNvPr>
          <p:cNvSpPr txBox="1">
            <a:spLocks/>
          </p:cNvSpPr>
          <p:nvPr/>
        </p:nvSpPr>
        <p:spPr>
          <a:xfrm>
            <a:off x="2065476" y="3128545"/>
            <a:ext cx="583939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pp-I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74D682E-F8FA-37EF-19AA-8716E5BDA994}"/>
                  </a:ext>
                </a:extLst>
              </p14:cNvPr>
              <p14:cNvContentPartPr/>
              <p14:nvPr/>
            </p14:nvContentPartPr>
            <p14:xfrm>
              <a:off x="2247000" y="3109187"/>
              <a:ext cx="89640" cy="5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74D682E-F8FA-37EF-19AA-8716E5BDA9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40904" y="3103108"/>
                <a:ext cx="101831" cy="657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ED5B7A4-75FD-CD5C-16CC-7726EBD23221}"/>
                  </a:ext>
                </a:extLst>
              </p14:cNvPr>
              <p14:cNvContentPartPr/>
              <p14:nvPr/>
            </p14:nvContentPartPr>
            <p14:xfrm>
              <a:off x="2116370" y="3080640"/>
              <a:ext cx="183600" cy="1119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ED5B7A4-75FD-CD5C-16CC-7726EBD2322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10250" y="3074520"/>
                <a:ext cx="19584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D15B8B0-E57F-1775-3EEF-D2F8C8305193}"/>
                  </a:ext>
                </a:extLst>
              </p14:cNvPr>
              <p14:cNvContentPartPr/>
              <p14:nvPr/>
            </p14:nvContentPartPr>
            <p14:xfrm>
              <a:off x="2357210" y="3979200"/>
              <a:ext cx="251640" cy="889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D15B8B0-E57F-1775-3EEF-D2F8C83051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39236" y="3961200"/>
                <a:ext cx="287229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30EADBA-B3C8-6021-2543-6B25114C2FB4}"/>
                  </a:ext>
                </a:extLst>
              </p14:cNvPr>
              <p14:cNvContentPartPr/>
              <p14:nvPr/>
            </p14:nvContentPartPr>
            <p14:xfrm>
              <a:off x="4290410" y="3985680"/>
              <a:ext cx="289800" cy="87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30EADBA-B3C8-6021-2543-6B25114C2FB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72410" y="3967680"/>
                <a:ext cx="325440" cy="12276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4E05F8-B336-C745-5E3A-3DDCDB03737A}"/>
              </a:ext>
            </a:extLst>
          </p:cNvPr>
          <p:cNvSpPr txBox="1">
            <a:spLocks/>
          </p:cNvSpPr>
          <p:nvPr/>
        </p:nvSpPr>
        <p:spPr>
          <a:xfrm>
            <a:off x="2299970" y="3775925"/>
            <a:ext cx="583939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pp-II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26C3F4-97D6-44F8-0D10-BBD4C0D269FA}"/>
              </a:ext>
            </a:extLst>
          </p:cNvPr>
          <p:cNvSpPr txBox="1">
            <a:spLocks/>
          </p:cNvSpPr>
          <p:nvPr/>
        </p:nvSpPr>
        <p:spPr>
          <a:xfrm>
            <a:off x="4043645" y="3761757"/>
            <a:ext cx="583939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pp-III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6192640-EE7C-D2B3-28F0-7C7B54823C26}"/>
              </a:ext>
            </a:extLst>
          </p:cNvPr>
          <p:cNvGrpSpPr/>
          <p:nvPr/>
        </p:nvGrpSpPr>
        <p:grpSpPr>
          <a:xfrm>
            <a:off x="1373512" y="4735840"/>
            <a:ext cx="476280" cy="528840"/>
            <a:chOff x="1715440" y="4780640"/>
            <a:chExt cx="476280" cy="52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FCA233E-DEAE-523D-1437-E9A0A95F64BF}"/>
                    </a:ext>
                  </a:extLst>
                </p14:cNvPr>
                <p14:cNvContentPartPr/>
                <p14:nvPr/>
              </p14:nvContentPartPr>
              <p14:xfrm>
                <a:off x="1715440" y="4780640"/>
                <a:ext cx="416880" cy="528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FCA233E-DEAE-523D-1437-E9A0A95F64B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09325" y="4774520"/>
                  <a:ext cx="429109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D306EE0-1A8D-CA20-187B-85FD32DB6090}"/>
                    </a:ext>
                  </a:extLst>
                </p14:cNvPr>
                <p14:cNvContentPartPr/>
                <p14:nvPr/>
              </p14:nvContentPartPr>
              <p14:xfrm>
                <a:off x="2069320" y="4780640"/>
                <a:ext cx="122400" cy="968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D306EE0-1A8D-CA20-187B-85FD32DB60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63182" y="4774543"/>
                  <a:ext cx="134676" cy="10903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09F57FB7-4A77-A4D1-62B7-02986127AA02}"/>
              </a:ext>
            </a:extLst>
          </p:cNvPr>
          <p:cNvSpPr txBox="1">
            <a:spLocks/>
          </p:cNvSpPr>
          <p:nvPr/>
        </p:nvSpPr>
        <p:spPr>
          <a:xfrm>
            <a:off x="665203" y="5330080"/>
            <a:ext cx="2896428" cy="520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2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*⁷Li survives in Li-rich giants by mixing to cooler regions before capturing a proton</a:t>
            </a:r>
            <a:endParaRPr lang="en-US" sz="1200" i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EEF466F-1EFD-82FE-4EED-4B028E618F6B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17988" y="2117263"/>
            <a:ext cx="6482068" cy="3727188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AEDD754-7FF3-659B-F21B-9482ED1E71A4}"/>
              </a:ext>
            </a:extLst>
          </p:cNvPr>
          <p:cNvSpPr txBox="1">
            <a:spLocks/>
          </p:cNvSpPr>
          <p:nvPr/>
        </p:nvSpPr>
        <p:spPr>
          <a:xfrm>
            <a:off x="8688761" y="1826543"/>
            <a:ext cx="2315008" cy="289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CNO Cycles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0B361AE-D1E9-A3B2-08F7-2D046EF1EF1C}"/>
                  </a:ext>
                </a:extLst>
              </p14:cNvPr>
              <p14:cNvContentPartPr/>
              <p14:nvPr/>
            </p14:nvContentPartPr>
            <p14:xfrm>
              <a:off x="6380340" y="3342314"/>
              <a:ext cx="411840" cy="3481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0B361AE-D1E9-A3B2-08F7-2D046EF1EF1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362700" y="3324314"/>
                <a:ext cx="44748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C29E807-FEEB-83C8-C72D-A70A94766293}"/>
                  </a:ext>
                </a:extLst>
              </p14:cNvPr>
              <p14:cNvContentPartPr/>
              <p14:nvPr/>
            </p14:nvContentPartPr>
            <p14:xfrm>
              <a:off x="7636020" y="3230714"/>
              <a:ext cx="357840" cy="53460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C29E807-FEEB-83C8-C72D-A70A9476629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18020" y="3212714"/>
                <a:ext cx="393480" cy="57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CBB5E259-3941-5B35-013B-2FC86F4ECA93}"/>
              </a:ext>
            </a:extLst>
          </p:cNvPr>
          <p:cNvGrpSpPr/>
          <p:nvPr/>
        </p:nvGrpSpPr>
        <p:grpSpPr>
          <a:xfrm>
            <a:off x="8848500" y="3306674"/>
            <a:ext cx="369000" cy="367200"/>
            <a:chOff x="8848500" y="3306674"/>
            <a:chExt cx="36900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146034D-D9AE-D832-2B97-22DB507DF120}"/>
                    </a:ext>
                  </a:extLst>
                </p14:cNvPr>
                <p14:cNvContentPartPr/>
                <p14:nvPr/>
              </p14:nvContentPartPr>
              <p14:xfrm>
                <a:off x="9128940" y="3372914"/>
                <a:ext cx="88560" cy="207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146034D-D9AE-D832-2B97-22DB507DF12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111300" y="3355274"/>
                  <a:ext cx="1242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0D753E-5287-E376-C7C4-6DB6D997588B}"/>
                    </a:ext>
                  </a:extLst>
                </p14:cNvPr>
                <p14:cNvContentPartPr/>
                <p14:nvPr/>
              </p14:nvContentPartPr>
              <p14:xfrm>
                <a:off x="9128940" y="3528794"/>
                <a:ext cx="36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0D753E-5287-E376-C7C4-6DB6D997588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111300" y="3511154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8E7400C-36A6-E20C-438E-7C7938127C4F}"/>
                    </a:ext>
                  </a:extLst>
                </p14:cNvPr>
                <p14:cNvContentPartPr/>
                <p14:nvPr/>
              </p14:nvContentPartPr>
              <p14:xfrm>
                <a:off x="8848500" y="3306674"/>
                <a:ext cx="316440" cy="3189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8E7400C-36A6-E20C-438E-7C7938127C4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830860" y="3288674"/>
                  <a:ext cx="3520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03D8DC8-B93A-02FC-E07D-FAFF2F019AF5}"/>
                    </a:ext>
                  </a:extLst>
                </p14:cNvPr>
                <p14:cNvContentPartPr/>
                <p14:nvPr/>
              </p14:nvContentPartPr>
              <p14:xfrm>
                <a:off x="8848500" y="3405674"/>
                <a:ext cx="291960" cy="268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03D8DC8-B93A-02FC-E07D-FAFF2F019A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830860" y="3387674"/>
                  <a:ext cx="327600" cy="303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4755C4B7-B824-F1BB-DC21-F345CE9E531F}"/>
              </a:ext>
            </a:extLst>
          </p:cNvPr>
          <p:cNvSpPr txBox="1">
            <a:spLocks/>
          </p:cNvSpPr>
          <p:nvPr/>
        </p:nvSpPr>
        <p:spPr>
          <a:xfrm>
            <a:off x="6242394" y="3362471"/>
            <a:ext cx="678102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CNO-I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FA98BDDE-2F4C-0339-C0EC-CDEAA0DFA33C}"/>
              </a:ext>
            </a:extLst>
          </p:cNvPr>
          <p:cNvSpPr txBox="1">
            <a:spLocks/>
          </p:cNvSpPr>
          <p:nvPr/>
        </p:nvSpPr>
        <p:spPr>
          <a:xfrm>
            <a:off x="7472040" y="3362471"/>
            <a:ext cx="678102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CNO-II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91B92DAD-2598-2AF6-7314-D8EF7C214196}"/>
              </a:ext>
            </a:extLst>
          </p:cNvPr>
          <p:cNvSpPr txBox="1">
            <a:spLocks/>
          </p:cNvSpPr>
          <p:nvPr/>
        </p:nvSpPr>
        <p:spPr>
          <a:xfrm>
            <a:off x="8541678" y="3362471"/>
            <a:ext cx="806418" cy="2174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12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CNO-III</a:t>
            </a:r>
          </a:p>
        </p:txBody>
      </p:sp>
    </p:spTree>
    <p:extLst>
      <p:ext uri="{BB962C8B-B14F-4D97-AF65-F5344CB8AC3E}">
        <p14:creationId xmlns:p14="http://schemas.microsoft.com/office/powerpoint/2010/main" val="222720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57117-B43D-2E7A-81FB-FEE234B6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D54D7E5-29D7-2B55-54D3-73FE61E9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Hydrogen burning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2BCDC76-40C2-16CE-9FD6-D5B74D41C0E3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37B3D62-7172-9DB2-65E5-5E29C0C1D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5DD48B3-B7EF-B290-7609-E63C397EA7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9D9E55C-423A-CDD9-F683-25277591D1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B9C9E12-0602-B000-2D45-F1C6D7724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E6116FC-46A4-4A2A-44CA-51F2CF37A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CE0295E-2A0A-5090-DD0A-677BB9E226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673"/>
          <a:stretch>
            <a:fillRect/>
          </a:stretch>
        </p:blipFill>
        <p:spPr>
          <a:xfrm>
            <a:off x="2669422" y="2467176"/>
            <a:ext cx="2823479" cy="317961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B564D36-A4D9-36CD-8C24-66A528DF3C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5132"/>
          <a:stretch>
            <a:fillRect/>
          </a:stretch>
        </p:blipFill>
        <p:spPr>
          <a:xfrm>
            <a:off x="5486400" y="2467176"/>
            <a:ext cx="4264542" cy="3179617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A2C126E-C96A-1762-02AC-0E829269E85A}"/>
              </a:ext>
            </a:extLst>
          </p:cNvPr>
          <p:cNvSpPr txBox="1">
            <a:spLocks/>
          </p:cNvSpPr>
          <p:nvPr/>
        </p:nvSpPr>
        <p:spPr>
          <a:xfrm>
            <a:off x="6697401" y="1826543"/>
            <a:ext cx="2315008" cy="289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Mg-Al Chain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E6666A6-FCB6-E429-8DA0-C58050F05F50}"/>
              </a:ext>
            </a:extLst>
          </p:cNvPr>
          <p:cNvSpPr txBox="1">
            <a:spLocks/>
          </p:cNvSpPr>
          <p:nvPr/>
        </p:nvSpPr>
        <p:spPr>
          <a:xfrm>
            <a:off x="3405561" y="1834949"/>
            <a:ext cx="2315008" cy="289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Ne-Na Chain</a:t>
            </a: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151FCDA4-6E4C-C4B0-50D5-7B2C9E79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11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F7FD5BF-5B25-D33A-E4DF-7BBDDC2C9488}"/>
              </a:ext>
            </a:extLst>
          </p:cNvPr>
          <p:cNvSpPr txBox="1">
            <a:spLocks/>
          </p:cNvSpPr>
          <p:nvPr/>
        </p:nvSpPr>
        <p:spPr>
          <a:xfrm>
            <a:off x="3421050" y="5293360"/>
            <a:ext cx="5705110" cy="520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2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*Ne-Na and Mg-Al chains in AGBs are responsible for the light-element anticorrelations observed in globular clusters.</a:t>
            </a:r>
            <a:endParaRPr lang="en-US" sz="1200" i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D3CB48C-2C23-A387-3D3A-AA50BDDEB14C}"/>
              </a:ext>
            </a:extLst>
          </p:cNvPr>
          <p:cNvGrpSpPr/>
          <p:nvPr/>
        </p:nvGrpSpPr>
        <p:grpSpPr>
          <a:xfrm>
            <a:off x="4171054" y="3521536"/>
            <a:ext cx="360720" cy="559800"/>
            <a:chOff x="4171054" y="3521536"/>
            <a:chExt cx="360720" cy="559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2F4B269-DC93-EEEB-DD85-D827AFF45D35}"/>
                    </a:ext>
                  </a:extLst>
                </p14:cNvPr>
                <p14:cNvContentPartPr/>
                <p14:nvPr/>
              </p14:nvContentPartPr>
              <p14:xfrm>
                <a:off x="4171054" y="3798016"/>
                <a:ext cx="139320" cy="196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2F4B269-DC93-EEEB-DD85-D827AFF45D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35054" y="3762016"/>
                  <a:ext cx="21096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B0A643E-3232-6CC3-DD16-7318416E158F}"/>
                    </a:ext>
                  </a:extLst>
                </p14:cNvPr>
                <p14:cNvContentPartPr/>
                <p14:nvPr/>
              </p14:nvContentPartPr>
              <p14:xfrm>
                <a:off x="4188334" y="3521536"/>
                <a:ext cx="343440" cy="559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B0A643E-3232-6CC3-DD16-7318416E158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52694" y="3485536"/>
                  <a:ext cx="415080" cy="63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39CA062-CA03-ED3E-EF38-E627EC777F86}"/>
                  </a:ext>
                </a:extLst>
              </p14:cNvPr>
              <p14:cNvContentPartPr/>
              <p14:nvPr/>
            </p14:nvContentPartPr>
            <p14:xfrm>
              <a:off x="6503854" y="3737536"/>
              <a:ext cx="371160" cy="33588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39CA062-CA03-ED3E-EF38-E627EC777F8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467854" y="3701896"/>
                <a:ext cx="442800" cy="40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8185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80C24-5B86-6F1D-7C3D-90A9C46B6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232F1-866D-D83C-558D-38269C956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He, C and O burning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0AFE3E-6EE6-3EA8-D412-FA7DDED0FADB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9CFB5DC-EEE3-16A0-B0C5-D25D675F65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383CDA8-DDFC-ADBC-9119-9ED208AAD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80A93A9-A3BE-50DE-9270-54531C013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10DBF56-3DC0-9DC2-8814-C4B6F5A6B5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616AAEC-580B-5711-0E20-D310EB9D79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83874676-16DB-313B-E783-07B777C4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12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9414074B-05F0-5D6F-D362-38AC8DC401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65948" y="2023066"/>
                <a:ext cx="3156177" cy="33169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He burning,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𝑻</m:t>
                    </m:r>
                    <m:r>
                      <a:rPr lang="en-US" sz="2000" b="1" i="0" baseline="-25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𝐜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≳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𝟏𝟎</m:t>
                    </m:r>
                    <m:r>
                      <a:rPr lang="en-US" sz="2000" b="1" i="1" baseline="30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𝟖</m:t>
                    </m:r>
                    <m:r>
                      <a:rPr lang="en-AU" sz="2000" b="1" i="0" baseline="30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sz="2000" b="1" i="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𝐊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</m:oMath>
                </a14:m>
                <a:endParaRPr lang="en-US" sz="20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25" name="Content Placeholder 2">
                <a:extLst>
                  <a:ext uri="{FF2B5EF4-FFF2-40B4-BE49-F238E27FC236}">
                    <a16:creationId xmlns:a16="http://schemas.microsoft.com/office/drawing/2014/main" id="{9414074B-05F0-5D6F-D362-38AC8DC401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65948" y="2023066"/>
                <a:ext cx="3156177" cy="331693"/>
              </a:xfrm>
              <a:blipFill>
                <a:blip r:embed="rId5"/>
                <a:stretch>
                  <a:fillRect l="-1600" t="-18519" b="-4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FA60A9FB-0D72-13B5-755D-DD4DB2B5F1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79708" y="2023066"/>
                <a:ext cx="3156177" cy="3541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C burning,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𝑻</m:t>
                    </m:r>
                    <m:r>
                      <a:rPr lang="en-US" sz="2000" b="1" i="0" baseline="-25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𝐜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≳</m:t>
                    </m:r>
                    <m:r>
                      <a:rPr lang="en-AU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𝟓</m:t>
                    </m:r>
                    <m:r>
                      <a:rPr lang="en-AU" sz="2000" b="0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Light" panose="020B0502040204020203" pitchFamily="34" charset="0"/>
                      </a:rPr>
                      <m:t>×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𝟏𝟎</m:t>
                    </m:r>
                    <m:r>
                      <a:rPr lang="en-US" sz="2000" b="1" i="1" baseline="30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𝟖</m:t>
                    </m:r>
                    <m:r>
                      <a:rPr lang="en-AU" sz="2000" b="1" i="0" baseline="30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sz="2000" b="1" i="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𝐊</m:t>
                    </m:r>
                  </m:oMath>
                </a14:m>
                <a:endParaRPr lang="en-US" sz="20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FA60A9FB-0D72-13B5-755D-DD4DB2B5F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708" y="2023066"/>
                <a:ext cx="3156177" cy="354125"/>
              </a:xfrm>
              <a:prstGeom prst="rect">
                <a:avLst/>
              </a:prstGeom>
              <a:blipFill>
                <a:blip r:embed="rId6"/>
                <a:stretch>
                  <a:fillRect l="-2000" t="-17241" b="-3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734F3339-7B82-3AB2-FD41-5684C2886A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5402" y="2023067"/>
                <a:ext cx="3450649" cy="2769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O burning,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𝑻</m:t>
                    </m:r>
                    <m:r>
                      <a:rPr lang="en-US" sz="2000" b="1" i="0" baseline="-25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𝐜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≳</m:t>
                    </m:r>
                    <m:r>
                      <a:rPr lang="en-AU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𝟏</m:t>
                    </m:r>
                    <m:r>
                      <a:rPr lang="en-AU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.</m:t>
                    </m:r>
                    <m:r>
                      <a:rPr lang="en-AU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𝟓</m:t>
                    </m:r>
                    <m:r>
                      <a:rPr lang="en-AU" sz="2000" b="0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Light" panose="020B0502040204020203" pitchFamily="34" charset="0"/>
                      </a:rPr>
                      <m:t>×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𝟏𝟎</m:t>
                    </m:r>
                    <m:r>
                      <a:rPr lang="en-AU" sz="2000" b="1" i="0" baseline="30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𝟗</m:t>
                    </m:r>
                    <m:r>
                      <a:rPr lang="en-AU" sz="2000" b="1" i="0" baseline="30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sz="2000" b="1" i="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𝐊</m:t>
                    </m:r>
                  </m:oMath>
                </a14:m>
                <a:endParaRPr lang="en-US" sz="20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 xmlns=""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734F3339-7B82-3AB2-FD41-5684C2886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402" y="2023067"/>
                <a:ext cx="3450649" cy="276999"/>
              </a:xfrm>
              <a:prstGeom prst="rect">
                <a:avLst/>
              </a:prstGeom>
              <a:blipFill>
                <a:blip r:embed="rId7"/>
                <a:stretch>
                  <a:fillRect l="-1832" t="-22727" b="-7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F89B78A-B6E1-5AFB-E963-2FF5134E851F}"/>
                  </a:ext>
                </a:extLst>
              </p:cNvPr>
              <p:cNvSpPr txBox="1"/>
              <p:nvPr/>
            </p:nvSpPr>
            <p:spPr>
              <a:xfrm>
                <a:off x="1039284" y="2675525"/>
                <a:ext cx="17688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8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Be</m:t>
                      </m:r>
                      <m:r>
                        <a:rPr lang="en-AU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AU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AU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en-AU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)12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F89B78A-B6E1-5AFB-E963-2FF5134E8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84" y="2675525"/>
                <a:ext cx="1768882" cy="276999"/>
              </a:xfrm>
              <a:prstGeom prst="rect">
                <a:avLst/>
              </a:prstGeom>
              <a:blipFill>
                <a:blip r:embed="rId8"/>
                <a:stretch>
                  <a:fillRect r="-70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51F2453-E6A7-C173-3C07-4B173645D091}"/>
                  </a:ext>
                </a:extLst>
              </p:cNvPr>
              <p:cNvSpPr txBox="1"/>
              <p:nvPr/>
            </p:nvSpPr>
            <p:spPr>
              <a:xfrm>
                <a:off x="1039284" y="3695709"/>
                <a:ext cx="220816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16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51F2453-E6A7-C173-3C07-4B173645D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284" y="3695709"/>
                <a:ext cx="2208169" cy="276999"/>
              </a:xfrm>
              <a:prstGeom prst="rect">
                <a:avLst/>
              </a:prstGeom>
              <a:blipFill>
                <a:blip r:embed="rId9"/>
                <a:stretch>
                  <a:fillRect l="-571" r="-2286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178FED0-5BFD-7308-37DC-95EC1506A379}"/>
                  </a:ext>
                </a:extLst>
              </p:cNvPr>
              <p:cNvSpPr txBox="1"/>
              <p:nvPr/>
            </p:nvSpPr>
            <p:spPr>
              <a:xfrm>
                <a:off x="4477304" y="2675525"/>
                <a:ext cx="1574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Mg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178FED0-5BFD-7308-37DC-95EC1506A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04" y="2675525"/>
                <a:ext cx="1574790" cy="276999"/>
              </a:xfrm>
              <a:prstGeom prst="rect">
                <a:avLst/>
              </a:prstGeom>
              <a:blipFill>
                <a:blip r:embed="rId10"/>
                <a:stretch>
                  <a:fillRect r="-3200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594D97E-ACEF-1A06-5E73-376FD1C7F310}"/>
                  </a:ext>
                </a:extLst>
              </p:cNvPr>
              <p:cNvSpPr txBox="1"/>
              <p:nvPr/>
            </p:nvSpPr>
            <p:spPr>
              <a:xfrm>
                <a:off x="4477303" y="3152001"/>
                <a:ext cx="1559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594D97E-ACEF-1A06-5E73-376FD1C7F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03" y="3152001"/>
                <a:ext cx="1559529" cy="276999"/>
              </a:xfrm>
              <a:prstGeom prst="rect">
                <a:avLst/>
              </a:prstGeom>
              <a:blipFill>
                <a:blip r:embed="rId11"/>
                <a:stretch>
                  <a:fillRect r="-1613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1DC2AFD-1DF1-D63E-985F-95F968E3BD3D}"/>
                  </a:ext>
                </a:extLst>
              </p:cNvPr>
              <p:cNvSpPr txBox="1"/>
              <p:nvPr/>
            </p:nvSpPr>
            <p:spPr>
              <a:xfrm>
                <a:off x="4477304" y="3628477"/>
                <a:ext cx="1491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23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Na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1DC2AFD-1DF1-D63E-985F-95F968E3BD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04" y="3628477"/>
                <a:ext cx="1491626" cy="276999"/>
              </a:xfrm>
              <a:prstGeom prst="rect">
                <a:avLst/>
              </a:prstGeom>
              <a:blipFill>
                <a:blip r:embed="rId12"/>
                <a:stretch>
                  <a:fillRect l="-1695" r="-3390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71978ED-42C1-D359-1657-0252748C11F7}"/>
                  </a:ext>
                </a:extLst>
              </p:cNvPr>
              <p:cNvSpPr txBox="1"/>
              <p:nvPr/>
            </p:nvSpPr>
            <p:spPr>
              <a:xfrm>
                <a:off x="4477303" y="4104953"/>
                <a:ext cx="1569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AU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AU" b="0" i="0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0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AU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lang="en-AU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,2</m:t>
                        </m:r>
                        <m:r>
                          <a:rPr lang="en-AU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AU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AU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71978ED-42C1-D359-1657-0252748C1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03" y="4104953"/>
                <a:ext cx="1569148" cy="276999"/>
              </a:xfrm>
              <a:prstGeom prst="rect">
                <a:avLst/>
              </a:prstGeom>
              <a:blipFill>
                <a:blip r:embed="rId13"/>
                <a:stretch>
                  <a:fillRect l="-3200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06719E-CA1F-6ACC-2AAE-79665B794A03}"/>
                  </a:ext>
                </a:extLst>
              </p:cNvPr>
              <p:cNvSpPr txBox="1"/>
              <p:nvPr/>
            </p:nvSpPr>
            <p:spPr>
              <a:xfrm>
                <a:off x="4477302" y="4576732"/>
                <a:ext cx="1523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23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Mg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206719E-CA1F-6ACC-2AAE-79665B794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02" y="4576732"/>
                <a:ext cx="1523686" cy="276999"/>
              </a:xfrm>
              <a:prstGeom prst="rect">
                <a:avLst/>
              </a:prstGeom>
              <a:blipFill>
                <a:blip r:embed="rId14"/>
                <a:stretch>
                  <a:fillRect l="-1653" r="-4959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CA8585-59B8-39BE-BD8B-A8E27B37835E}"/>
                  </a:ext>
                </a:extLst>
              </p:cNvPr>
              <p:cNvSpPr txBox="1"/>
              <p:nvPr/>
            </p:nvSpPr>
            <p:spPr>
              <a:xfrm>
                <a:off x="7775403" y="2672911"/>
                <a:ext cx="1377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4CA8585-59B8-39BE-BD8B-A8E27B378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403" y="2672911"/>
                <a:ext cx="1377621" cy="276999"/>
              </a:xfrm>
              <a:prstGeom prst="rect">
                <a:avLst/>
              </a:prstGeom>
              <a:blipFill>
                <a:blip r:embed="rId15"/>
                <a:stretch>
                  <a:fillRect l="-1835" r="-3670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550CD9C-167C-569B-B7F3-F09C401D7590}"/>
                  </a:ext>
                </a:extLst>
              </p:cNvPr>
              <p:cNvSpPr txBox="1"/>
              <p:nvPr/>
            </p:nvSpPr>
            <p:spPr>
              <a:xfrm>
                <a:off x="7775402" y="3152001"/>
                <a:ext cx="14585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28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550CD9C-167C-569B-B7F3-F09C401D7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402" y="3152001"/>
                <a:ext cx="1458541" cy="276999"/>
              </a:xfrm>
              <a:prstGeom prst="rect">
                <a:avLst/>
              </a:prstGeom>
              <a:blipFill>
                <a:blip r:embed="rId16"/>
                <a:stretch>
                  <a:fillRect l="-1724" r="-3448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917C669-CFCB-51B9-08A2-6DE2222F01BE}"/>
                  </a:ext>
                </a:extLst>
              </p:cNvPr>
              <p:cNvSpPr txBox="1"/>
              <p:nvPr/>
            </p:nvSpPr>
            <p:spPr>
              <a:xfrm>
                <a:off x="7805244" y="3635887"/>
                <a:ext cx="13982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917C669-CFCB-51B9-08A2-6DE2222F0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244" y="3635887"/>
                <a:ext cx="1398267" cy="276999"/>
              </a:xfrm>
              <a:prstGeom prst="rect">
                <a:avLst/>
              </a:prstGeom>
              <a:blipFill>
                <a:blip r:embed="rId17"/>
                <a:stretch>
                  <a:fillRect l="-1802" r="-3604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EAF58FA-8EA1-B8EA-83C7-8C6205833CE8}"/>
                  </a:ext>
                </a:extLst>
              </p:cNvPr>
              <p:cNvSpPr txBox="1"/>
              <p:nvPr/>
            </p:nvSpPr>
            <p:spPr>
              <a:xfrm>
                <a:off x="7775401" y="4104953"/>
                <a:ext cx="13865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EAF58FA-8EA1-B8EA-83C7-8C6205833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401" y="4104953"/>
                <a:ext cx="1386597" cy="276999"/>
              </a:xfrm>
              <a:prstGeom prst="rect">
                <a:avLst/>
              </a:prstGeom>
              <a:blipFill>
                <a:blip r:embed="rId18"/>
                <a:stretch>
                  <a:fillRect l="-1818" r="-3636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5D6C60A-960A-F662-9F80-65CA8BD17F90}"/>
                  </a:ext>
                </a:extLst>
              </p:cNvPr>
              <p:cNvSpPr txBox="1"/>
              <p:nvPr/>
            </p:nvSpPr>
            <p:spPr>
              <a:xfrm>
                <a:off x="7802316" y="4576732"/>
                <a:ext cx="17102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,2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Mg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F5D6C60A-960A-F662-9F80-65CA8BD17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316" y="4576732"/>
                <a:ext cx="1710212" cy="276999"/>
              </a:xfrm>
              <a:prstGeom prst="rect">
                <a:avLst/>
              </a:prstGeom>
              <a:blipFill>
                <a:blip r:embed="rId19"/>
                <a:stretch>
                  <a:fillRect l="-1481" r="-444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052CFC9-8E0F-F3EE-FEF2-E9CC1A3360C4}"/>
              </a:ext>
            </a:extLst>
          </p:cNvPr>
          <p:cNvSpPr txBox="1">
            <a:spLocks/>
          </p:cNvSpPr>
          <p:nvPr/>
        </p:nvSpPr>
        <p:spPr>
          <a:xfrm>
            <a:off x="937057" y="3183025"/>
            <a:ext cx="3481832" cy="520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Once there is sufficient reservoir of </a:t>
            </a:r>
            <a:r>
              <a:rPr lang="en-AU" sz="16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12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C,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4A826F2C-6D67-1677-DED7-EFBCB4C7EBB2}"/>
              </a:ext>
            </a:extLst>
          </p:cNvPr>
          <p:cNvSpPr txBox="1">
            <a:spLocks/>
          </p:cNvSpPr>
          <p:nvPr/>
        </p:nvSpPr>
        <p:spPr>
          <a:xfrm>
            <a:off x="6189375" y="3352637"/>
            <a:ext cx="1472203" cy="520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most probable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E91A1E2C-816E-C138-F48B-342CA120DAB1}"/>
              </a:ext>
            </a:extLst>
          </p:cNvPr>
          <p:cNvSpPr/>
          <p:nvPr/>
        </p:nvSpPr>
        <p:spPr>
          <a:xfrm>
            <a:off x="6107603" y="3256123"/>
            <a:ext cx="127149" cy="520466"/>
          </a:xfrm>
          <a:prstGeom prst="rightBrac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6D2AA71A-E523-496E-3F28-16DC40D73A95}"/>
              </a:ext>
            </a:extLst>
          </p:cNvPr>
          <p:cNvSpPr txBox="1">
            <a:spLocks/>
          </p:cNvSpPr>
          <p:nvPr/>
        </p:nvSpPr>
        <p:spPr>
          <a:xfrm>
            <a:off x="9408343" y="3342993"/>
            <a:ext cx="1472203" cy="520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most probable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66E6EF52-F99B-504B-A716-DC7ECDD90263}"/>
              </a:ext>
            </a:extLst>
          </p:cNvPr>
          <p:cNvSpPr/>
          <p:nvPr/>
        </p:nvSpPr>
        <p:spPr>
          <a:xfrm>
            <a:off x="9314214" y="3258836"/>
            <a:ext cx="127149" cy="520466"/>
          </a:xfrm>
          <a:prstGeom prst="rightBrac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06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D1673-EC36-6703-8C4B-D40C1213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11554-055F-632A-D687-2EE1CA4B5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He, C and O burning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35DCDE7-853E-9B07-B1F7-9E8548251269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63F80DA-0D0F-1E67-2CDA-593F47D0B2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61314C8-599C-94B0-E7FF-240672B0DC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1743ADB-5640-2470-21F2-183F9CB0B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2B4022-5E1E-0EB9-76C9-AE377B7FD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22C7E73-D1AC-1CF5-2C76-5AAC86B2BB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29420BAF-A16D-9E54-C4A3-EEEF23C7F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13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E660CB9C-7A1C-BB6A-BB2A-DB708F3253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79708" y="2023066"/>
                <a:ext cx="3156177" cy="3541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C burning,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𝑻</m:t>
                    </m:r>
                    <m:r>
                      <a:rPr lang="en-US" sz="2000" b="1" i="0" baseline="-25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𝐜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≳</m:t>
                    </m:r>
                    <m:r>
                      <a:rPr lang="en-AU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𝟓</m:t>
                    </m:r>
                    <m:r>
                      <a:rPr lang="en-AU" sz="2000" b="0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Light" panose="020B0502040204020203" pitchFamily="34" charset="0"/>
                      </a:rPr>
                      <m:t>×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𝟏𝟎</m:t>
                    </m:r>
                    <m:r>
                      <a:rPr lang="en-US" sz="2000" b="1" i="1" baseline="30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𝟖</m:t>
                    </m:r>
                    <m:r>
                      <a:rPr lang="en-AU" sz="2000" b="1" i="0" baseline="30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sz="2000" b="1" i="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𝐊</m:t>
                    </m:r>
                  </m:oMath>
                </a14:m>
                <a:endParaRPr lang="en-US" sz="20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>
          <p:sp>
            <p:nvSpPr>
              <p:cNvPr id="26" name="Content Placeholder 2">
                <a:extLst>
                  <a:ext uri="{FF2B5EF4-FFF2-40B4-BE49-F238E27FC236}">
                    <a16:creationId xmlns:a16="http://schemas.microsoft.com/office/drawing/2014/main" id="{E660CB9C-7A1C-BB6A-BB2A-DB708F3253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708" y="2023066"/>
                <a:ext cx="3156177" cy="354125"/>
              </a:xfrm>
              <a:prstGeom prst="rect">
                <a:avLst/>
              </a:prstGeom>
              <a:blipFill>
                <a:blip r:embed="rId5"/>
                <a:stretch>
                  <a:fillRect l="-2000" t="-17241" b="-3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82F22840-BC84-278B-102E-25C9B1EA8F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75402" y="2023067"/>
                <a:ext cx="3450649" cy="2769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O burning,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𝑻</m:t>
                    </m:r>
                    <m:r>
                      <a:rPr lang="en-US" sz="2000" b="1" i="0" baseline="-25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𝐜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≳</m:t>
                    </m:r>
                    <m:r>
                      <a:rPr lang="en-AU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𝟏</m:t>
                    </m:r>
                    <m:r>
                      <a:rPr lang="en-AU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.</m:t>
                    </m:r>
                    <m:r>
                      <a:rPr lang="en-AU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Semibold" panose="020B0702040204020203" pitchFamily="34" charset="0"/>
                      </a:rPr>
                      <m:t>𝟓</m:t>
                    </m:r>
                    <m:r>
                      <a:rPr lang="en-AU" sz="2000" b="0" i="1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Light" panose="020B0502040204020203" pitchFamily="34" charset="0"/>
                      </a:rPr>
                      <m:t>×</m:t>
                    </m:r>
                    <m:r>
                      <a:rPr lang="en-US" sz="2000" b="1" i="1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𝟏𝟎</m:t>
                    </m:r>
                    <m:r>
                      <a:rPr lang="en-AU" sz="2000" b="1" i="0" baseline="30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𝟗</m:t>
                    </m:r>
                    <m:r>
                      <a:rPr lang="en-AU" sz="2000" b="1" i="0" baseline="3000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 </m:t>
                    </m:r>
                    <m:r>
                      <a:rPr lang="en-US" sz="2000" b="1" i="0" dirty="0" smtClean="0">
                        <a:solidFill>
                          <a:schemeClr val="accent5">
                            <a:lumMod val="20000"/>
                            <a:lumOff val="80000"/>
                          </a:schemeClr>
                        </a:solidFill>
                        <a:latin typeface="Cambria Math" panose="02040503050406030204" pitchFamily="18" charset="0"/>
                        <a:cs typeface="Segoe UI Semibold" panose="020B0702040204020203" pitchFamily="34" charset="0"/>
                      </a:rPr>
                      <m:t>𝐊</m:t>
                    </m:r>
                  </m:oMath>
                </a14:m>
                <a:endParaRPr lang="en-US" sz="2000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</p:txBody>
          </p:sp>
        </mc:Choice>
        <mc:Fallback>
          <p:sp>
            <p:nvSpPr>
              <p:cNvPr id="27" name="Content Placeholder 2">
                <a:extLst>
                  <a:ext uri="{FF2B5EF4-FFF2-40B4-BE49-F238E27FC236}">
                    <a16:creationId xmlns:a16="http://schemas.microsoft.com/office/drawing/2014/main" id="{82F22840-BC84-278B-102E-25C9B1EA8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402" y="2023067"/>
                <a:ext cx="3450649" cy="276999"/>
              </a:xfrm>
              <a:prstGeom prst="rect">
                <a:avLst/>
              </a:prstGeom>
              <a:blipFill>
                <a:blip r:embed="rId6"/>
                <a:stretch>
                  <a:fillRect l="-1832" t="-22727" b="-7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CBAB0FB-746B-993B-2501-E01B3DCAB294}"/>
                  </a:ext>
                </a:extLst>
              </p:cNvPr>
              <p:cNvSpPr txBox="1"/>
              <p:nvPr/>
            </p:nvSpPr>
            <p:spPr>
              <a:xfrm>
                <a:off x="4477304" y="2675525"/>
                <a:ext cx="15747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Mg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CBAB0FB-746B-993B-2501-E01B3DCAB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04" y="2675525"/>
                <a:ext cx="1574790" cy="276999"/>
              </a:xfrm>
              <a:prstGeom prst="rect">
                <a:avLst/>
              </a:prstGeom>
              <a:blipFill>
                <a:blip r:embed="rId7"/>
                <a:stretch>
                  <a:fillRect t="-13043" r="-800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E9DFE2B-88C3-F39C-7DF6-CBCA46BE6130}"/>
                  </a:ext>
                </a:extLst>
              </p:cNvPr>
              <p:cNvSpPr txBox="1"/>
              <p:nvPr/>
            </p:nvSpPr>
            <p:spPr>
              <a:xfrm>
                <a:off x="4477303" y="3152001"/>
                <a:ext cx="15595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20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Ne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E9DFE2B-88C3-F39C-7DF6-CBCA46BE6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03" y="3152001"/>
                <a:ext cx="1559529" cy="276999"/>
              </a:xfrm>
              <a:prstGeom prst="rect">
                <a:avLst/>
              </a:prstGeom>
              <a:blipFill>
                <a:blip r:embed="rId8"/>
                <a:stretch>
                  <a:fillRect t="-1739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12694F2-61BE-C5C4-2BAC-910468577624}"/>
                  </a:ext>
                </a:extLst>
              </p:cNvPr>
              <p:cNvSpPr txBox="1"/>
              <p:nvPr/>
            </p:nvSpPr>
            <p:spPr>
              <a:xfrm>
                <a:off x="4477304" y="3628477"/>
                <a:ext cx="149162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e>
                      </m:d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23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Na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12694F2-61BE-C5C4-2BAC-910468577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04" y="3628477"/>
                <a:ext cx="1491626" cy="276999"/>
              </a:xfrm>
              <a:prstGeom prst="rect">
                <a:avLst/>
              </a:prstGeom>
              <a:blipFill>
                <a:blip r:embed="rId9"/>
                <a:stretch>
                  <a:fillRect t="-13043" r="-1695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CB1D5DF-91E5-637C-56CC-9D25604DB2C5}"/>
                  </a:ext>
                </a:extLst>
              </p:cNvPr>
              <p:cNvSpPr txBox="1"/>
              <p:nvPr/>
            </p:nvSpPr>
            <p:spPr>
              <a:xfrm>
                <a:off x="4477303" y="4104953"/>
                <a:ext cx="1569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AU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AU" b="0" i="0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b="0" i="0" baseline="3000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AU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</m:t>
                        </m:r>
                        <m:r>
                          <a:rPr lang="en-AU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,2</m:t>
                        </m:r>
                        <m:r>
                          <a:rPr lang="en-AU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AU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AU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CB1D5DF-91E5-637C-56CC-9D25604DB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03" y="4104953"/>
                <a:ext cx="1569148" cy="276999"/>
              </a:xfrm>
              <a:prstGeom prst="rect">
                <a:avLst/>
              </a:prstGeom>
              <a:blipFill>
                <a:blip r:embed="rId10"/>
                <a:stretch>
                  <a:fillRect l="-3200" t="-13043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B21F3B0-9012-9D37-F8F3-010F896846F4}"/>
                  </a:ext>
                </a:extLst>
              </p:cNvPr>
              <p:cNvSpPr txBox="1"/>
              <p:nvPr/>
            </p:nvSpPr>
            <p:spPr>
              <a:xfrm>
                <a:off x="4477302" y="4576732"/>
                <a:ext cx="15236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</m:t>
                          </m:r>
                          <m: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n</m:t>
                          </m:r>
                        </m:e>
                      </m:d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23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Mg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B21F3B0-9012-9D37-F8F3-010F89684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02" y="4576732"/>
                <a:ext cx="1523686" cy="276999"/>
              </a:xfrm>
              <a:prstGeom prst="rect">
                <a:avLst/>
              </a:prstGeom>
              <a:blipFill>
                <a:blip r:embed="rId11"/>
                <a:stretch>
                  <a:fillRect t="-13043" r="-2479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9F9D715-88F7-7C61-25AB-183D3A0F96EF}"/>
                  </a:ext>
                </a:extLst>
              </p:cNvPr>
              <p:cNvSpPr txBox="1"/>
              <p:nvPr/>
            </p:nvSpPr>
            <p:spPr>
              <a:xfrm>
                <a:off x="7775403" y="2672911"/>
                <a:ext cx="137762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32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9F9D715-88F7-7C61-25AB-183D3A0F9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403" y="2672911"/>
                <a:ext cx="1377621" cy="276999"/>
              </a:xfrm>
              <a:prstGeom prst="rect">
                <a:avLst/>
              </a:prstGeom>
              <a:blipFill>
                <a:blip r:embed="rId12"/>
                <a:stretch>
                  <a:fillRect t="-13043" r="-917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B99BD46-8B07-C8EF-7E03-DFAD55C160DF}"/>
                  </a:ext>
                </a:extLst>
              </p:cNvPr>
              <p:cNvSpPr txBox="1"/>
              <p:nvPr/>
            </p:nvSpPr>
            <p:spPr>
              <a:xfrm>
                <a:off x="7775402" y="3152001"/>
                <a:ext cx="14585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28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Si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B99BD46-8B07-C8EF-7E03-DFAD55C16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402" y="3152001"/>
                <a:ext cx="1458541" cy="276999"/>
              </a:xfrm>
              <a:prstGeom prst="rect">
                <a:avLst/>
              </a:prstGeom>
              <a:blipFill>
                <a:blip r:embed="rId13"/>
                <a:stretch>
                  <a:fillRect t="-17391" r="-862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E08B53-EDF8-9247-0B5D-2B3F7C84F406}"/>
                  </a:ext>
                </a:extLst>
              </p:cNvPr>
              <p:cNvSpPr txBox="1"/>
              <p:nvPr/>
            </p:nvSpPr>
            <p:spPr>
              <a:xfrm>
                <a:off x="7805244" y="3635887"/>
                <a:ext cx="13982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8E08B53-EDF8-9247-0B5D-2B3F7C84F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5244" y="3635887"/>
                <a:ext cx="1398267" cy="276999"/>
              </a:xfrm>
              <a:prstGeom prst="rect">
                <a:avLst/>
              </a:prstGeom>
              <a:blipFill>
                <a:blip r:embed="rId14"/>
                <a:stretch>
                  <a:fillRect t="-13043" r="-1802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A58219-33E6-9D9D-7003-809705CE52AC}"/>
                  </a:ext>
                </a:extLst>
              </p:cNvPr>
              <p:cNvSpPr txBox="1"/>
              <p:nvPr/>
            </p:nvSpPr>
            <p:spPr>
              <a:xfrm>
                <a:off x="7775401" y="4104953"/>
                <a:ext cx="138659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A58219-33E6-9D9D-7003-809705CE5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5401" y="4104953"/>
                <a:ext cx="1386597" cy="276999"/>
              </a:xfrm>
              <a:prstGeom prst="rect">
                <a:avLst/>
              </a:prstGeom>
              <a:blipFill>
                <a:blip r:embed="rId15"/>
                <a:stretch>
                  <a:fillRect t="-13043" r="-909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F33371-0049-7945-1D16-4BABEBFBC79A}"/>
                  </a:ext>
                </a:extLst>
              </p:cNvPr>
              <p:cNvSpPr txBox="1"/>
              <p:nvPr/>
            </p:nvSpPr>
            <p:spPr>
              <a:xfrm>
                <a:off x="7802316" y="4576732"/>
                <a:ext cx="17102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b="0" i="1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AU" b="0" i="0" baseline="3000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en-AU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,2</m:t>
                          </m:r>
                          <m:r>
                            <a:rPr lang="en-AU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AU" b="0" i="1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AU" b="0" i="0" baseline="30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  <m:r>
                        <m:rPr>
                          <m:sty m:val="p"/>
                        </m:rPr>
                        <a:rPr lang="en-AU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Mg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0F33371-0049-7945-1D16-4BABEBFBC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2316" y="4576732"/>
                <a:ext cx="1710212" cy="276999"/>
              </a:xfrm>
              <a:prstGeom prst="rect">
                <a:avLst/>
              </a:prstGeom>
              <a:blipFill>
                <a:blip r:embed="rId16"/>
                <a:stretch>
                  <a:fillRect t="-13043" r="-2963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404633EE-C934-1AB6-F423-A891DA1F60BF}"/>
              </a:ext>
            </a:extLst>
          </p:cNvPr>
          <p:cNvSpPr txBox="1">
            <a:spLocks/>
          </p:cNvSpPr>
          <p:nvPr/>
        </p:nvSpPr>
        <p:spPr>
          <a:xfrm>
            <a:off x="6189375" y="3352637"/>
            <a:ext cx="1472203" cy="520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most probable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84A3E477-4ACD-F4D5-85A1-BA53C006567D}"/>
              </a:ext>
            </a:extLst>
          </p:cNvPr>
          <p:cNvSpPr/>
          <p:nvPr/>
        </p:nvSpPr>
        <p:spPr>
          <a:xfrm>
            <a:off x="6107603" y="3256123"/>
            <a:ext cx="127149" cy="520466"/>
          </a:xfrm>
          <a:prstGeom prst="rightBrac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48BD07DC-03AD-5E34-E295-6BB0C2FF9019}"/>
              </a:ext>
            </a:extLst>
          </p:cNvPr>
          <p:cNvSpPr txBox="1">
            <a:spLocks/>
          </p:cNvSpPr>
          <p:nvPr/>
        </p:nvSpPr>
        <p:spPr>
          <a:xfrm>
            <a:off x="9408343" y="3342993"/>
            <a:ext cx="1472203" cy="520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most probable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32DAD902-EAA2-A113-22A1-C9CE3727C91A}"/>
              </a:ext>
            </a:extLst>
          </p:cNvPr>
          <p:cNvSpPr/>
          <p:nvPr/>
        </p:nvSpPr>
        <p:spPr>
          <a:xfrm>
            <a:off x="9314214" y="3258836"/>
            <a:ext cx="127149" cy="520466"/>
          </a:xfrm>
          <a:prstGeom prst="rightBrace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8E1C68-F1DD-283D-3D54-FEE7FCA62CA8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5182" t="14263" r="57053"/>
          <a:stretch>
            <a:fillRect/>
          </a:stretch>
        </p:blipFill>
        <p:spPr>
          <a:xfrm>
            <a:off x="1745665" y="2150968"/>
            <a:ext cx="1569148" cy="27330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9E83F3-14AB-3C94-9732-AC2B4E4DAF70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74287" t="14263" r="15564"/>
          <a:stretch>
            <a:fillRect/>
          </a:stretch>
        </p:blipFill>
        <p:spPr>
          <a:xfrm>
            <a:off x="3316073" y="2149297"/>
            <a:ext cx="573596" cy="273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72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DD7C4-D681-0F2D-F835-44FFC8BEE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EBAB-883E-AF32-C7B3-2C048389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 &amp; Si burning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CA661B-51AC-92E8-FEDA-5B31C0F488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6947" y="1584735"/>
                <a:ext cx="6382677" cy="451126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AU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RATE OF PHOTODISINTEGRATION: </a:t>
                </a:r>
                <a:r>
                  <a:rPr lang="en-US" sz="16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f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s the rate of forward reactions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the reverse reaction rate. The temperature at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AU" sz="16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 Light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16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16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Segoe UI Light" panose="020B0502040204020203" pitchFamily="34" charset="0"/>
                              </a:rPr>
                              <m:t>f</m:t>
                            </m:r>
                          </m:sub>
                        </m:sSub>
                        <m:r>
                          <a:rPr lang="en-AU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∝</m:t>
                        </m:r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λ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depends on the Q value of the forward reaction. </a:t>
                </a:r>
              </a:p>
              <a:p>
                <a:endParaRPr lang="en-US" sz="5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λ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r</m:t>
                          </m:r>
                        </m:sub>
                      </m:sSub>
                      <m:r>
                        <a:rPr lang="en-AU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∝</m:t>
                      </m:r>
                      <m:sSubSup>
                        <m:sSubSupPr>
                          <m:ctrlPr>
                            <a:rPr lang="en-AU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AU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T</m:t>
                          </m:r>
                        </m:e>
                        <m:sub>
                          <m:r>
                            <a:rPr lang="en-AU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</m:sub>
                        <m:sup>
                          <m:f>
                            <m:fPr>
                              <m:ctrlPr>
                                <a:rPr lang="en-AU" sz="16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fPr>
                            <m:num>
                              <m:r>
                                <a:rPr lang="en-AU" sz="16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1600" b="0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  <m:t>2</m:t>
                              </m:r>
                            </m:den>
                          </m:f>
                        </m:sup>
                      </m:sSubSup>
                      <m:sSup>
                        <m:sSupPr>
                          <m:ctrlPr>
                            <a:rPr lang="en-AU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AU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e</m:t>
                          </m:r>
                        </m:e>
                        <m:sup>
                          <m:d>
                            <m:dPr>
                              <m:ctrlPr>
                                <a:rPr lang="en-AU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Segoe UI Light" panose="020B0502040204020203" pitchFamily="34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sz="16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sz="16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−11.6045 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AU" sz="1600" b="0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Segoe UI Light" panose="020B0502040204020203" pitchFamily="34" charset="0"/>
                                    </a:rPr>
                                    <m:t>Q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AU" sz="16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 Light" panose="020B0502040204020203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AU" sz="16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 Light" panose="020B0502040204020203" pitchFamily="34" charset="0"/>
                                        </a:rPr>
                                        <m:t>T</m:t>
                                      </m:r>
                                    </m:e>
                                    <m:sub>
                                      <m:r>
                                        <a:rPr lang="en-AU" sz="1600" b="0" i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Segoe UI Light" panose="020B0502040204020203" pitchFamily="34" charset="0"/>
                                        </a:rPr>
                                        <m:t>9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sup>
                      </m:sSup>
                      <m:sSub>
                        <m:sSubPr>
                          <m:ctrlPr>
                            <a:rPr lang="en-AU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AU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AU" sz="16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f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AU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NEON BURNING:</a:t>
                </a:r>
                <a:r>
                  <a:rPr lang="en-AU" sz="1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 </a:t>
                </a:r>
                <a:r>
                  <a:rPr lang="en-AU" sz="16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Photodisintegration of </a:t>
                </a:r>
                <a14:m>
                  <m:oMath xmlns:m="http://schemas.openxmlformats.org/officeDocument/2006/math">
                    <m:r>
                      <a:rPr lang="en-AU" sz="1600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20</m:t>
                    </m:r>
                    <m:r>
                      <m:rPr>
                        <m:sty m:val="p"/>
                      </m:rPr>
                      <a:rPr lang="en-AU" sz="1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Ne</m:t>
                    </m:r>
                    <m:d>
                      <m:dPr>
                        <m:ctrlPr>
                          <a:rPr lang="en-AU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</m:ctrlPr>
                      </m:dPr>
                      <m:e>
                        <m:r>
                          <a:rPr lang="en-AU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𝛾</m:t>
                        </m:r>
                        <m:r>
                          <a:rPr lang="en-AU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,</m:t>
                        </m:r>
                        <m:r>
                          <a:rPr lang="en-AU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Segoe UI Light" panose="020B0502040204020203" pitchFamily="34" charset="0"/>
                          </a:rPr>
                          <m:t>𝛼</m:t>
                        </m:r>
                      </m:e>
                    </m:d>
                    <m:r>
                      <a:rPr lang="en-AU" sz="1600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Light" panose="020B0502040204020203" pitchFamily="34" charset="0"/>
                      </a:rPr>
                      <m:t>16</m:t>
                    </m:r>
                    <m:r>
                      <m:rPr>
                        <m:sty m:val="p"/>
                      </m:rPr>
                      <a:rPr lang="en-AU" sz="1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Light" panose="020B0502040204020203" pitchFamily="34" charset="0"/>
                      </a:rPr>
                      <m:t>O</m:t>
                    </m:r>
                  </m:oMath>
                </a14:m>
                <a:r>
                  <a:rPr lang="en-AU" sz="16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has a small Q-value of ~4 MeV, so reverse rate rivals the forward rate at ~1.5×10⁹ K (preceding O burning).</a:t>
                </a:r>
              </a:p>
              <a:p>
                <a:pPr marL="0" indent="0">
                  <a:buNone/>
                </a:pPr>
                <a:r>
                  <a:rPr lang="en-AU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SILICON BURNING</a:t>
                </a:r>
                <a:r>
                  <a:rPr lang="en-AU" sz="14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: </a:t>
                </a:r>
                <a:r>
                  <a:rPr lang="en-AU" sz="16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Partial for T ~ 3×10⁹ K, complete at ~5×10⁹ K. </a:t>
                </a:r>
              </a:p>
              <a:p>
                <a:pPr marL="0" indent="0">
                  <a:buNone/>
                </a:pPr>
                <a:r>
                  <a:rPr lang="en-AU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QSE: </a:t>
                </a:r>
                <a:r>
                  <a:rPr lang="en-AU" sz="16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Small groups of nuclei reach equilibrium during the earlier stages of burning in a quasi-nuclear statistical equilibrium. An Si-group and an Fe-group are kept apart by slow reactions with small Q-values. </a:t>
                </a:r>
              </a:p>
              <a:p>
                <a:pPr marL="0" indent="0">
                  <a:buNone/>
                </a:pPr>
                <a:r>
                  <a:rPr lang="en-AU" sz="2000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NSE: </a:t>
                </a:r>
                <a:r>
                  <a:rPr lang="en-AU" sz="16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As the Si content approaches zero, the remaining reactions also come into equilibrium. All reactions and their isotopes are in a full nuclear statistical equilibrium via both electromagnetic &amp; strong force.</a:t>
                </a:r>
                <a:endParaRPr lang="en-US" sz="16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ECA661B-51AC-92E8-FEDA-5B31C0F488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6947" y="1584735"/>
                <a:ext cx="6382677" cy="4511266"/>
              </a:xfrm>
              <a:blipFill>
                <a:blip r:embed="rId3"/>
                <a:stretch>
                  <a:fillRect l="-794" t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AB732BA9-E4B6-6582-0AAC-6F0702C96F37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618D466-4182-29DA-B6A6-AC0AC09C2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CACD5C6-C534-85EE-8F1F-DAF7FBEB11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22C67C2-D60F-5CFB-991C-BBB989C2F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AD971A1-A869-1E7D-7D7F-81D7474E8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ACC112E-4E01-AE71-3BC7-4446AC39C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E6843B43-B183-58CB-3979-273894C0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14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88CEAA5-1DB5-D94B-5BA7-DBD9D565A5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535" y="2041310"/>
            <a:ext cx="4725497" cy="2992022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A75242B3-0A7C-2F5B-21E0-7D0FC0D46200}"/>
              </a:ext>
            </a:extLst>
          </p:cNvPr>
          <p:cNvSpPr txBox="1">
            <a:spLocks/>
          </p:cNvSpPr>
          <p:nvPr/>
        </p:nvSpPr>
        <p:spPr>
          <a:xfrm>
            <a:off x="838199" y="5033332"/>
            <a:ext cx="4116859" cy="314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Figure 20 from </a:t>
            </a:r>
            <a:r>
              <a:rPr lang="en-AU" sz="1000" dirty="0" err="1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Arcones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 &amp; Thielemann 2023 (</a:t>
            </a:r>
            <a:r>
              <a:rPr lang="en-AU" sz="1000" dirty="0" err="1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AARev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5445907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4DF6983-592F-17DB-DBE7-26E9323DD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Explosive burning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F162BFA-BE88-31FD-6D38-062F684E5F7C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4B1912D-9BEA-06EB-0B57-EF6B92959E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E9143FA-B26A-9AB9-C752-201223FF3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78DE8CD-A634-A51E-0025-E4F1FABB4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527FA69-7A94-E0B1-C6F5-4EB80EDCA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C426C2A-FF87-D31D-2D80-919A79B5A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5195D12-A516-F8B0-BECB-BB1925497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15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58F716-6C8E-7DB8-6004-9B117E4EED53}"/>
              </a:ext>
            </a:extLst>
          </p:cNvPr>
          <p:cNvCxnSpPr>
            <a:cxnSpLocks/>
          </p:cNvCxnSpPr>
          <p:nvPr/>
        </p:nvCxnSpPr>
        <p:spPr>
          <a:xfrm flipV="1">
            <a:off x="6502864" y="2041310"/>
            <a:ext cx="0" cy="3306597"/>
          </a:xfrm>
          <a:prstGeom prst="straightConnector1">
            <a:avLst/>
          </a:prstGeom>
          <a:ln w="38100">
            <a:solidFill>
              <a:schemeClr val="accent4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D07C1359-C731-B92B-B2C7-26FD5E5A03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42149" y="2366358"/>
                <a:ext cx="1221537" cy="30819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5</m:t>
                      </m:r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×</m:t>
                      </m:r>
                      <m:sSup>
                        <m:sSupPr>
                          <m:ctrlP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10</m:t>
                          </m:r>
                        </m:e>
                        <m:sup>
                          <m: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</m:sup>
                      </m:sSup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K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>
          <p:sp>
            <p:nvSpPr>
              <p:cNvPr id="17" name="Content Placeholder 2">
                <a:extLst>
                  <a:ext uri="{FF2B5EF4-FFF2-40B4-BE49-F238E27FC236}">
                    <a16:creationId xmlns:a16="http://schemas.microsoft.com/office/drawing/2014/main" id="{D07C1359-C731-B92B-B2C7-26FD5E5A0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149" y="2366358"/>
                <a:ext cx="1221537" cy="308190"/>
              </a:xfrm>
              <a:prstGeom prst="rect">
                <a:avLst/>
              </a:prstGeom>
              <a:blipFill>
                <a:blip r:embed="rId5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13B8CA96-65D6-9EF4-9E96-DF72A555F3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46618" y="3645391"/>
                <a:ext cx="1221536" cy="2714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AU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4</m:t>
                      </m:r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×</m:t>
                      </m:r>
                      <m:sSup>
                        <m:sSupPr>
                          <m:ctrlP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10</m:t>
                          </m:r>
                        </m:e>
                        <m:sup>
                          <m: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</m:sup>
                      </m:sSup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K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8" name="Content Placeholder 2">
                <a:extLst>
                  <a:ext uri="{FF2B5EF4-FFF2-40B4-BE49-F238E27FC236}">
                    <a16:creationId xmlns:a16="http://schemas.microsoft.com/office/drawing/2014/main" id="{13B8CA96-65D6-9EF4-9E96-DF72A555F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618" y="3645391"/>
                <a:ext cx="1221536" cy="271432"/>
              </a:xfrm>
              <a:prstGeom prst="rect">
                <a:avLst/>
              </a:prstGeom>
              <a:blipFill>
                <a:blip r:embed="rId6"/>
                <a:stretch>
                  <a:fillRect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687B55A-0CE2-6A70-66E6-31F56D211B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13422" y="4047278"/>
                <a:ext cx="1212601" cy="2714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AU" sz="16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3</m:t>
                      </m:r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.3</m:t>
                      </m:r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×</m:t>
                      </m:r>
                      <m:sSup>
                        <m:sSupPr>
                          <m:ctrlP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10</m:t>
                          </m:r>
                        </m:e>
                        <m:sup>
                          <m: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</m:sup>
                      </m:sSup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K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19" name="Content Placeholder 2">
                <a:extLst>
                  <a:ext uri="{FF2B5EF4-FFF2-40B4-BE49-F238E27FC236}">
                    <a16:creationId xmlns:a16="http://schemas.microsoft.com/office/drawing/2014/main" id="{1687B55A-0CE2-6A70-66E6-31F56D211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422" y="4047278"/>
                <a:ext cx="1212601" cy="271433"/>
              </a:xfrm>
              <a:prstGeom prst="rect">
                <a:avLst/>
              </a:prstGeom>
              <a:blipFill>
                <a:blip r:embed="rId7"/>
                <a:stretch>
                  <a:fillRect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AB5BB009-0F09-7676-1025-44F600974E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46618" y="4506644"/>
                <a:ext cx="1212600" cy="2714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AU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2</m:t>
                      </m:r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×</m:t>
                      </m:r>
                      <m:sSup>
                        <m:sSupPr>
                          <m:ctrlP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10</m:t>
                          </m:r>
                        </m:e>
                        <m:sup>
                          <m: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</m:sup>
                      </m:sSup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K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20" name="Content Placeholder 2">
                <a:extLst>
                  <a:ext uri="{FF2B5EF4-FFF2-40B4-BE49-F238E27FC236}">
                    <a16:creationId xmlns:a16="http://schemas.microsoft.com/office/drawing/2014/main" id="{AB5BB009-0F09-7676-1025-44F600974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6618" y="4506644"/>
                <a:ext cx="1212600" cy="271432"/>
              </a:xfrm>
              <a:prstGeom prst="rect">
                <a:avLst/>
              </a:prstGeom>
              <a:blipFill>
                <a:blip r:embed="rId8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7EFC2B8-4606-C07C-1E17-17294A5CCB41}"/>
              </a:ext>
            </a:extLst>
          </p:cNvPr>
          <p:cNvSpPr txBox="1">
            <a:spLocks/>
          </p:cNvSpPr>
          <p:nvPr/>
        </p:nvSpPr>
        <p:spPr>
          <a:xfrm>
            <a:off x="6580213" y="2366521"/>
            <a:ext cx="4684415" cy="37301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Complete Si burning of primarily former Si/O-shell material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BE6DAF-2CB9-FC53-61D3-BB7D42DE8996}"/>
              </a:ext>
            </a:extLst>
          </p:cNvPr>
          <p:cNvSpPr txBox="1">
            <a:spLocks/>
          </p:cNvSpPr>
          <p:nvPr/>
        </p:nvSpPr>
        <p:spPr>
          <a:xfrm>
            <a:off x="6580213" y="3639623"/>
            <a:ext cx="2268104" cy="270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Incomplete Si burning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8C42AC7-5455-E951-D62B-46EA1620511D}"/>
              </a:ext>
            </a:extLst>
          </p:cNvPr>
          <p:cNvSpPr txBox="1">
            <a:spLocks/>
          </p:cNvSpPr>
          <p:nvPr/>
        </p:nvSpPr>
        <p:spPr>
          <a:xfrm>
            <a:off x="6580213" y="4049088"/>
            <a:ext cx="5286510" cy="270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Explosive Ne burning in O/Ne shell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4F1A1A3-C3CD-BE25-B60C-9FE8CCDDFCCD}"/>
              </a:ext>
            </a:extLst>
          </p:cNvPr>
          <p:cNvSpPr txBox="1">
            <a:spLocks/>
          </p:cNvSpPr>
          <p:nvPr/>
        </p:nvSpPr>
        <p:spPr>
          <a:xfrm>
            <a:off x="6580213" y="4511726"/>
            <a:ext cx="2268104" cy="270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 burning in C/O shell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924F06-0D6C-8A2A-725A-C00CF82A230F}"/>
              </a:ext>
            </a:extLst>
          </p:cNvPr>
          <p:cNvCxnSpPr>
            <a:cxnSpLocks/>
          </p:cNvCxnSpPr>
          <p:nvPr/>
        </p:nvCxnSpPr>
        <p:spPr>
          <a:xfrm>
            <a:off x="5109294" y="4904897"/>
            <a:ext cx="3546247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B21A979-29E5-E84B-0F23-14472D067B91}"/>
              </a:ext>
            </a:extLst>
          </p:cNvPr>
          <p:cNvSpPr txBox="1">
            <a:spLocks/>
          </p:cNvSpPr>
          <p:nvPr/>
        </p:nvSpPr>
        <p:spPr>
          <a:xfrm>
            <a:off x="6569499" y="5010379"/>
            <a:ext cx="2268104" cy="2703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No explosive burning</a:t>
            </a:r>
            <a:endParaRPr lang="en-US" sz="16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285B53F7-7FBF-8E4F-A382-0EACF2C047AD}"/>
              </a:ext>
            </a:extLst>
          </p:cNvPr>
          <p:cNvSpPr txBox="1">
            <a:spLocks/>
          </p:cNvSpPr>
          <p:nvPr/>
        </p:nvSpPr>
        <p:spPr>
          <a:xfrm>
            <a:off x="6745419" y="2899789"/>
            <a:ext cx="5405464" cy="2505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  <a:sym typeface="Wingdings" pitchFamily="2" charset="2"/>
              </a:rPr>
              <a:t>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If densities high, NSE is reached in a normal freezeout</a:t>
            </a:r>
            <a:endParaRPr lang="en-US" sz="1400" i="1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DDEE6919-1821-2B01-5092-8CC6E687B9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745418" y="3170180"/>
                <a:ext cx="4766882" cy="7828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AU" sz="1400" i="1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  <a:sym typeface="Wingdings" pitchFamily="2" charset="2"/>
                  </a:rPr>
                  <a:t> L</a:t>
                </a:r>
                <a:r>
                  <a:rPr lang="en-AU" sz="1400" i="1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ower densities &amp; higher entropy, shock wave cools before all </a:t>
                </a:r>
                <a14:m>
                  <m:oMath xmlns:m="http://schemas.openxmlformats.org/officeDocument/2006/math">
                    <m:r>
                      <a:rPr lang="en-AU" sz="1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Light" panose="020B0502040204020203" pitchFamily="34" charset="0"/>
                      </a:rPr>
                      <m:t>𝛼</m:t>
                    </m:r>
                  </m:oMath>
                </a14:m>
                <a:r>
                  <a:rPr lang="en-AU" sz="1400" i="1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particles recombine in an </a:t>
                </a:r>
                <a14:m>
                  <m:oMath xmlns:m="http://schemas.openxmlformats.org/officeDocument/2006/math">
                    <m:r>
                      <a:rPr lang="en-AU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Segoe UI Light" panose="020B0502040204020203" pitchFamily="34" charset="0"/>
                      </a:rPr>
                      <m:t>𝛼</m:t>
                    </m:r>
                  </m:oMath>
                </a14:m>
                <a:r>
                  <a:rPr lang="en-AU" sz="1400" i="1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-rich freezeout </a:t>
                </a:r>
                <a:endParaRPr lang="en-US" sz="1400" i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>
          <p:sp>
            <p:nvSpPr>
              <p:cNvPr id="37" name="Content Placeholder 2">
                <a:extLst>
                  <a:ext uri="{FF2B5EF4-FFF2-40B4-BE49-F238E27FC236}">
                    <a16:creationId xmlns:a16="http://schemas.microsoft.com/office/drawing/2014/main" id="{DDEE6919-1821-2B01-5092-8CC6E687B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418" y="3170180"/>
                <a:ext cx="4766882" cy="782825"/>
              </a:xfrm>
              <a:prstGeom prst="rect">
                <a:avLst/>
              </a:prstGeom>
              <a:blipFill>
                <a:blip r:embed="rId9"/>
                <a:stretch>
                  <a:fillRect l="-532" t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2">
                <a:extLst>
                  <a:ext uri="{FF2B5EF4-FFF2-40B4-BE49-F238E27FC236}">
                    <a16:creationId xmlns:a16="http://schemas.microsoft.com/office/drawing/2014/main" id="{063C5C01-6097-68A6-9040-B73E75BE85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67902" y="5012232"/>
                <a:ext cx="1456449" cy="2944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𝑇</m:t>
                      </m:r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Segoe UI Light" panose="020B0502040204020203" pitchFamily="34" charset="0"/>
                        </a:rPr>
                        <m:t>&lt; 2×</m:t>
                      </m:r>
                      <m:sSup>
                        <m:sSupPr>
                          <m:ctrlP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</m:ctrlPr>
                        </m:sSupPr>
                        <m:e>
                          <m: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10</m:t>
                          </m:r>
                        </m:e>
                        <m:sup>
                          <m:r>
                            <a:rPr lang="en-AU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Segoe UI Light" panose="020B0502040204020203" pitchFamily="34" charset="0"/>
                            </a:rPr>
                            <m:t>9</m:t>
                          </m:r>
                        </m:sup>
                      </m:sSup>
                      <m:r>
                        <a:rPr lang="en-AU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Segoe UI Light" panose="020B0502040204020203" pitchFamily="34" charset="0"/>
                        </a:rPr>
                        <m:t>K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8" name="Content Placeholder 2">
                <a:extLst>
                  <a:ext uri="{FF2B5EF4-FFF2-40B4-BE49-F238E27FC236}">
                    <a16:creationId xmlns:a16="http://schemas.microsoft.com/office/drawing/2014/main" id="{063C5C01-6097-68A6-9040-B73E75BE8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902" y="5012232"/>
                <a:ext cx="1456449" cy="294411"/>
              </a:xfrm>
              <a:prstGeom prst="rect">
                <a:avLst/>
              </a:prstGeom>
              <a:blipFill>
                <a:blip r:embed="rId10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4" name="Picture 43">
            <a:extLst>
              <a:ext uri="{FF2B5EF4-FFF2-40B4-BE49-F238E27FC236}">
                <a16:creationId xmlns:a16="http://schemas.microsoft.com/office/drawing/2014/main" id="{8C4FDBA5-219C-7C55-0838-89084295F8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535" y="2041310"/>
            <a:ext cx="4725497" cy="2992022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331105B-D2AF-D916-9C27-9F59998405BA}"/>
              </a:ext>
            </a:extLst>
          </p:cNvPr>
          <p:cNvSpPr txBox="1">
            <a:spLocks/>
          </p:cNvSpPr>
          <p:nvPr/>
        </p:nvSpPr>
        <p:spPr>
          <a:xfrm>
            <a:off x="838199" y="5033332"/>
            <a:ext cx="4116859" cy="314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Figure 20 from </a:t>
            </a:r>
            <a:r>
              <a:rPr lang="en-AU" sz="1000" dirty="0" err="1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Arcones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 &amp; Thielemann 2023 (</a:t>
            </a:r>
            <a:r>
              <a:rPr lang="en-AU" sz="1000" dirty="0" err="1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AARev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298883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325C3-7CFB-2F8F-796C-C060CF859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E103B-E27A-FC06-012F-6C07A34AA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Elements &gt; Fe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DA2CED-1680-79D1-5496-BD949498FCC8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0B892CA-7C5A-6154-9813-A8563F77F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0E84CF4-0BB8-9216-F7CF-D60E21837E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2C4D3D8-A360-C98F-07E3-18304B3EC0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F2310E9-0085-F0D1-BE67-55E3FF4CE5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E82024D-9171-D6BB-1A93-E2B07C924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1A9ECBC6-947B-151F-03E0-9321045B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3058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2931A-C731-F08E-3DF6-8FD561982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7D04-E4DD-6A06-82E8-993735D4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Elements &gt; Fe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6B3A5F8-14A2-9F11-1B5F-918CDE443B6B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A863407-2CA5-71E3-E160-778D7D6E3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9936EF-7CF4-AC8E-B28F-0F42A5A19C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DBA490-4593-5491-5890-DFC87F8D6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C7B25F3-D1DB-5A40-DC2D-6FFA2075F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9BF8D88-7AAC-0689-2D99-CB7676A12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9D13018C-D297-E1CF-2A13-6870AF5BC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17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C5DDDE7-99D3-4B89-7FD1-EA1942DBA89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02" r="45736" b="33447"/>
          <a:stretch>
            <a:fillRect/>
          </a:stretch>
        </p:blipFill>
        <p:spPr>
          <a:xfrm>
            <a:off x="1066802" y="2234832"/>
            <a:ext cx="4970247" cy="24185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1A51063-D8C7-E06D-564F-C8D1964EF1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74" t="19539" b="51234"/>
          <a:stretch>
            <a:fillRect/>
          </a:stretch>
        </p:blipFill>
        <p:spPr>
          <a:xfrm>
            <a:off x="1210046" y="4488704"/>
            <a:ext cx="4683758" cy="140409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00FF0C-5CFE-DC61-2D53-1D462D587412}"/>
              </a:ext>
            </a:extLst>
          </p:cNvPr>
          <p:cNvSpPr txBox="1">
            <a:spLocks/>
          </p:cNvSpPr>
          <p:nvPr/>
        </p:nvSpPr>
        <p:spPr>
          <a:xfrm>
            <a:off x="1322760" y="1916228"/>
            <a:ext cx="3434591" cy="3178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Neutron Capture Processes</a:t>
            </a:r>
          </a:p>
        </p:txBody>
      </p:sp>
    </p:spTree>
    <p:extLst>
      <p:ext uri="{BB962C8B-B14F-4D97-AF65-F5344CB8AC3E}">
        <p14:creationId xmlns:p14="http://schemas.microsoft.com/office/powerpoint/2010/main" val="1676218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A9D4-1778-7140-E69C-EE68C7E8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9B720-86BF-6F6C-6FE8-5A8E1F47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Elements &gt; Fe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0517D3-3F0B-58EE-E678-0D8A79487012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10758CD-825E-2D5A-2270-4ABA9B254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81CDF85-0D28-9199-77A5-E1AE3086D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F138F2E-6D70-96BA-6797-97774E8514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F130CB4-6A6C-1FA7-BDCE-7FEA8164D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687A15D-1F40-44FB-7A65-9A16309CF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7423E5D0-69C0-93B2-DF0C-79F0FB52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18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5D587F5-A6BA-5BA5-9E00-D6BAEFEC5A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02" r="45736" b="33447"/>
          <a:stretch>
            <a:fillRect/>
          </a:stretch>
        </p:blipFill>
        <p:spPr>
          <a:xfrm>
            <a:off x="1066802" y="2234832"/>
            <a:ext cx="4970247" cy="241857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6932BAA-C513-DEF3-E241-DF1A60E18B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74" t="19539" b="51234"/>
          <a:stretch>
            <a:fillRect/>
          </a:stretch>
        </p:blipFill>
        <p:spPr>
          <a:xfrm>
            <a:off x="1210046" y="4488704"/>
            <a:ext cx="4683758" cy="1404096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331A0A-2B59-E969-4FC4-3C85D6BD7D70}"/>
              </a:ext>
            </a:extLst>
          </p:cNvPr>
          <p:cNvSpPr txBox="1">
            <a:spLocks/>
          </p:cNvSpPr>
          <p:nvPr/>
        </p:nvSpPr>
        <p:spPr>
          <a:xfrm>
            <a:off x="1322760" y="1916228"/>
            <a:ext cx="3434591" cy="3178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Neutron Capture Processes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BD1FEE-F954-1790-46F4-C3E267844B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0293" y="1986110"/>
            <a:ext cx="5173507" cy="346054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E7E539F-8FF6-0FAD-ECF8-F2F4C001CD6D}"/>
              </a:ext>
            </a:extLst>
          </p:cNvPr>
          <p:cNvSpPr txBox="1">
            <a:spLocks/>
          </p:cNvSpPr>
          <p:nvPr/>
        </p:nvSpPr>
        <p:spPr>
          <a:xfrm>
            <a:off x="7300763" y="1670795"/>
            <a:ext cx="4116859" cy="3145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Figure 3 from </a:t>
            </a:r>
            <a:r>
              <a:rPr lang="en-AU" sz="1000" dirty="0" err="1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Arcones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 &amp; Thielemann 2023 (</a:t>
            </a:r>
            <a:r>
              <a:rPr lang="en-AU" sz="1000" dirty="0" err="1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AARev</a:t>
            </a:r>
            <a:r>
              <a:rPr lang="en-AU" sz="1000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ea typeface="Cambria Math" panose="02040503050406030204" pitchFamily="18" charset="0"/>
                <a:cs typeface="Segoe UI" panose="020B0502040204020203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895508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51DED-B4FF-123A-78F7-3BA4FE7AB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8868-1EC0-47AE-1506-20B9E4C42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Elements &gt; Fe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BAD6B3B-96F0-FB70-63AD-42DFDACFF902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F08093A-13E3-C7B0-9FC1-7E97A54F32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BF7AB58-BF99-7CCB-22C5-5D6408337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E668B58-45A1-876E-4B46-0BC527A3E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1667AFE-2D7D-8BE8-7629-BF06581B3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F350492-FE91-C351-F8DE-27AAFF69B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1364D540-5D1F-6601-EA1E-C0942478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19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CD95F7-230E-3535-1A48-2993D093E116}"/>
              </a:ext>
            </a:extLst>
          </p:cNvPr>
          <p:cNvSpPr txBox="1">
            <a:spLocks/>
          </p:cNvSpPr>
          <p:nvPr/>
        </p:nvSpPr>
        <p:spPr>
          <a:xfrm>
            <a:off x="1322760" y="1916228"/>
            <a:ext cx="3434591" cy="3178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Neutron Capture Processes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0D57EA-571F-2E91-4788-58077ECE81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02" r="45736" b="33447"/>
          <a:stretch>
            <a:fillRect/>
          </a:stretch>
        </p:blipFill>
        <p:spPr>
          <a:xfrm>
            <a:off x="1066802" y="2234832"/>
            <a:ext cx="4970247" cy="2418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DEF1D7-9B19-9DBE-C922-E2E9196B3E8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74" t="19539" b="51234"/>
          <a:stretch>
            <a:fillRect/>
          </a:stretch>
        </p:blipFill>
        <p:spPr>
          <a:xfrm>
            <a:off x="1210046" y="4488704"/>
            <a:ext cx="4683758" cy="1404096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90BB970-75F7-D301-99D3-EF61AF39D82F}"/>
              </a:ext>
            </a:extLst>
          </p:cNvPr>
          <p:cNvSpPr txBox="1">
            <a:spLocks/>
          </p:cNvSpPr>
          <p:nvPr/>
        </p:nvSpPr>
        <p:spPr>
          <a:xfrm>
            <a:off x="8302680" y="1916229"/>
            <a:ext cx="2517719" cy="289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P-Nuclei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4645857-5183-1849-949F-DBB6D6479A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41" t="14548" r="39673" b="-305"/>
          <a:stretch>
            <a:fillRect/>
          </a:stretch>
        </p:blipFill>
        <p:spPr>
          <a:xfrm>
            <a:off x="6430614" y="1803566"/>
            <a:ext cx="3922739" cy="408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5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2AB9-701F-3348-DE39-2C6F962A1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3767-A77B-4325-B038-88F4651D4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Elements &gt; Fe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8BE6170-5B82-DE70-FDA5-4CF3A5517EEC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C8E61D-D237-BFD8-3235-0DD8269AC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E1D5D67-5F56-585E-9C88-E725B9D1D2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E39D110-267A-979C-B53B-83C0481A00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FB7474F-1B7D-075A-30DD-5D7A07F26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D2D10E6-CF56-F829-0952-7C4F4BD6C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3977AECA-7509-370C-4E59-BDD2CB310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4D2AF76-BE1D-D46B-D730-67FFB86221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1102" r="45736" b="33447"/>
          <a:stretch>
            <a:fillRect/>
          </a:stretch>
        </p:blipFill>
        <p:spPr>
          <a:xfrm>
            <a:off x="1066802" y="2234832"/>
            <a:ext cx="4970247" cy="241857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0C77502-C100-B009-C1D6-88D49AD833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574" t="19539" b="51234"/>
          <a:stretch>
            <a:fillRect/>
          </a:stretch>
        </p:blipFill>
        <p:spPr>
          <a:xfrm>
            <a:off x="1210046" y="4488704"/>
            <a:ext cx="4683758" cy="140409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B7B41AC-64EF-7E5B-02B0-6828E47D8E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741" t="14548" r="39673" b="-305"/>
          <a:stretch>
            <a:fillRect/>
          </a:stretch>
        </p:blipFill>
        <p:spPr>
          <a:xfrm>
            <a:off x="6430614" y="1803566"/>
            <a:ext cx="3922739" cy="4089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E4A3A0-854F-1FAA-8DE0-C6762A6EA14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54945" b="2902"/>
          <a:stretch>
            <a:fillRect/>
          </a:stretch>
        </p:blipFill>
        <p:spPr>
          <a:xfrm>
            <a:off x="4505783" y="184016"/>
            <a:ext cx="7772400" cy="1778552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C9A5DA0-B1E2-E7A2-0575-277C9A681739}"/>
              </a:ext>
            </a:extLst>
          </p:cNvPr>
          <p:cNvSpPr txBox="1">
            <a:spLocks/>
          </p:cNvSpPr>
          <p:nvPr/>
        </p:nvSpPr>
        <p:spPr>
          <a:xfrm>
            <a:off x="1322760" y="1916228"/>
            <a:ext cx="3434591" cy="3178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Neutron Capture Processes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C19097-1A77-4DD3-C0DC-E4A5709EAF53}"/>
              </a:ext>
            </a:extLst>
          </p:cNvPr>
          <p:cNvSpPr txBox="1">
            <a:spLocks/>
          </p:cNvSpPr>
          <p:nvPr/>
        </p:nvSpPr>
        <p:spPr>
          <a:xfrm>
            <a:off x="8302680" y="1916229"/>
            <a:ext cx="2517719" cy="289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P-Nuclei</a:t>
            </a:r>
          </a:p>
        </p:txBody>
      </p:sp>
    </p:spTree>
    <p:extLst>
      <p:ext uri="{BB962C8B-B14F-4D97-AF65-F5344CB8AC3E}">
        <p14:creationId xmlns:p14="http://schemas.microsoft.com/office/powerpoint/2010/main" val="2179737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3EBC6-1C2F-B4D7-2A40-3576EF725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1BF1-221A-C089-6FDF-89F0B80F9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Astrophysical Sites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AF3C25-D0E4-4E09-689B-DFD7C8A7C1DE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731D06B-9B07-CED1-5A78-A04B3B3C1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8D9BEF-4899-EEC4-5A85-A8D9470B2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7C898D0-864F-D914-2B1D-8EE7DCD30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5DC0081-F7FF-FE40-5E40-45A1F33BB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69F3AC7-A1DD-351B-D360-1E1E06043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9F0A2B8-6F65-0E04-6F80-789641C9C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21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E331C1-6DCC-8C00-5B6C-9925601553DA}"/>
              </a:ext>
            </a:extLst>
          </p:cNvPr>
          <p:cNvSpPr txBox="1"/>
          <p:nvPr/>
        </p:nvSpPr>
        <p:spPr>
          <a:xfrm>
            <a:off x="3619311" y="1690688"/>
            <a:ext cx="756319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REGIME:</a:t>
            </a:r>
            <a:r>
              <a:rPr lang="en-AU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10s to 100s of periodic cycles. Double-shell burning punctuated by thermonuclear runaways from the He shell (thermal pulses). Pulses drives convective mixing between the processed region and surface (third dredge-up, 3DU). Main site of s-process. H burning can occur at envelope base (hot bottom burning, HBB).</a:t>
            </a:r>
          </a:p>
          <a:p>
            <a:pPr lvl="0"/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lvl="0"/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PROGENITOR MASS: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Low-mass AGBs undergo deep 3DU, many become C-rich. Dominant neutron source is ¹³C, producing 2nd- and 3rd-peak species. Intermediate-mass AGBs reach temps for HBB and convert dredged-up ¹²C to ¹⁴N. They are too hot for ¹³C source, ²²Ne activates instead. Lower neutron exposure, production mostly 1st peak.</a:t>
            </a:r>
            <a:endParaRPr lang="en-AU" sz="14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lvl="0"/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lvl="0"/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METALLICITY IMPACT:</a:t>
            </a:r>
            <a:r>
              <a:rPr lang="en-AU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Higher-Z AGBs are less dense, with smaller He cores at onset. Leads to weaker thermal pulses, greater mass loss, fewer cycles, so 3DU and HBB are both less efficient. The ¹³C neutron source is primary, so lower [Fe/H] means the same neutron supply is shared among fewer Fe seeds pushing flow from 1</a:t>
            </a:r>
            <a:r>
              <a:rPr lang="en-AU" sz="14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peak toward 2</a:t>
            </a:r>
            <a:r>
              <a:rPr lang="en-AU" sz="14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nd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and 3</a:t>
            </a:r>
            <a:r>
              <a:rPr lang="en-AU" sz="14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rd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peak.</a:t>
            </a:r>
          </a:p>
          <a:p>
            <a:pPr lvl="0"/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lvl="0"/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SIGNATURE PRODUCTS:</a:t>
            </a:r>
            <a:r>
              <a:rPr lang="en-AU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Low mass AGBs dominant contributors to galactic budget of main s-process component (Sr to Pb) and primary C (through 3DU). Intermediate mass AGBs make primary N and Ne-Na / Mg-Al chains at lower Z, Li at higher Z via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Cameron–Fowler mechanism.</a:t>
            </a:r>
          </a:p>
          <a:p>
            <a:pPr lvl="0"/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0"/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REVS: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Busso Gallino &amp; </a:t>
            </a:r>
            <a:r>
              <a:rPr lang="en-AU" sz="1400" dirty="0" err="1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Wasserburg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(1999, ARAA), Herwig (2005, ARAA), Karakas &amp; Lattanzio (2014, PASA), Lugaro et al. (2023, ARNPS)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A1561-3312-0FB0-2640-A1E50768DDA1}"/>
              </a:ext>
            </a:extLst>
          </p:cNvPr>
          <p:cNvSpPr txBox="1"/>
          <p:nvPr/>
        </p:nvSpPr>
        <p:spPr>
          <a:xfrm rot="16200000">
            <a:off x="166024" y="2469526"/>
            <a:ext cx="17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SIGNLE OR BINARIES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FD1BEE-6D46-20CD-EE78-44FF7160D72F}"/>
              </a:ext>
            </a:extLst>
          </p:cNvPr>
          <p:cNvSpPr txBox="1"/>
          <p:nvPr/>
        </p:nvSpPr>
        <p:spPr>
          <a:xfrm rot="16200000">
            <a:off x="264674" y="3809469"/>
            <a:ext cx="1578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BINARIES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AAEC8C-3798-8FB9-CAB9-1F3E846A60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311" r="56143" b="37083"/>
          <a:stretch>
            <a:fillRect/>
          </a:stretch>
        </p:blipFill>
        <p:spPr>
          <a:xfrm>
            <a:off x="1081228" y="2342387"/>
            <a:ext cx="1642986" cy="487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F0EB4AF-5E11-E1F6-9331-68695DD109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2886" b="87670"/>
          <a:stretch>
            <a:fillRect/>
          </a:stretch>
        </p:blipFill>
        <p:spPr>
          <a:xfrm>
            <a:off x="1081688" y="1602699"/>
            <a:ext cx="1015751" cy="6253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3DE25F4-BDA7-D422-DD7D-651DD7B0D8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7784" r="65499" b="3285"/>
          <a:stretch>
            <a:fillRect/>
          </a:stretch>
        </p:blipFill>
        <p:spPr>
          <a:xfrm>
            <a:off x="1081228" y="4429255"/>
            <a:ext cx="1292463" cy="4529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A4D120-D7AA-4877-35F5-96336D04E4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132" r="68933" b="17290"/>
          <a:stretch>
            <a:fillRect/>
          </a:stretch>
        </p:blipFill>
        <p:spPr>
          <a:xfrm>
            <a:off x="1081228" y="3683547"/>
            <a:ext cx="1163833" cy="688649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C74A467-0F2E-232C-3058-178113819726}"/>
              </a:ext>
            </a:extLst>
          </p:cNvPr>
          <p:cNvSpPr/>
          <p:nvPr/>
        </p:nvSpPr>
        <p:spPr>
          <a:xfrm>
            <a:off x="1216851" y="2279971"/>
            <a:ext cx="1610749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4ED9DF9-8203-3288-C602-0E3076D129C6}"/>
              </a:ext>
            </a:extLst>
          </p:cNvPr>
          <p:cNvSpPr/>
          <p:nvPr/>
        </p:nvSpPr>
        <p:spPr>
          <a:xfrm>
            <a:off x="1216851" y="3673151"/>
            <a:ext cx="982031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7ADDA91-79BA-B13C-AF3B-2614BE6C66F9}"/>
              </a:ext>
            </a:extLst>
          </p:cNvPr>
          <p:cNvSpPr/>
          <p:nvPr/>
        </p:nvSpPr>
        <p:spPr>
          <a:xfrm>
            <a:off x="1216850" y="4309678"/>
            <a:ext cx="1292463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BDA5FAB-A986-5FCB-B368-24FA05E7D0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679" y="2941606"/>
            <a:ext cx="2027147" cy="675716"/>
          </a:xfrm>
          <a:prstGeom prst="rect">
            <a:avLst/>
          </a:prstGeom>
        </p:spPr>
      </p:pic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875FC45-D7BE-4BB2-75EE-205E8A3E49C8}"/>
              </a:ext>
            </a:extLst>
          </p:cNvPr>
          <p:cNvSpPr/>
          <p:nvPr/>
        </p:nvSpPr>
        <p:spPr>
          <a:xfrm>
            <a:off x="1219768" y="3021697"/>
            <a:ext cx="1504446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542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E7704-9F7F-2780-9B5F-F52CCE8A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2A23-0D8D-A53C-DB1A-5AD865FB8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Astrophysical Sites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542563D-48D7-877B-E44F-82A63363C2EA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7AD3A4F-3689-4565-7C68-6D90E3F11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460DF8E-7CEA-631B-1012-FC84D946F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6B4C8CD-0E08-A779-45D9-8700C80D20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ED50593-FBE9-1840-DE4D-7A08AF5B52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EDEB30D-6D36-796E-50CB-0B00FAA99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F4E47C3-680C-F765-912C-A04E22584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22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4B0180-2C60-5D52-207C-ECC2477EAE7B}"/>
                  </a:ext>
                </a:extLst>
              </p:cNvPr>
              <p:cNvSpPr txBox="1"/>
              <p:nvPr/>
            </p:nvSpPr>
            <p:spPr>
              <a:xfrm>
                <a:off x="3619311" y="1690688"/>
                <a:ext cx="7563190" cy="4979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REGIME: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Sequential core/shell burning </a:t>
                </a:r>
                <a:r>
                  <a:rPr lang="en-AU" sz="1400" dirty="0" err="1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H→He→C→Ne→O→Si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(onion structure), each stage hotter, denser, and shorter-lived than the last. Ends when inert Fe core exceeds Chandrasekhar-like limit and collapses. Rebounding shock can drive explosive nucleosynthesis through shells and reprocess them.</a:t>
                </a:r>
              </a:p>
              <a:p>
                <a:pPr lvl="0"/>
                <a:endParaRPr lang="en-AU" sz="7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PROGENITOR MASS IMPACT: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Sets how far hydrostatic burning proceeds and how hot each stage runs. At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, higher mass changes core composition to less He, more CNO-processed material, and greater contributions from heavier nuclei. At collapse, the resulting core compactness influences the explosion and the balance between Fe-group fallback and ejecta.</a:t>
                </a:r>
              </a:p>
              <a:p>
                <a:pPr lvl="0"/>
                <a:endParaRPr lang="en-AU" sz="7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METALLICITY IMPACT: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For elements below Fe, higher Zᵢ favours production of odd-Z elements over α-elements (e.g. Na, Cu) and of more neutron-rich isotopes (e.g. ²⁶Mg over ²⁴Mg). For s-process elements, as a secondary source ²²Ne (via CNO→¹⁴N→²²Ne) strengthens with increasing Z, so the weak s-process gets stronger. But when ²²Ne is instead primary (built via rotational mixing) the trend reverses and weakens at higher Z (e.g., Roberti et al. 2024 </a:t>
                </a:r>
                <a:r>
                  <a:rPr lang="en-AU" sz="1400" dirty="0" err="1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ApJSS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).</a:t>
                </a:r>
              </a:p>
              <a:p>
                <a:pPr lvl="0"/>
                <a:endParaRPr lang="en-AU" sz="7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SIGNATURE PRODUCTS: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The dominant Galactic source of the α-elements (O, Ne, Mg, Si, S, </a:t>
                </a:r>
                <a:r>
                  <a:rPr lang="en-AU" sz="1400" dirty="0" err="1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Ar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, Ca) through both hydrostatic and explosive contributions. The weak s-process (Ga up to 1</a:t>
                </a:r>
                <a:r>
                  <a:rPr lang="en-AU" sz="1400" baseline="300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st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peak). Explosive Si burning supplies Fe-group and ⁵⁶Ni (smaller total than SN Ia). </a:t>
                </a:r>
              </a:p>
              <a:p>
                <a:pPr lvl="0"/>
                <a:endParaRPr lang="en-AU" sz="7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REVS: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Nomoto, Kobayashi &amp; Tominaga (2013, ARAA), </a:t>
                </a:r>
                <a:r>
                  <a:rPr lang="en-AU" sz="1400" dirty="0" err="1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Arcones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&amp; Thielemann (2023, </a:t>
                </a:r>
                <a:r>
                  <a:rPr lang="en-AU" sz="1400" dirty="0" err="1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AARev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)</a:t>
                </a:r>
              </a:p>
              <a:p>
                <a:pPr lvl="0"/>
                <a:endParaRPr lang="en-AU" sz="28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F4B0180-2C60-5D52-207C-ECC2477EA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311" y="1690688"/>
                <a:ext cx="7563190" cy="4979633"/>
              </a:xfrm>
              <a:prstGeom prst="rect">
                <a:avLst/>
              </a:prstGeom>
              <a:blipFill>
                <a:blip r:embed="rId5"/>
                <a:stretch>
                  <a:fillRect l="-839" t="-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87C48E7-12E1-17FC-5584-CB35B4B8D802}"/>
              </a:ext>
            </a:extLst>
          </p:cNvPr>
          <p:cNvSpPr txBox="1"/>
          <p:nvPr/>
        </p:nvSpPr>
        <p:spPr>
          <a:xfrm rot="16200000">
            <a:off x="166024" y="2469526"/>
            <a:ext cx="17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SIGNLE OR BINARIES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EBF0BF-DE6F-C394-0296-112A9A9FF624}"/>
              </a:ext>
            </a:extLst>
          </p:cNvPr>
          <p:cNvSpPr txBox="1"/>
          <p:nvPr/>
        </p:nvSpPr>
        <p:spPr>
          <a:xfrm rot="16200000">
            <a:off x="264674" y="3809469"/>
            <a:ext cx="1578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BINARIES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26FE7C-1412-11A8-B6AC-A8DAFDEB277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3311" r="56143" b="37083"/>
          <a:stretch>
            <a:fillRect/>
          </a:stretch>
        </p:blipFill>
        <p:spPr>
          <a:xfrm>
            <a:off x="1081228" y="2342387"/>
            <a:ext cx="1642986" cy="487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7BA793F-2AD6-E2AE-664F-C7FDFE82DD7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2886" b="87670"/>
          <a:stretch>
            <a:fillRect/>
          </a:stretch>
        </p:blipFill>
        <p:spPr>
          <a:xfrm>
            <a:off x="1081688" y="1602699"/>
            <a:ext cx="1015751" cy="6253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16DD2B-C491-5537-B257-4775E51C54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7784" r="65499" b="3285"/>
          <a:stretch>
            <a:fillRect/>
          </a:stretch>
        </p:blipFill>
        <p:spPr>
          <a:xfrm>
            <a:off x="1081228" y="4429255"/>
            <a:ext cx="1292463" cy="4529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D2F6168-B202-39B8-24CC-FD6FD7A942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9132" r="68933" b="17290"/>
          <a:stretch>
            <a:fillRect/>
          </a:stretch>
        </p:blipFill>
        <p:spPr>
          <a:xfrm>
            <a:off x="1081228" y="3683547"/>
            <a:ext cx="1163833" cy="688649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3E5FB03-4EDD-7362-49BF-C5DBB2992AFD}"/>
              </a:ext>
            </a:extLst>
          </p:cNvPr>
          <p:cNvSpPr/>
          <p:nvPr/>
        </p:nvSpPr>
        <p:spPr>
          <a:xfrm>
            <a:off x="1216851" y="1678079"/>
            <a:ext cx="1610749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46C9464-2E0A-8B3D-787F-7DA9FF0A1A38}"/>
              </a:ext>
            </a:extLst>
          </p:cNvPr>
          <p:cNvSpPr/>
          <p:nvPr/>
        </p:nvSpPr>
        <p:spPr>
          <a:xfrm>
            <a:off x="1216851" y="3673151"/>
            <a:ext cx="982031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AB9B66B-3312-06C5-ECEE-7C8D1814B5B0}"/>
              </a:ext>
            </a:extLst>
          </p:cNvPr>
          <p:cNvSpPr/>
          <p:nvPr/>
        </p:nvSpPr>
        <p:spPr>
          <a:xfrm>
            <a:off x="1216850" y="4309678"/>
            <a:ext cx="1292463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792CB39-9CE6-58DF-D9A3-08C0341AB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679" y="2941606"/>
            <a:ext cx="2027147" cy="675716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C9B4045-3DDF-CD2D-60C0-96B611A4964F}"/>
              </a:ext>
            </a:extLst>
          </p:cNvPr>
          <p:cNvSpPr/>
          <p:nvPr/>
        </p:nvSpPr>
        <p:spPr>
          <a:xfrm>
            <a:off x="1219768" y="3021697"/>
            <a:ext cx="1504446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598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89E75-C800-0C06-80A3-79CED03BA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B637-95A6-582A-D6F6-965F896B4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Astrophysical Sites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9138147-8138-FEA2-1B89-00CDF56DAAC1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6D2A643-BC68-CEE7-094A-FAF5BFC21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9F5E0B-A5AA-615D-C3D4-026A129C4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B6BEE01-969A-BC73-0FA3-3F113FB82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C4F96CD-300F-F21E-57C3-5DDACC099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4E6BB13-21EE-239A-02B5-883BA5537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3A82136-A8E6-36BC-8083-0170E101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23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165D6C-784B-AE21-4640-E1D59E933A0C}"/>
              </a:ext>
            </a:extLst>
          </p:cNvPr>
          <p:cNvSpPr txBox="1"/>
          <p:nvPr/>
        </p:nvSpPr>
        <p:spPr>
          <a:xfrm>
            <a:off x="3619311" y="1690688"/>
            <a:ext cx="756319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MAGNETO-ROTATIONAL SNE:</a:t>
            </a:r>
          </a:p>
          <a:p>
            <a:pPr lvl="0"/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lvl="0"/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0"/>
            <a:r>
              <a:rPr lang="en-AU" sz="1400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	</a:t>
            </a:r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REGIME:</a:t>
            </a:r>
            <a:r>
              <a:rPr lang="en-AU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Core collapse of a rapidly rotating, strongly magnetised massive star. 	Magnetic stresses can drive an early, fast, bipolar/jet-like explosion, augmenting or 	replacing neutrino heating as the dominant explosion mechanism.</a:t>
            </a:r>
          </a:p>
          <a:p>
            <a:pPr lvl="0"/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lvl="0"/>
            <a:r>
              <a:rPr lang="en-AU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	</a:t>
            </a:r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KEY PHYSICS: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Rapid magnetic ejection can remove neutron-rich material before 	neutrino irradiation substantially raises Ye, providing the high neutron to seed 	conditions needed for a strong r-process. Nucleosynthetic outcome depends strongly 	on the magnetic-field strength and configuration, rotation, and neutrino irradiation.</a:t>
            </a:r>
          </a:p>
          <a:p>
            <a:pPr lvl="0"/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lvl="0"/>
            <a:r>
              <a:rPr lang="en-AU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	</a:t>
            </a:r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SIGNATURE PRODUCTS:</a:t>
            </a:r>
            <a:r>
              <a:rPr lang="en-AU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AU" sz="14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Potentially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strong r-process production, reaching the 	3</a:t>
            </a:r>
            <a:r>
              <a:rPr lang="en-AU" sz="1400" baseline="300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rd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r-process peak in favourable models. Also produces the usual alpha and Fe-group 	material and can include proton-rich / </a:t>
            </a:r>
            <a:r>
              <a:rPr lang="en-AU" sz="14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vp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-process ejecta.</a:t>
            </a:r>
            <a:endParaRPr lang="en-AU" sz="14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lvl="0"/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lvl="0"/>
            <a:r>
              <a:rPr lang="en-AU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	</a:t>
            </a:r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SEE:</a:t>
            </a:r>
            <a:r>
              <a:rPr lang="en-AU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Reichert et al. (2021 &amp; 2023, MNRAS), Yong et al. (2021, Nature), Nishimura, 	</a:t>
            </a:r>
            <a:r>
              <a:rPr lang="en-AU" sz="14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Takiwaki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&amp; Thielemann (2015, </a:t>
            </a:r>
            <a:r>
              <a:rPr lang="en-AU" sz="14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Apj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)</a:t>
            </a:r>
            <a:endParaRPr lang="en-AU" sz="14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lvl="0"/>
            <a:endParaRPr lang="en-AU" sz="14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lvl="0"/>
            <a:endParaRPr lang="en-AU" sz="28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C93E9-C203-3D56-7700-CB91CA126FB6}"/>
              </a:ext>
            </a:extLst>
          </p:cNvPr>
          <p:cNvSpPr txBox="1"/>
          <p:nvPr/>
        </p:nvSpPr>
        <p:spPr>
          <a:xfrm rot="16200000">
            <a:off x="166024" y="2469526"/>
            <a:ext cx="17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SIGNLE OR BINARIES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A7B260-1D59-7C8F-6FD3-D94F23E083BE}"/>
              </a:ext>
            </a:extLst>
          </p:cNvPr>
          <p:cNvSpPr txBox="1"/>
          <p:nvPr/>
        </p:nvSpPr>
        <p:spPr>
          <a:xfrm rot="16200000">
            <a:off x="264674" y="3809469"/>
            <a:ext cx="1578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BINARIES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4E0709-F0DF-1E78-0648-B43C0CB30C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311" r="56143" b="37083"/>
          <a:stretch>
            <a:fillRect/>
          </a:stretch>
        </p:blipFill>
        <p:spPr>
          <a:xfrm>
            <a:off x="1081228" y="2342387"/>
            <a:ext cx="1642986" cy="487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484F6A-7B53-A1A8-664A-4A177C75C6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2886" b="87670"/>
          <a:stretch>
            <a:fillRect/>
          </a:stretch>
        </p:blipFill>
        <p:spPr>
          <a:xfrm>
            <a:off x="1081688" y="1602699"/>
            <a:ext cx="1015751" cy="6253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5A1F2A-FCCF-0538-676A-95A3437C69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7784" r="65499" b="3285"/>
          <a:stretch>
            <a:fillRect/>
          </a:stretch>
        </p:blipFill>
        <p:spPr>
          <a:xfrm>
            <a:off x="1081228" y="4429255"/>
            <a:ext cx="1292463" cy="4529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1034406-5EE4-B1B8-0027-097BA284EF2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132" r="68933" b="17290"/>
          <a:stretch>
            <a:fillRect/>
          </a:stretch>
        </p:blipFill>
        <p:spPr>
          <a:xfrm>
            <a:off x="1081228" y="3683547"/>
            <a:ext cx="1163833" cy="688649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380C95C-7762-C65A-6286-6B7B78EDE034}"/>
              </a:ext>
            </a:extLst>
          </p:cNvPr>
          <p:cNvSpPr/>
          <p:nvPr/>
        </p:nvSpPr>
        <p:spPr>
          <a:xfrm>
            <a:off x="1216851" y="1678079"/>
            <a:ext cx="1610749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387DE6C-7BE9-4B26-B9C2-3675B6D7531F}"/>
              </a:ext>
            </a:extLst>
          </p:cNvPr>
          <p:cNvSpPr/>
          <p:nvPr/>
        </p:nvSpPr>
        <p:spPr>
          <a:xfrm>
            <a:off x="1252500" y="2293986"/>
            <a:ext cx="2263424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DEDD673-32FB-E10E-6D39-B6139EF53B00}"/>
              </a:ext>
            </a:extLst>
          </p:cNvPr>
          <p:cNvSpPr/>
          <p:nvPr/>
        </p:nvSpPr>
        <p:spPr>
          <a:xfrm>
            <a:off x="1216851" y="3673151"/>
            <a:ext cx="982031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A7B57A8-5D63-BA2F-A4EA-2651FC32A6F8}"/>
              </a:ext>
            </a:extLst>
          </p:cNvPr>
          <p:cNvSpPr/>
          <p:nvPr/>
        </p:nvSpPr>
        <p:spPr>
          <a:xfrm>
            <a:off x="1216850" y="4309678"/>
            <a:ext cx="1292463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3996C56-2FC6-759E-5D79-777118B193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679" y="2941606"/>
            <a:ext cx="2027147" cy="67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75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0F74B-DB5D-D14D-8DAD-FC86EC263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AB2FF-AC32-E73B-9FD6-E7EF9E9DE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Astrophysical Sites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0607849-A260-E9F9-699E-EC97B269737D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BC03A8D-A012-79FA-1FD0-4D2044505A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13C6E58-6647-2DFC-F346-574CA40CB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7F46A52-9934-7B4F-C000-161EF32CB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BFE73D51-E211-DF5A-6216-656BEF4F7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99F0467-FFF4-A461-AE2E-EFA503387B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765DD77-6FC3-4E92-53BC-062C53F5D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24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AE9598-89FE-11EA-4ACA-BD821C92B17C}"/>
              </a:ext>
            </a:extLst>
          </p:cNvPr>
          <p:cNvSpPr txBox="1"/>
          <p:nvPr/>
        </p:nvSpPr>
        <p:spPr>
          <a:xfrm>
            <a:off x="3619311" y="1690688"/>
            <a:ext cx="7563190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PAIR INSTABILITY SNE:</a:t>
            </a:r>
          </a:p>
          <a:p>
            <a:pPr lvl="0"/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lvl="0"/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0"/>
            <a:r>
              <a:rPr lang="en-AU" sz="1400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	</a:t>
            </a:r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REGIME:</a:t>
            </a:r>
            <a:r>
              <a:rPr lang="en-AU" b="1" dirty="0">
                <a:solidFill>
                  <a:schemeClr val="bg1"/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 </a:t>
            </a:r>
            <a:r>
              <a:rPr lang="en-AU" sz="1400" b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Very massive stars with sufficiently massive He cores. At high 	temperatures, photo-photon pair production reduces radiation pressure, causing the 	core to contract and heat.</a:t>
            </a:r>
            <a:endParaRPr lang="en-AU" sz="14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0"/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lvl="0"/>
            <a:r>
              <a:rPr lang="en-AU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	</a:t>
            </a:r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KEY PHYSICS: </a:t>
            </a:r>
            <a:r>
              <a:rPr lang="en-AU" sz="1400" b="1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The pair instability triggers explosive O burning, releasing enough 	energy to completely disrupt the star rather than producing core collapse. The star is 	disrupted before the advanced burning and neutronization characteristic of ordinary 	massive-star evolution can substantially modify the composition, leaving a low neutron 	excess.</a:t>
            </a:r>
            <a:endParaRPr lang="en-AU" sz="14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lvl="0"/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lvl="0"/>
            <a:r>
              <a:rPr lang="en-AU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	</a:t>
            </a:r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SIGNATURE PRODUCTS:</a:t>
            </a:r>
            <a:r>
              <a:rPr lang="en-AU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Large yields of alpha and Fe-group elements, 	substantial Ni56. A pronounced odd-even abundance pattern arising from the low 	neutron excess.</a:t>
            </a:r>
            <a:endParaRPr lang="en-AU" sz="14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lvl="0"/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lvl="0"/>
            <a:r>
              <a:rPr lang="en-AU" sz="1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	</a:t>
            </a:r>
            <a:r>
              <a:rPr lang="en-AU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SEE:</a:t>
            </a:r>
            <a:r>
              <a:rPr lang="en-AU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Heger &amp; Woosley (2002 &amp; 2005), Kasen et al. (2011, ApJ), </a:t>
            </a:r>
            <a:r>
              <a:rPr lang="en-AU" sz="14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Nomoto, Kobayashi &amp; 	Tominaga (2013, ARAA)</a:t>
            </a:r>
          </a:p>
          <a:p>
            <a:pPr lvl="0"/>
            <a:endParaRPr lang="en-AU" sz="14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lvl="0"/>
            <a:endParaRPr lang="en-AU" sz="28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1C838A-F0A1-50BB-59B0-797DB8C4E37A}"/>
              </a:ext>
            </a:extLst>
          </p:cNvPr>
          <p:cNvSpPr txBox="1"/>
          <p:nvPr/>
        </p:nvSpPr>
        <p:spPr>
          <a:xfrm rot="16200000">
            <a:off x="166024" y="2469526"/>
            <a:ext cx="17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SIGNLE OR BINARIES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D37EC4-4970-05D1-5644-81C6B8C9333A}"/>
              </a:ext>
            </a:extLst>
          </p:cNvPr>
          <p:cNvSpPr txBox="1"/>
          <p:nvPr/>
        </p:nvSpPr>
        <p:spPr>
          <a:xfrm rot="16200000">
            <a:off x="264674" y="3809469"/>
            <a:ext cx="1578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BINARIES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4D01A7-F2D6-F39F-E847-EA9873615B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311" r="56143" b="37083"/>
          <a:stretch>
            <a:fillRect/>
          </a:stretch>
        </p:blipFill>
        <p:spPr>
          <a:xfrm>
            <a:off x="1081228" y="2342387"/>
            <a:ext cx="1642986" cy="487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07223C0-E0BC-07AC-2690-C5BF93957C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2886" b="87670"/>
          <a:stretch>
            <a:fillRect/>
          </a:stretch>
        </p:blipFill>
        <p:spPr>
          <a:xfrm>
            <a:off x="1081688" y="1602699"/>
            <a:ext cx="1015751" cy="6253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AA2D575-94B3-7013-5328-EE92D164640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7784" r="65499" b="3285"/>
          <a:stretch>
            <a:fillRect/>
          </a:stretch>
        </p:blipFill>
        <p:spPr>
          <a:xfrm>
            <a:off x="1081228" y="4429255"/>
            <a:ext cx="1292463" cy="4529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DDBABBA-AC87-5FC6-F488-ABDD7D323C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9132" r="68933" b="17290"/>
          <a:stretch>
            <a:fillRect/>
          </a:stretch>
        </p:blipFill>
        <p:spPr>
          <a:xfrm>
            <a:off x="1081228" y="3683547"/>
            <a:ext cx="1163833" cy="688649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B21F594-F40C-EA9E-2678-F83FE6DE826F}"/>
              </a:ext>
            </a:extLst>
          </p:cNvPr>
          <p:cNvSpPr/>
          <p:nvPr/>
        </p:nvSpPr>
        <p:spPr>
          <a:xfrm>
            <a:off x="1216851" y="1678079"/>
            <a:ext cx="1610749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02477C9-19A9-8096-8346-68DEAE40ADE0}"/>
              </a:ext>
            </a:extLst>
          </p:cNvPr>
          <p:cNvSpPr/>
          <p:nvPr/>
        </p:nvSpPr>
        <p:spPr>
          <a:xfrm>
            <a:off x="1252500" y="2293986"/>
            <a:ext cx="2263424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443462A-4FFD-E24C-98D6-B6D730490433}"/>
              </a:ext>
            </a:extLst>
          </p:cNvPr>
          <p:cNvSpPr/>
          <p:nvPr/>
        </p:nvSpPr>
        <p:spPr>
          <a:xfrm>
            <a:off x="1216851" y="3673151"/>
            <a:ext cx="982031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39791EA-D02A-A3A5-B511-0F9DC2A675FC}"/>
              </a:ext>
            </a:extLst>
          </p:cNvPr>
          <p:cNvSpPr/>
          <p:nvPr/>
        </p:nvSpPr>
        <p:spPr>
          <a:xfrm>
            <a:off x="1216850" y="4309678"/>
            <a:ext cx="1292463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3927415-FC92-04B3-EE1B-96BED4C5A4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5679" y="2941606"/>
            <a:ext cx="2027147" cy="67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0908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E433B-5BF7-FCF0-51A0-FA5A9963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29F0-7F50-AAB7-C747-DB48B9E3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Astrophysical Sites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422FD97-D31E-8EF3-E9F4-034FB5771857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F20D1B5-5FE9-308A-6214-0B9984A5B6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05AA3A0-75F2-7CD1-41B7-5D2930274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66EA4D8-036A-A303-93E8-76EB4AED9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EDCFD67-C6C8-7825-12AD-830967EDE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D7490E5-ACB7-F0B0-9750-FC0913158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6E9015E-5BD6-0DC8-F87D-0644EB626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806479-BA7F-CE63-5383-85A4DB96C5ED}"/>
                  </a:ext>
                </a:extLst>
              </p:cNvPr>
              <p:cNvSpPr txBox="1"/>
              <p:nvPr/>
            </p:nvSpPr>
            <p:spPr>
              <a:xfrm>
                <a:off x="3619311" y="1690688"/>
                <a:ext cx="7563190" cy="45179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REGIME: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Merger of two neutron stars, or a neutron star and black hole. Tidal and shock forces eject neutron-star matter during the merger, while neutrino irradiation and viscous evolution drive additional outflows from the post-merger remnant/accretion disc.</a:t>
                </a:r>
              </a:p>
              <a:p>
                <a:pPr lvl="0"/>
                <a:endParaRPr lang="en-AU" sz="5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BINARY MASS IMPACT: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Determines the merger dynamics and the amount and composition of ejecta. Unequal-mass systems can produce more tidal, highly neutron-rich ejecta, while the total mass and mass ratio influence whether a long-lived neutron-star remnant or prompt black hole forms, and hence the subsequent disc/wind outflows. </a:t>
                </a:r>
              </a:p>
              <a:p>
                <a:pPr lvl="0"/>
                <a:endParaRPr lang="en-AU" sz="7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METALLICITY IMPACT: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Metallicity instead affects the binary progenitor evolution, merger population and delay-time distribution, influencing when and where NSMs enrich galaxies. </a:t>
                </a:r>
              </a:p>
              <a:p>
                <a:pPr lvl="0"/>
                <a:endParaRPr lang="en-AU" sz="7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SIGNATURE PRODUCTS: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Robust heavy r-process production, including the second and third peaks and potentially actinides. Extremely neutron-rich dynamical ejecta favour the heavy r-process, while higher-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b="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b="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b="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sub>
                    </m:sSub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neutrino-irradiated and disc outflows can produce lighter r-process nuclei and fewer lanthanides.</a:t>
                </a:r>
              </a:p>
              <a:p>
                <a:pPr lvl="0"/>
                <a:endParaRPr lang="en-AU" sz="7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REVS: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 err="1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Wanajo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et al. (2014, ApJ), Thieleman et al. (2017, ARAA), Just et al. (2015, MNRAS), Metzger (2020, LRR).</a:t>
                </a:r>
                <a:endParaRPr lang="en-AU" sz="14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endParaRPr lang="en-AU" sz="28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F806479-BA7F-CE63-5383-85A4DB96C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311" y="1690688"/>
                <a:ext cx="7563190" cy="4517968"/>
              </a:xfrm>
              <a:prstGeom prst="rect">
                <a:avLst/>
              </a:prstGeom>
              <a:blipFill>
                <a:blip r:embed="rId5"/>
                <a:stretch>
                  <a:fillRect l="-839" t="-280" r="-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8D44EB20-FD7D-85BF-DB0E-4CF76DA06148}"/>
              </a:ext>
            </a:extLst>
          </p:cNvPr>
          <p:cNvSpPr txBox="1"/>
          <p:nvPr/>
        </p:nvSpPr>
        <p:spPr>
          <a:xfrm rot="16200000">
            <a:off x="166024" y="2469526"/>
            <a:ext cx="17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SIGNLE OR BINARIES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77200A-A8F8-CB77-3B2A-A885C02CFB8E}"/>
              </a:ext>
            </a:extLst>
          </p:cNvPr>
          <p:cNvSpPr txBox="1"/>
          <p:nvPr/>
        </p:nvSpPr>
        <p:spPr>
          <a:xfrm rot="16200000">
            <a:off x="264674" y="3809469"/>
            <a:ext cx="1578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BINARIES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6897E6-832F-9806-8BC2-5D1D739E78B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3311" r="56143" b="37083"/>
          <a:stretch>
            <a:fillRect/>
          </a:stretch>
        </p:blipFill>
        <p:spPr>
          <a:xfrm>
            <a:off x="1081228" y="2342387"/>
            <a:ext cx="1642986" cy="487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211C9F-BDF2-8FE1-4167-06BD723AFFC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2886" b="87670"/>
          <a:stretch>
            <a:fillRect/>
          </a:stretch>
        </p:blipFill>
        <p:spPr>
          <a:xfrm>
            <a:off x="1081688" y="1602699"/>
            <a:ext cx="1015751" cy="6253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4A8FC1-9EDD-6523-D1E2-2EFACC9862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7784" r="65499" b="3285"/>
          <a:stretch>
            <a:fillRect/>
          </a:stretch>
        </p:blipFill>
        <p:spPr>
          <a:xfrm>
            <a:off x="1081228" y="4429255"/>
            <a:ext cx="1292463" cy="4529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8F62651-486D-7234-2E3E-1423367DC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9132" r="68933" b="17290"/>
          <a:stretch>
            <a:fillRect/>
          </a:stretch>
        </p:blipFill>
        <p:spPr>
          <a:xfrm>
            <a:off x="1081228" y="3683547"/>
            <a:ext cx="1163833" cy="688649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BBC59564-D6F7-1D97-7B2E-BF6CA5280D5F}"/>
              </a:ext>
            </a:extLst>
          </p:cNvPr>
          <p:cNvSpPr/>
          <p:nvPr/>
        </p:nvSpPr>
        <p:spPr>
          <a:xfrm>
            <a:off x="1216851" y="1678079"/>
            <a:ext cx="1610749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6ADF570-8A9C-87B2-3E86-FCC752CF5488}"/>
              </a:ext>
            </a:extLst>
          </p:cNvPr>
          <p:cNvSpPr/>
          <p:nvPr/>
        </p:nvSpPr>
        <p:spPr>
          <a:xfrm>
            <a:off x="1252500" y="2293986"/>
            <a:ext cx="2263424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A5BA4C3-7007-F6DF-7ABD-39B1E6550FB5}"/>
              </a:ext>
            </a:extLst>
          </p:cNvPr>
          <p:cNvSpPr/>
          <p:nvPr/>
        </p:nvSpPr>
        <p:spPr>
          <a:xfrm>
            <a:off x="1216850" y="4309678"/>
            <a:ext cx="1292463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B98B34E-57CC-9ED9-0EA8-221CDE5945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679" y="2941606"/>
            <a:ext cx="2027147" cy="675716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E0BB748-F77D-B3F6-BCC2-EF5D05903AC9}"/>
              </a:ext>
            </a:extLst>
          </p:cNvPr>
          <p:cNvSpPr/>
          <p:nvPr/>
        </p:nvSpPr>
        <p:spPr>
          <a:xfrm>
            <a:off x="1219768" y="3021697"/>
            <a:ext cx="1504446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8616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C2088-9D42-49D4-91AC-7ECF63334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A74C9-27A1-8D4C-96AB-A6B3BFE9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Astrophysical Sites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48CC3FA-A6F4-B995-A859-5349F575B1D9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050A9B6-374B-ABC1-2699-054A95E00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35603FB-2E9F-E74C-0A52-231417AA3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47E94BC-8AE2-2B2E-0131-00D596724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A8B9187-0A21-8A3A-E8AE-4FD1D322F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E48D3A-2C90-B4CF-3275-859A1ED21E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CBF97E3-32B2-370A-9C32-109A27A5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26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67598A-5CDC-6A08-4F82-7C9C30A560B9}"/>
                  </a:ext>
                </a:extLst>
              </p:cNvPr>
              <p:cNvSpPr txBox="1"/>
              <p:nvPr/>
            </p:nvSpPr>
            <p:spPr>
              <a:xfrm>
                <a:off x="3619311" y="1690688"/>
                <a:ext cx="7563190" cy="54014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REGIME: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Thermonuclear disruption of a degenerate C/O white dwarf through near-Chandrasekhar or sub-Chandrasekhar channels. Burning propagates through the star via deflagration, detonation, or both.</a:t>
                </a:r>
              </a:p>
              <a:p>
                <a:pPr lvl="0"/>
                <a:endParaRPr lang="en-AU" sz="500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endParaRPr>
              </a:p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KEY PHYSICS: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1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lang="en-AU" sz="1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≳7</m:t>
                    </m:r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GK, C/O burning reaches NSE. Density sets the freeze-out regime: high-density burning produces neutron-rich stable Fe-group nuclei through electron captures; normal freeze-out favours </a:t>
                </a:r>
                <a14:m>
                  <m:oMath xmlns:m="http://schemas.openxmlformats.org/officeDocument/2006/math">
                    <m:r>
                      <a:rPr lang="en-AU" sz="1400" b="0" i="0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AU" sz="1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Ni</m:t>
                    </m:r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,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1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-rich freeze-out produces nuclei such as Zn. At </a:t>
                </a:r>
                <a14:m>
                  <m:oMath xmlns:m="http://schemas.openxmlformats.org/officeDocument/2006/math">
                    <m:r>
                      <a:rPr lang="en-AU" sz="1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4.5</m:t>
                    </m:r>
                    <m:r>
                      <m:rPr>
                        <m:nor/>
                      </m:rPr>
                      <a:rPr lang="en-AU" sz="1400" i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m:t> </m:t>
                    </m:r>
                    <m:r>
                      <a:rPr lang="en-AU" sz="1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AU" sz="1400" i="0">
                        <a:solidFill>
                          <a:schemeClr val="bg1"/>
                        </a:solidFill>
                        <a:latin typeface="Segoe UI Light" panose="020B0502040204020203" pitchFamily="34" charset="0"/>
                        <a:cs typeface="Segoe UI Light" panose="020B0502040204020203" pitchFamily="34" charset="0"/>
                      </a:rPr>
                      <m:t> </m:t>
                    </m:r>
                    <m:r>
                      <a:rPr lang="en-AU" sz="1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GK, incomplete burning produces Si–S–</a:t>
                </a:r>
                <a:r>
                  <a:rPr lang="en-AU" sz="1400" dirty="0" err="1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Ar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–Ca.</a:t>
                </a:r>
              </a:p>
              <a:p>
                <a:pPr lvl="0"/>
                <a:endParaRPr lang="en-AU" sz="5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WD MASS IMPACT: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More massive WDs reach higher densities and burn more completely to NSE; lower-mass WDs leave more unburnt intermediate-mass elements. Chandrasekhar-mass models produce more stable neutron-rich Fe-group material relative to </a:t>
                </a:r>
                <a14:m>
                  <m:oMath xmlns:m="http://schemas.openxmlformats.org/officeDocument/2006/math">
                    <m:r>
                      <a:rPr lang="en-AU" sz="1400" b="0" i="0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AU" sz="1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Ni</m:t>
                    </m:r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than sub-Chandrasekhar models; both channels appear necessary to span observed Fe-group ratios.</a:t>
                </a:r>
              </a:p>
              <a:p>
                <a:endParaRPr lang="en-AU" sz="500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METALLICITY IMPACT: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Acts through </a:t>
                </a:r>
                <a14:m>
                  <m:oMath xmlns:m="http://schemas.openxmlformats.org/officeDocument/2006/math">
                    <m:r>
                      <a:rPr lang="en-AU" sz="1400" b="0" i="0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AU" sz="1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Ne</m:t>
                    </m:r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, scaling the neutron excess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1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. Higher metallicity therefore favours more neutron-rich stable Fe-group isotopes and less </a:t>
                </a:r>
                <a14:m>
                  <m:oMath xmlns:m="http://schemas.openxmlformats.org/officeDocument/2006/math">
                    <m:r>
                      <a:rPr lang="en-AU" sz="1400" b="0" i="0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AU" sz="14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Ni</m:t>
                    </m:r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.</a:t>
                </a:r>
              </a:p>
              <a:p>
                <a:pPr lvl="0"/>
                <a:endParaRPr lang="en-AU" sz="5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SIGNATURE PRODUCTS:</a:t>
                </a:r>
                <a:r>
                  <a:rPr lang="en-AU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Dominant source of Fe-group elements, including</a:t>
                </a:r>
                <a14:m>
                  <m:oMath xmlns:m="http://schemas.openxmlformats.org/officeDocument/2006/math">
                    <m:r>
                      <a:rPr lang="en-AU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  <m:r>
                      <a:rPr lang="en-AU" sz="1400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56</m:t>
                    </m:r>
                    <m:r>
                      <m:rPr>
                        <m:sty m:val="p"/>
                      </m:rPr>
                      <a:rPr lang="en-AU" sz="1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Ni</m:t>
                    </m:r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, which powers the SN Ia light curve, and intermediate-mass elements (Si, S, </a:t>
                </a:r>
                <a:r>
                  <a:rPr lang="en-AU" sz="1400" dirty="0" err="1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Ar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, Ca). Balance between </a:t>
                </a:r>
                <a14:m>
                  <m:oMath xmlns:m="http://schemas.openxmlformats.org/officeDocument/2006/math">
                    <m:r>
                      <a:rPr lang="en-AU" sz="1400" b="0" i="1" baseline="300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56</m:t>
                    </m:r>
                    <m:r>
                      <m:rPr>
                        <m:sty m:val="p"/>
                      </m:rPr>
                      <a:rPr lang="en-AU" sz="1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Ni</m:t>
                    </m:r>
                    <m:r>
                      <a:rPr lang="en-AU" sz="1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Segoe UI Light" panose="020B0502040204020203" pitchFamily="34" charset="0"/>
                      </a:rPr>
                      <m:t> </m:t>
                    </m:r>
                  </m:oMath>
                </a14:m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and stable Fe-group isotopes constrains the explosion density, metallicity, and WD mass.</a:t>
                </a:r>
              </a:p>
              <a:p>
                <a:pPr lvl="0"/>
                <a:endParaRPr lang="en-AU" sz="7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r>
                  <a:rPr lang="en-AU" b="1" dirty="0">
                    <a:solidFill>
                      <a:schemeClr val="accent5">
                        <a:lumMod val="20000"/>
                        <a:lumOff val="80000"/>
                      </a:schemeClr>
                    </a:solidFill>
                    <a:latin typeface="Segoe UI Semibold" panose="020B0702040204020203" pitchFamily="34" charset="0"/>
                    <a:ea typeface="Cambria Math" panose="02040503050406030204" pitchFamily="18" charset="0"/>
                    <a:cs typeface="Segoe UI Semibold" panose="020B0702040204020203" pitchFamily="34" charset="0"/>
                  </a:rPr>
                  <a:t>REVS: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Ruiter &amp; </a:t>
                </a:r>
                <a:r>
                  <a:rPr lang="en-AU" sz="1400" dirty="0" err="1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Seitenzahl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 (2025, </a:t>
                </a:r>
                <a:r>
                  <a:rPr lang="en-AU" sz="1400" dirty="0" err="1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A&amp;ARv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ea typeface="Cambria Math" panose="02040503050406030204" pitchFamily="18" charset="0"/>
                    <a:cs typeface="Segoe UI Light" panose="020B0502040204020203" pitchFamily="34" charset="0"/>
                  </a:rPr>
                  <a:t>); 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Keegans et al. (2023, </a:t>
                </a:r>
                <a:r>
                  <a:rPr lang="en-AU" sz="1400" dirty="0" err="1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ApJS</a:t>
                </a:r>
                <a:r>
                  <a:rPr lang="en-AU" sz="1400" dirty="0">
                    <a:solidFill>
                      <a:schemeClr val="bg1"/>
                    </a:solidFill>
                    <a:latin typeface="Segoe UI Light" panose="020B0502040204020203" pitchFamily="34" charset="0"/>
                    <a:cs typeface="Segoe UI Light" panose="020B0502040204020203" pitchFamily="34" charset="0"/>
                  </a:rPr>
                  <a:t> 268, 8); Sim et al. (2011, IAU Symp. 281); Bulla et al. (2016, MNRAS)</a:t>
                </a:r>
                <a:endParaRPr lang="en-AU" sz="14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endParaRPr lang="en-AU" sz="14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  <a:p>
                <a:pPr lvl="0"/>
                <a:endParaRPr lang="en-AU" sz="2800" dirty="0">
                  <a:solidFill>
                    <a:schemeClr val="bg1"/>
                  </a:solidFill>
                  <a:latin typeface="Segoe UI Light" panose="020B0502040204020203" pitchFamily="34" charset="0"/>
                  <a:ea typeface="Cambria Math" panose="02040503050406030204" pitchFamily="18" charset="0"/>
                  <a:cs typeface="Segoe UI Light" panose="020B0502040204020203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67598A-5CDC-6A08-4F82-7C9C30A56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311" y="1690688"/>
                <a:ext cx="7563190" cy="5401479"/>
              </a:xfrm>
              <a:prstGeom prst="rect">
                <a:avLst/>
              </a:prstGeom>
              <a:blipFill>
                <a:blip r:embed="rId5"/>
                <a:stretch>
                  <a:fillRect l="-839" t="-234" r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D53D8FC-E932-4629-6668-1C75DC055B42}"/>
              </a:ext>
            </a:extLst>
          </p:cNvPr>
          <p:cNvSpPr txBox="1"/>
          <p:nvPr/>
        </p:nvSpPr>
        <p:spPr>
          <a:xfrm rot="16200000">
            <a:off x="166024" y="2469526"/>
            <a:ext cx="17757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SIGNLE OR BINARIES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CF2095-2241-D50C-2B72-3242C4C09DF9}"/>
              </a:ext>
            </a:extLst>
          </p:cNvPr>
          <p:cNvSpPr txBox="1"/>
          <p:nvPr/>
        </p:nvSpPr>
        <p:spPr>
          <a:xfrm rot="16200000">
            <a:off x="264674" y="3809469"/>
            <a:ext cx="1578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BINARIES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093291D-42FE-A3E8-7B87-38456079BC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3311" r="56143" b="37083"/>
          <a:stretch>
            <a:fillRect/>
          </a:stretch>
        </p:blipFill>
        <p:spPr>
          <a:xfrm>
            <a:off x="1081228" y="2342387"/>
            <a:ext cx="1642986" cy="4872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6C5E5B-661E-82A1-EFC8-62BA94902F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72886" b="87670"/>
          <a:stretch>
            <a:fillRect/>
          </a:stretch>
        </p:blipFill>
        <p:spPr>
          <a:xfrm>
            <a:off x="1081688" y="1602699"/>
            <a:ext cx="1015751" cy="6253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E744F40-D37E-0EEB-7F26-F129E6A0B2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7784" r="65499" b="3285"/>
          <a:stretch>
            <a:fillRect/>
          </a:stretch>
        </p:blipFill>
        <p:spPr>
          <a:xfrm>
            <a:off x="1081228" y="4429255"/>
            <a:ext cx="1292463" cy="45298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546564B-CF9F-D0AD-7BDC-92B463DA2A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9132" r="68933" b="17290"/>
          <a:stretch>
            <a:fillRect/>
          </a:stretch>
        </p:blipFill>
        <p:spPr>
          <a:xfrm>
            <a:off x="1081228" y="3683547"/>
            <a:ext cx="1163833" cy="688649"/>
          </a:xfrm>
          <a:prstGeom prst="rect">
            <a:avLst/>
          </a:prstGeom>
        </p:spPr>
      </p:pic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CA87A1D-22FF-0BDA-FD0C-422B45EA6E55}"/>
              </a:ext>
            </a:extLst>
          </p:cNvPr>
          <p:cNvSpPr/>
          <p:nvPr/>
        </p:nvSpPr>
        <p:spPr>
          <a:xfrm>
            <a:off x="1216851" y="1678079"/>
            <a:ext cx="1610749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5CBD2AB-1430-EB85-F9CF-90BC0659829B}"/>
              </a:ext>
            </a:extLst>
          </p:cNvPr>
          <p:cNvSpPr/>
          <p:nvPr/>
        </p:nvSpPr>
        <p:spPr>
          <a:xfrm>
            <a:off x="1252500" y="2293986"/>
            <a:ext cx="2263424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3465EE2-1E5D-5F8C-229B-D8BECF3974E8}"/>
              </a:ext>
            </a:extLst>
          </p:cNvPr>
          <p:cNvSpPr/>
          <p:nvPr/>
        </p:nvSpPr>
        <p:spPr>
          <a:xfrm>
            <a:off x="1216850" y="3684640"/>
            <a:ext cx="1292463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23332E6-9737-7FE6-80DC-2E055F1503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5679" y="2941606"/>
            <a:ext cx="2027147" cy="675716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87EFCF1-E77F-09D7-35D8-30D3274AFD2F}"/>
              </a:ext>
            </a:extLst>
          </p:cNvPr>
          <p:cNvSpPr/>
          <p:nvPr/>
        </p:nvSpPr>
        <p:spPr>
          <a:xfrm>
            <a:off x="1219768" y="3021697"/>
            <a:ext cx="1504446" cy="604791"/>
          </a:xfrm>
          <a:prstGeom prst="roundRect">
            <a:avLst>
              <a:gd name="adj" fmla="val 23490"/>
            </a:avLst>
          </a:prstGeom>
          <a:solidFill>
            <a:srgbClr val="05002E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1836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98F06-26CE-6C5D-CE73-C3934D1F5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857178F-FD71-09CB-0CEB-ED23547F53D4}"/>
              </a:ext>
            </a:extLst>
          </p:cNvPr>
          <p:cNvSpPr/>
          <p:nvPr/>
        </p:nvSpPr>
        <p:spPr>
          <a:xfrm>
            <a:off x="-449180" y="4694526"/>
            <a:ext cx="12994105" cy="1105988"/>
          </a:xfrm>
          <a:prstGeom prst="roundRect">
            <a:avLst>
              <a:gd name="adj" fmla="val 23490"/>
            </a:avLst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A5EE6-54A9-C5F0-ED21-FC4B21104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Takeaways</a:t>
            </a:r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0EE18-8950-3003-D4E3-5F86F83FB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937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NUCLEOSYNTHESIS IS A PHYSICAL PROBLEM:</a:t>
            </a:r>
            <a:r>
              <a:rPr lang="en-AU" sz="2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The elements are set by the interplay of temperature, density, composition, reaction rates, and timescale — determining which reactions can compete and whether material reaches equilibrium.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MASS &amp; METALLICITY MATTER– BUT NOT IN THE SAME WAY EVERYWHERE: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Stellar mass and metallicity shape stellar structure, burning conditions, and evolutionary timescales. Metallicity also sets the initial composition, neutron excess and abundance of seed nuclei. </a:t>
            </a:r>
            <a:endParaRPr lang="en-AU" sz="16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endParaRPr lang="en-AU" sz="500" b="1" dirty="0">
              <a:solidFill>
                <a:schemeClr val="accent5">
                  <a:lumMod val="20000"/>
                  <a:lumOff val="80000"/>
                </a:schemeClr>
              </a:solidFill>
              <a:latin typeface="Segoe UI Semibold" panose="020B0702040204020203" pitchFamily="34" charset="0"/>
              <a:ea typeface="Cambria Math" panose="02040503050406030204" pitchFamily="18" charset="0"/>
              <a:cs typeface="Segoe UI Semibold" panose="020B07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 HEAVIEST ELEMENTS REQUIRE EXTREME CONSITIONS</a:t>
            </a:r>
            <a:r>
              <a:rPr lang="en-AU" sz="2000" dirty="0">
                <a:solidFill>
                  <a:schemeClr val="bg1"/>
                </a:solidFill>
                <a:latin typeface="Segoe UI Light" panose="020B0502040204020203" pitchFamily="34" charset="0"/>
                <a:ea typeface="Cambria Math" panose="02040503050406030204" pitchFamily="18" charset="0"/>
                <a:cs typeface="Segoe UI Light" panose="020B0502040204020203" pitchFamily="34" charset="0"/>
              </a:rPr>
              <a:t>: </a:t>
            </a:r>
            <a:r>
              <a:rPr lang="en-AU" sz="16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Beyond Fe, neutron captures dominate: s-process → sustained neutron exposure; r-process → extreme neutron densities and rapid neutron captures; p-processes → proton-rich or photodisintegration environments.</a:t>
            </a:r>
          </a:p>
          <a:p>
            <a:pPr marL="0" indent="0">
              <a:buNone/>
            </a:pPr>
            <a:endParaRPr lang="en-AU" sz="500" dirty="0">
              <a:solidFill>
                <a:schemeClr val="bg1"/>
              </a:solidFill>
              <a:latin typeface="Segoe UI Light" panose="020B0502040204020203" pitchFamily="34" charset="0"/>
              <a:ea typeface="Cambria Math" panose="02040503050406030204" pitchFamily="18" charset="0"/>
              <a:cs typeface="Segoe UI Light" panose="020B0502040204020203" pitchFamily="34" charset="0"/>
            </a:endParaRPr>
          </a:p>
          <a:p>
            <a:pPr marL="0" indent="0">
              <a:buNone/>
            </a:pPr>
            <a:r>
              <a:rPr lang="en-AU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Segoe UI Semibold" panose="020B0702040204020203" pitchFamily="34" charset="0"/>
                <a:ea typeface="Cambria Math" panose="02040503050406030204" pitchFamily="18" charset="0"/>
                <a:cs typeface="Segoe UI Semibold" panose="020B0702040204020203" pitchFamily="34" charset="0"/>
              </a:rPr>
              <a:t>THE ABUNDANCE OF AN ELEMENT IS THE SUM OF ITS ASTROPHYSICAL ORIGINS: </a:t>
            </a:r>
            <a:r>
              <a:rPr lang="en-AU" sz="1600" i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No single site produces the periodic table. Different sites contribute different isotopes, in different proportions, under different physical conditions. </a:t>
            </a:r>
          </a:p>
          <a:p>
            <a:endParaRPr lang="en-US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6D347BB-909F-E973-1125-6F9FA896E2FD}"/>
              </a:ext>
            </a:extLst>
          </p:cNvPr>
          <p:cNvGrpSpPr/>
          <p:nvPr/>
        </p:nvGrpSpPr>
        <p:grpSpPr>
          <a:xfrm>
            <a:off x="-14719" y="5122169"/>
            <a:ext cx="12269518" cy="2269554"/>
            <a:chOff x="-14719" y="5122169"/>
            <a:chExt cx="12269518" cy="226955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FC3060D-382C-86AB-049E-414B9E1E2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2742" r="22372" b="26588"/>
            <a:stretch>
              <a:fillRect/>
            </a:stretch>
          </p:blipFill>
          <p:spPr>
            <a:xfrm>
              <a:off x="-14719" y="5946646"/>
              <a:ext cx="5411667" cy="94508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1D1763D-AF17-C8BA-0D61-370F411A5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21565" b="26588"/>
            <a:stretch>
              <a:fillRect/>
            </a:stretch>
          </p:blipFill>
          <p:spPr>
            <a:xfrm>
              <a:off x="5389032" y="5947386"/>
              <a:ext cx="2146853" cy="94508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B031FAC-6444-F9C8-1E0A-EE25691C63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91" t="32742" b="26588"/>
            <a:stretch>
              <a:fillRect/>
            </a:stretch>
          </p:blipFill>
          <p:spPr>
            <a:xfrm>
              <a:off x="7535885" y="5946646"/>
              <a:ext cx="3646616" cy="945081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894699A-8A72-84F1-D219-3C34011FB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7640" t="32742" r="43900" b="26588"/>
            <a:stretch>
              <a:fillRect/>
            </a:stretch>
          </p:blipFill>
          <p:spPr>
            <a:xfrm>
              <a:off x="11665006" y="5948222"/>
              <a:ext cx="589793" cy="945081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22C70EF-37C6-A3D7-A95B-F2291325B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92997" r="1120" b="7843"/>
            <a:stretch>
              <a:fillRect/>
            </a:stretch>
          </p:blipFill>
          <p:spPr>
            <a:xfrm>
              <a:off x="11077704" y="5122169"/>
              <a:ext cx="434596" cy="2269554"/>
            </a:xfrm>
            <a:prstGeom prst="rect">
              <a:avLst/>
            </a:prstGeom>
          </p:spPr>
        </p:pic>
      </p:grp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D1BEFD57-F145-A6AE-FF2D-6799ABC6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1364" y="6226843"/>
            <a:ext cx="2743200" cy="365125"/>
          </a:xfrm>
        </p:spPr>
        <p:txBody>
          <a:bodyPr/>
          <a:lstStyle/>
          <a:p>
            <a:fld id="{15E41D50-DB5E-904E-A7FD-3EC089C41B23}" type="slidenum">
              <a:rPr lang="en-US" sz="700" smtClean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27</a:t>
            </a:fld>
            <a:endParaRPr lang="en-US" sz="700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363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9870</TotalTime>
  <Words>2206</Words>
  <Application>Microsoft Macintosh PowerPoint</Application>
  <PresentationFormat>Widescreen</PresentationFormat>
  <Paragraphs>235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Segoe UI</vt:lpstr>
      <vt:lpstr>Segoe UI Light</vt:lpstr>
      <vt:lpstr>Segoe UI Semibold</vt:lpstr>
      <vt:lpstr>Office Theme</vt:lpstr>
      <vt:lpstr>PowerPoint Presentation</vt:lpstr>
      <vt:lpstr>A Brief History of Nucleosynthesis</vt:lpstr>
      <vt:lpstr>A Brief History of Nucleosynthesis</vt:lpstr>
      <vt:lpstr>A Brief History of Nucleosynthesis</vt:lpstr>
      <vt:lpstr>A Brief History of Nucleosynthesis</vt:lpstr>
      <vt:lpstr>A Brief History of Nucleosynthesis</vt:lpstr>
      <vt:lpstr>A Brief History of Nucleosynthesis</vt:lpstr>
      <vt:lpstr>Hydrogen burning</vt:lpstr>
      <vt:lpstr>Hydrogen burning</vt:lpstr>
      <vt:lpstr>Hydrogen burning</vt:lpstr>
      <vt:lpstr>Hydrogen burning</vt:lpstr>
      <vt:lpstr>He, C and O burning</vt:lpstr>
      <vt:lpstr>He, C and O burning</vt:lpstr>
      <vt:lpstr>Ne &amp; Si burning</vt:lpstr>
      <vt:lpstr>Explosive burning</vt:lpstr>
      <vt:lpstr>Elements &gt; Fe</vt:lpstr>
      <vt:lpstr>Elements &gt; Fe</vt:lpstr>
      <vt:lpstr>Elements &gt; Fe</vt:lpstr>
      <vt:lpstr>Elements &gt; Fe</vt:lpstr>
      <vt:lpstr>Elements &gt; Fe</vt:lpstr>
      <vt:lpstr>Astrophysical Sites</vt:lpstr>
      <vt:lpstr>Astrophysical Sites</vt:lpstr>
      <vt:lpstr>Astrophysical Sites</vt:lpstr>
      <vt:lpstr>Astrophysical Sites</vt:lpstr>
      <vt:lpstr>Astrophysical Sites</vt:lpstr>
      <vt:lpstr>Astrophysical Sites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 Catherine Cinquegrana</dc:creator>
  <cp:lastModifiedBy>Giulia Catherine Cinquegrana</cp:lastModifiedBy>
  <cp:revision>13</cp:revision>
  <dcterms:created xsi:type="dcterms:W3CDTF">2026-09-06T06:08:37Z</dcterms:created>
  <dcterms:modified xsi:type="dcterms:W3CDTF">2026-09-13T11:25:51Z</dcterms:modified>
</cp:coreProperties>
</file>