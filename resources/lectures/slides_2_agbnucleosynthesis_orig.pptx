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68" r:id="rId2"/>
    <p:sldId id="272" r:id="rId3"/>
    <p:sldId id="258" r:id="rId4"/>
    <p:sldId id="281" r:id="rId5"/>
    <p:sldId id="259" r:id="rId6"/>
    <p:sldId id="293" r:id="rId7"/>
    <p:sldId id="294" r:id="rId8"/>
    <p:sldId id="283" r:id="rId9"/>
    <p:sldId id="284" r:id="rId10"/>
    <p:sldId id="288" r:id="rId11"/>
    <p:sldId id="303" r:id="rId12"/>
    <p:sldId id="302" r:id="rId13"/>
    <p:sldId id="304" r:id="rId14"/>
    <p:sldId id="305" r:id="rId15"/>
    <p:sldId id="287" r:id="rId16"/>
    <p:sldId id="285" r:id="rId17"/>
    <p:sldId id="289" r:id="rId18"/>
    <p:sldId id="286" r:id="rId19"/>
    <p:sldId id="271" r:id="rId20"/>
    <p:sldId id="276" r:id="rId21"/>
    <p:sldId id="299" r:id="rId22"/>
    <p:sldId id="306" r:id="rId23"/>
    <p:sldId id="291" r:id="rId24"/>
    <p:sldId id="278" r:id="rId25"/>
    <p:sldId id="300" r:id="rId26"/>
    <p:sldId id="274" r:id="rId27"/>
    <p:sldId id="292" r:id="rId28"/>
    <p:sldId id="27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0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92"/>
    <p:restoredTop sz="94185"/>
  </p:normalViewPr>
  <p:slideViewPr>
    <p:cSldViewPr snapToGrid="0">
      <p:cViewPr>
        <p:scale>
          <a:sx n="112" d="100"/>
          <a:sy n="112" d="100"/>
        </p:scale>
        <p:origin x="160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BF034E-DFFA-9346-B293-C09CB9306A06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F971B-32BA-B04D-8265-BFACDAC09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20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4231-4CE1-B3D5-DA49-C08026880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1AE36E-83C4-4795-950C-175441457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1E498-1646-871C-63F9-0A357E7F0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44671-5093-6410-FE12-323DBB6961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F7F73-0DCF-8B4E-ADFE-DF62D93ADA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725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F7F73-0DCF-8B4E-ADFE-DF62D93ADA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776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C36A6-E79C-0E32-4DE2-E201E7671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A0F17F-F24B-C5C5-47E7-E14A2FE77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ACB3DC-FEEB-B93A-48FA-6869AF132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AC076-C05D-8496-07D0-6B7B6F1CF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F7F73-0DCF-8B4E-ADFE-DF62D93ADA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861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971B-32BA-B04D-8265-BFACDAC09A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903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971B-32BA-B04D-8265-BFACDAC09A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44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71A10-B885-1649-36F1-A8F4F8E14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7B078C-1F93-3521-668C-43EE364EB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2FE2A-E060-0C8A-826E-D7A8EDC14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63A26-7289-2B30-BE5A-39D1C2AFBF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971B-32BA-B04D-8265-BFACDAC09A0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26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B99DC-78F1-6A50-C87D-B96E862D3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7A4620-293A-E367-816C-DEFB7E1C4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B2136B-A721-8C49-DBBD-52611C56A6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DEA44-6620-08F6-4850-6E6435991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971B-32BA-B04D-8265-BFACDAC09A0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627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4FC64-EBCE-547C-FF55-4F0E384D0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B22C5-0BA8-C5E3-7F97-F09F18928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C3BB87-B3C6-6437-2D48-81384B7FD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1AAFD-1D19-7499-09CF-780E6B33A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971B-32BA-B04D-8265-BFACDAC09A0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79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886ED-A84B-A831-A848-F1AEF76F7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934D3-959B-A970-659F-510129F19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9FB02C-093D-412B-920D-DD40954C9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E3C2A-5CF0-B83C-172C-DBCF3E5CE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971B-32BA-B04D-8265-BFACDAC09A0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328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971B-32BA-B04D-8265-BFACDAC09A0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054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971B-32BA-B04D-8265-BFACDAC09A0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17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01CA9-189B-74B8-6C56-82B9801CB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42F8C-E928-9824-92C2-A6E5BCF884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2FDDE-24CD-06CB-2202-AB24B2D09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02A9-E687-AA4E-8F06-750DAEEAD5F7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9C595-74DF-BE28-865F-E1A75A96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2EE51-B53E-1490-8F17-A049AB52E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8D12-6574-5549-AF5E-E9E59541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26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E0F85-678A-9A1D-D341-A9F0D5FE9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5B133-7667-6A0E-A31D-E98A705AC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F5EA9-3B23-8460-67CF-F53EF4430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02A9-E687-AA4E-8F06-750DAEEAD5F7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27F01-1C0E-E68B-296C-1A04A75EF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49CBD-EB8C-D7C1-3756-399A184E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8D12-6574-5549-AF5E-E9E59541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84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12C04-95F0-8370-51E2-3962A1B7E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0AAD9-FDF1-8939-360F-37B7B9CF0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B130A-AB00-3274-4B6C-2D42EC9D5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02A9-E687-AA4E-8F06-750DAEEAD5F7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9B476-BDBB-AE26-3C8A-E82363F9A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B37BA-744D-E0A6-4FE7-FE7446318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8D12-6574-5549-AF5E-E9E59541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976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BB18-4524-A595-4821-B4089D4E2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C1D71-3E6E-888B-9BC1-C4363392DE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C257B-B0C1-E28B-AB77-279E7C709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53CDAE-4BEA-D6E0-B083-B20CD324A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02A9-E687-AA4E-8F06-750DAEEAD5F7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F8EA2-D0F0-02C5-A917-6E007BE2F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8965A2-A739-28B5-1581-9774D37BE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8D12-6574-5549-AF5E-E9E59541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89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15C1A-CBA0-59A3-0D11-2986BB88A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18C4E-0B82-E46A-416B-40659D540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FE12E-6C5F-A25B-CCEF-47FA769FD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F2DFE1-3610-A9B4-E070-D041495948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32662-471E-8F9F-53F7-EF6EC3D219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ED38A8-D06E-37FD-74A2-617C8DDEC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02A9-E687-AA4E-8F06-750DAEEAD5F7}" type="datetimeFigureOut">
              <a:rPr lang="en-US" smtClean="0"/>
              <a:t>9/6/26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1D78E7-0DB3-CAD6-4BCF-9B61EE86C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927352-3979-4B14-7951-BFF0B9D4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8D12-6574-5549-AF5E-E9E59541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17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F086-F317-09D8-1DD3-90DD809C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43844-32A0-DE63-B32F-5A06BAE5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02A9-E687-AA4E-8F06-750DAEEAD5F7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2CA35-BA1E-4226-0E83-AC7218C1E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8B9C40-617E-EFE1-74BF-0E8B31E18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8D12-6574-5549-AF5E-E9E59541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71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12D37B-B06A-4581-2C99-232B36AFF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02A9-E687-AA4E-8F06-750DAEEAD5F7}" type="datetimeFigureOut">
              <a:rPr lang="en-US" smtClean="0"/>
              <a:t>9/6/26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4E925F-19EF-2634-C924-BCFA0DEAD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82372-9CCA-76AA-B921-73A4C56F9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8D12-6574-5549-AF5E-E9E59541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366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BCC5C-B414-DF0C-C34D-A1BAF84FC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FD783-793E-EC36-101C-D287877E5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196312-7C12-4F24-C9AE-B73B7CCCA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F40C7-A8A4-2F5F-C19D-847023A64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02A9-E687-AA4E-8F06-750DAEEAD5F7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2E3CB-7F78-101F-34F3-B04B8FE07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CD119-92D3-1195-6111-F0E0213B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8D12-6574-5549-AF5E-E9E59541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76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16EA-D6A3-E1CD-3BC5-89E2F6168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5500A-4B4F-4156-D4FE-CB7715B425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BF262-7F7D-D5C2-0B7F-EF49C9AF6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7649F-0951-B107-E132-9F2027ADF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02A9-E687-AA4E-8F06-750DAEEAD5F7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F9B108-CE98-342A-D3EA-56DF49F6E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95E82D-410B-F128-9AFB-37B1CCDA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8D12-6574-5549-AF5E-E9E59541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99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CEF94-6053-C4DE-DBAF-648476E95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1D78B7-FF75-8331-750A-0B9AAB94D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FFB3A-48F3-AF3C-B4EA-D69337FA0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02A9-E687-AA4E-8F06-750DAEEAD5F7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7AF62-F817-9202-2F3B-CE49383A9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F45FD-BEC9-B403-4EC4-84BE9547B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8D12-6574-5549-AF5E-E9E59541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15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08F25-1E2C-A9EE-8D73-4990A6B89A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287F6-910C-0463-0D17-A00987C2C5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2D3CF-7FA9-D0F0-CB23-27F5856AE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02A9-E687-AA4E-8F06-750DAEEAD5F7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8371D-7C72-E401-6706-E0D0C030E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2D73D-3782-EE8D-9AC5-31678680D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38D12-6574-5549-AF5E-E9E59541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527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EB9934-9BF9-4B9E-120B-D551AB58A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A042D-FD10-D7F8-21E7-A1F517992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3E4B0-B310-F98D-DE00-6FB74576A1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0802A9-E687-AA4E-8F06-750DAEEAD5F7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B7BEF-110A-3973-0530-2379A24175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9B439-E390-8709-EE9C-47064AAAE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38D12-6574-5549-AF5E-E9E59541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88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4C559-1ADC-67C0-1E91-72A56FBFF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B17A9EC-F96B-DAF0-0722-F016511306F9}"/>
              </a:ext>
            </a:extLst>
          </p:cNvPr>
          <p:cNvSpPr txBox="1">
            <a:spLocks/>
          </p:cNvSpPr>
          <p:nvPr/>
        </p:nvSpPr>
        <p:spPr>
          <a:xfrm>
            <a:off x="8496276" y="3169948"/>
            <a:ext cx="2446778" cy="2550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50" b="1" dirty="0">
                <a:solidFill>
                  <a:srgbClr val="FFD5FB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Asymptotic Giant Branch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5AF308-08E4-D134-A5EC-076C93E365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112" t="22855" r="39435" b="18370"/>
          <a:stretch>
            <a:fillRect/>
          </a:stretch>
        </p:blipFill>
        <p:spPr>
          <a:xfrm>
            <a:off x="5516366" y="1122363"/>
            <a:ext cx="1129831" cy="1232236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A227AD6D-C8C8-A9D0-35F6-AF4FA4744A77}"/>
              </a:ext>
            </a:extLst>
          </p:cNvPr>
          <p:cNvSpPr txBox="1">
            <a:spLocks/>
          </p:cNvSpPr>
          <p:nvPr/>
        </p:nvSpPr>
        <p:spPr>
          <a:xfrm>
            <a:off x="1524000" y="429088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Dr Giulia Cinquegrana</a:t>
            </a:r>
          </a:p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Swinburne University of Technology, Melbourne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AE818C-5FBF-7903-30A7-2DB1A3FB9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217" y="5115471"/>
            <a:ext cx="4473903" cy="64028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AEC9579-FB7E-1260-1CA4-078EA262B320}"/>
              </a:ext>
            </a:extLst>
          </p:cNvPr>
          <p:cNvSpPr txBox="1">
            <a:spLocks/>
          </p:cNvSpPr>
          <p:nvPr/>
        </p:nvSpPr>
        <p:spPr>
          <a:xfrm>
            <a:off x="-29435" y="1457429"/>
            <a:ext cx="12221435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dirty="0">
                <a:solidFill>
                  <a:srgbClr val="FFD5FB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III. NUCLEI ON THE AGB:</a:t>
            </a:r>
          </a:p>
          <a:p>
            <a:endParaRPr lang="en-US" sz="500" b="1" dirty="0">
              <a:solidFill>
                <a:srgbClr val="FFD5FB"/>
              </a:solidFill>
              <a:latin typeface="Segoe UI Semibold" panose="020B0702040204020203" pitchFamily="34" charset="0"/>
              <a:ea typeface="Cambria Math" panose="02040503050406030204" pitchFamily="18" charset="0"/>
              <a:cs typeface="Segoe UI Semibold" panose="020B0702040204020203" pitchFamily="34" charset="0"/>
            </a:endParaRPr>
          </a:p>
          <a:p>
            <a:r>
              <a:rPr lang="en-US" sz="2600" b="1" dirty="0">
                <a:solidFill>
                  <a:srgbClr val="FFD5FB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From light element nucleosynthesis to the </a:t>
            </a:r>
            <a:r>
              <a:rPr lang="en-US" sz="2600" b="1" i="1" dirty="0">
                <a:solidFill>
                  <a:srgbClr val="FFD5FB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s</a:t>
            </a:r>
            <a:r>
              <a:rPr lang="en-US" sz="2600" b="1" dirty="0">
                <a:solidFill>
                  <a:srgbClr val="FFD5FB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- and </a:t>
            </a:r>
            <a:r>
              <a:rPr lang="en-US" sz="2600" b="1" i="1" dirty="0" err="1">
                <a:solidFill>
                  <a:srgbClr val="FFD5FB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sz="2600" b="1" dirty="0">
                <a:solidFill>
                  <a:srgbClr val="FFD5FB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-processes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5F610C8-AEDB-8C38-38ED-13FCA51C6976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762BE89-796B-4B9F-C7FD-71F22F0495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9A6E7D0-9BF3-09FE-EB32-00F78962D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2BA2441-8150-309B-7275-23F593D66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0CCAFA4-42BC-A44F-9C53-28C3139707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59A4D88-30A8-EEDF-64A9-549EFC6FC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18CFB-0316-5BF1-9449-83FC294D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623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240CF-06BA-CB5C-0A06-54CBA732C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AC3A7-D7BA-EB13-DADA-3B7147D87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AGB Stars Matter For Chemical Evolution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5357121-2FD8-C562-DB92-12B3D7F7BC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79681" y="1774525"/>
            <a:ext cx="4581060" cy="25768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8E113E4-86CE-CFAA-C890-D8B88685C7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122" b="24809"/>
          <a:stretch>
            <a:fillRect/>
          </a:stretch>
        </p:blipFill>
        <p:spPr>
          <a:xfrm>
            <a:off x="641792" y="4158152"/>
            <a:ext cx="4818949" cy="173670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D88E838-3CBF-AB78-9313-57D170AD2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29697" y="4376111"/>
            <a:ext cx="598250" cy="125200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F289DC1-C4C7-136D-4E0F-F0D407304E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29697" y="3880404"/>
            <a:ext cx="598250" cy="125200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BBCF0A1-D681-8A4B-FC01-533CD7C8AB04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EB045EA-8D98-D419-1092-3533CCE2C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9778EEA-8C85-C785-2E34-1F6757B647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659383F-A771-B810-79CB-C3E33CAC3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FF7A5E0-C61D-0EA1-73BF-4A466986A3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A2DA802-8E5A-CEE6-F20A-14FD58800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E2CAFADE-F1B5-96D7-B08F-0B3617D63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2EE189D9-F45E-A492-49D8-95622C08A9F9}"/>
              </a:ext>
            </a:extLst>
          </p:cNvPr>
          <p:cNvSpPr txBox="1">
            <a:spLocks/>
          </p:cNvSpPr>
          <p:nvPr/>
        </p:nvSpPr>
        <p:spPr>
          <a:xfrm>
            <a:off x="2770626" y="1673360"/>
            <a:ext cx="2697918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Kobayashi, Karakas &amp; Lugaro 2020 (ApJ)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A6742F71-C2DF-31D0-539E-C257D05ECB24}"/>
              </a:ext>
            </a:extLst>
          </p:cNvPr>
          <p:cNvSpPr txBox="1">
            <a:spLocks/>
          </p:cNvSpPr>
          <p:nvPr/>
        </p:nvSpPr>
        <p:spPr>
          <a:xfrm>
            <a:off x="5460741" y="1862197"/>
            <a:ext cx="6204265" cy="4432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ABUNDANT: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Evolutionary endpoint for low- and intermediate-mass stars (LIMS)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.</a:t>
            </a:r>
          </a:p>
          <a:p>
            <a:pPr mar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LONG-LIVED:</a:t>
            </a:r>
            <a:r>
              <a:rPr lang="en-AU" sz="20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Extended lifetimes allow repeated cycles of nucleosynthesis and mixing. 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lvl="0"/>
            <a:endParaRPr lang="en-AU" sz="5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EFFICIENT POLLUTERS: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Strong AGB winds return large amounts of processed material to the ISM. </a:t>
            </a:r>
          </a:p>
          <a:p>
            <a:pPr marL="0" lv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SENSITIVE: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Their yields depend strongly on mass and metallicity, producing distinctive abundance signatures</a:t>
            </a:r>
            <a:r>
              <a:rPr lang="en-AU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lv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CHEMICAL ENRICHMENT:</a:t>
            </a:r>
            <a:r>
              <a:rPr lang="en-AU" sz="20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LIMS produce significant amounts of C, N, and heavy elements from Sr to Pb through neutron-capture nucleosynthesis.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306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556C5-5802-A0D1-E0E3-5B61EBDD2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F1B82DFF-351F-D916-5E95-4491DF911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94" y="1672762"/>
            <a:ext cx="4949951" cy="39178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5A4E56-8358-5E62-79DB-689A77E63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AGB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AD5B1-E688-7EB9-66B4-1555CBCF2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0741" y="1862197"/>
            <a:ext cx="6204265" cy="447764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POST CORE He BURNING: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Star contracts but is not massive enough to ignite C burning. Instead, ignites He burning shell below pre-existing H burning shell.</a:t>
            </a:r>
          </a:p>
          <a:p>
            <a:pPr marL="0" lv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EARLY AGB: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He shell burns progressively itself thinner in mass until it is thermally unstable (the thin shell instability).</a:t>
            </a:r>
          </a:p>
          <a:p>
            <a:pPr marL="0" lv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THERMAL PULSE: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Thermonuclear runaway produces a flash originating from the He-shell. This drives an expansion of the outer layers.</a:t>
            </a:r>
          </a:p>
          <a:p>
            <a:pPr marL="0" lv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AFTER THE PULSE: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He burning subsides and star contracts. Sufficiently massive stars reignite H-burning and enter the TP-AGB.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FC1596-9834-5DDD-3BDB-F05E878C2389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6864BD9-25EC-6A77-977A-2A20E5EAA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9F4F302-FE82-3BEB-4ECD-0C7F0C370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E6EE9B7-65D5-E3F2-6E6E-C1CA3078F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99F54BF-173E-CA5E-0169-D8E3C3AA0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19A35BB-88D5-FD9A-B08B-0743967CA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AD00232F-B7F5-F331-946B-4CCBD2A26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23EB7E4B-21CF-7EFA-7F9F-EA2F63B44912}"/>
              </a:ext>
            </a:extLst>
          </p:cNvPr>
          <p:cNvSpPr txBox="1">
            <a:spLocks/>
          </p:cNvSpPr>
          <p:nvPr/>
        </p:nvSpPr>
        <p:spPr>
          <a:xfrm>
            <a:off x="2770626" y="1673360"/>
            <a:ext cx="2697918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Cinquegrana &amp; Karakas 2022 (MNRAS)</a:t>
            </a:r>
          </a:p>
        </p:txBody>
      </p:sp>
    </p:spTree>
    <p:extLst>
      <p:ext uri="{BB962C8B-B14F-4D97-AF65-F5344CB8AC3E}">
        <p14:creationId xmlns:p14="http://schemas.microsoft.com/office/powerpoint/2010/main" val="2138378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ED3D4-456C-F43C-D3F8-F7B32A97F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1F320-8465-2B1E-21C0-2ADE6B7A0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AGB Structure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4AC7BA-FEA5-D178-799E-B9EA990A61C7}"/>
              </a:ext>
            </a:extLst>
          </p:cNvPr>
          <p:cNvSpPr/>
          <p:nvPr/>
        </p:nvSpPr>
        <p:spPr>
          <a:xfrm>
            <a:off x="152962" y="1825625"/>
            <a:ext cx="1782164" cy="343418"/>
          </a:xfrm>
          <a:prstGeom prst="rect">
            <a:avLst/>
          </a:prstGeom>
          <a:solidFill>
            <a:srgbClr val="020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7ED0DB1-DFC8-C6A1-8AA4-B175D8C002E2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582F478-9BBC-D4DE-F8F8-2409942A0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8722C53-8599-0BC5-8D66-03EDB57E7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337D136-3037-0310-F2B1-16A7C2E24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C5CFD87-964A-5807-3727-CEDDBADEA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8BA96DA-7ACD-E22D-1D6B-D339660E9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DD7DC1FE-DD83-6403-4B83-6910CE5E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819FA0-2A2F-BBC4-9254-BD4AB4762BD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149"/>
          <a:stretch>
            <a:fillRect/>
          </a:stretch>
        </p:blipFill>
        <p:spPr>
          <a:xfrm>
            <a:off x="152962" y="1690688"/>
            <a:ext cx="5386601" cy="401899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9878803-24DF-1FFC-7190-C78759FE3175}"/>
              </a:ext>
            </a:extLst>
          </p:cNvPr>
          <p:cNvSpPr/>
          <p:nvPr/>
        </p:nvSpPr>
        <p:spPr>
          <a:xfrm>
            <a:off x="119431" y="1772397"/>
            <a:ext cx="1782164" cy="343418"/>
          </a:xfrm>
          <a:prstGeom prst="rect">
            <a:avLst/>
          </a:prstGeom>
          <a:solidFill>
            <a:srgbClr val="020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F419E97-549F-12E7-0256-EE9525A96FEB}"/>
              </a:ext>
            </a:extLst>
          </p:cNvPr>
          <p:cNvSpPr txBox="1">
            <a:spLocks/>
          </p:cNvSpPr>
          <p:nvPr/>
        </p:nvSpPr>
        <p:spPr>
          <a:xfrm>
            <a:off x="950200" y="5517602"/>
            <a:ext cx="4231400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Based on Figure 14 from Karakas &amp; Lattanzio 2014 (PASA)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E2447DF-2E16-6130-2F9B-B839B54A5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0741" y="1862197"/>
            <a:ext cx="6204265" cy="447764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POST CORE He BURNING: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Star contracts but is not massive enough to ignite C burning. Instead, ignites He burning shell below pre-existing H burning shell.</a:t>
            </a:r>
          </a:p>
          <a:p>
            <a:pPr marL="0" lv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EARLY AGB: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He shell burns progressively itself thinner in mass until it is thermally unstable (the thin shell instability).</a:t>
            </a:r>
          </a:p>
          <a:p>
            <a:pPr marL="0" lv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THERMAL PULSE: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Thermonuclear runaway produces a flash originating from the He-shell. This drives an expansion of the outer layers.</a:t>
            </a:r>
          </a:p>
          <a:p>
            <a:pPr marL="0" lv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lv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AFTER THE PULSE: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He burning subsides and star contracts. Sufficiently massive stars reignite H-burning and enter the TP-AGB.</a:t>
            </a:r>
          </a:p>
        </p:txBody>
      </p:sp>
    </p:spTree>
    <p:extLst>
      <p:ext uri="{BB962C8B-B14F-4D97-AF65-F5344CB8AC3E}">
        <p14:creationId xmlns:p14="http://schemas.microsoft.com/office/powerpoint/2010/main" val="1948206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26954-303B-5F73-7132-66E4483F9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4125A-5A5D-534F-500C-91E21EEE2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The Thermal Pulse Cycle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C1CC9E-4975-D4D1-B9C9-9307662159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149"/>
          <a:stretch>
            <a:fillRect/>
          </a:stretch>
        </p:blipFill>
        <p:spPr>
          <a:xfrm>
            <a:off x="152962" y="1690688"/>
            <a:ext cx="5386601" cy="401899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A5D163F-A882-4727-CE39-FDA766DF52DC}"/>
              </a:ext>
            </a:extLst>
          </p:cNvPr>
          <p:cNvSpPr/>
          <p:nvPr/>
        </p:nvSpPr>
        <p:spPr>
          <a:xfrm>
            <a:off x="152962" y="1825625"/>
            <a:ext cx="1782164" cy="343418"/>
          </a:xfrm>
          <a:prstGeom prst="rect">
            <a:avLst/>
          </a:prstGeom>
          <a:solidFill>
            <a:srgbClr val="020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D2C6770-4C41-92B6-A3D0-58226E15288F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73BAA60-674D-0F61-D691-5278D68A2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A52B739-FA9C-F067-0975-7734C6760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2FD1F7E-8543-D5FD-23F2-ECE72ACD6B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D090471-6756-DEF5-7BCB-8A2A0BF60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E8CAE58-234B-9FE3-A66A-4AE8D080E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C23CD9B1-ABCF-6477-743E-536F042F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BB492F2A-2B78-AF9D-903A-F977B7BE3EB0}"/>
              </a:ext>
            </a:extLst>
          </p:cNvPr>
          <p:cNvSpPr txBox="1">
            <a:spLocks/>
          </p:cNvSpPr>
          <p:nvPr/>
        </p:nvSpPr>
        <p:spPr>
          <a:xfrm>
            <a:off x="5460741" y="1862196"/>
            <a:ext cx="6018028" cy="5526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THERMAL PULSE: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He-burning shell becomes thermally unstable. A brief flash from the He-shell drives a convective zone through the intershell.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POWER DOWN: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He-shell burning rapidly subsides. The star expands and the H-burning shell may be temporarily extinguished.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THIRD DREDGE UP: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The convective envelope moves inward into the He-rich intershell, mixing He-burning products and s-process material to the surface.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500" b="1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INTERPULSE: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H-burning shell reignites and provides most of the stellar luminosity. Pressure builds up on the He shell until the next thermal pulse.</a:t>
            </a:r>
            <a:endParaRPr lang="en-US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C4282950-0844-5BEF-4051-E66A8BE49CB3}"/>
              </a:ext>
            </a:extLst>
          </p:cNvPr>
          <p:cNvSpPr txBox="1">
            <a:spLocks/>
          </p:cNvSpPr>
          <p:nvPr/>
        </p:nvSpPr>
        <p:spPr>
          <a:xfrm>
            <a:off x="950200" y="5517602"/>
            <a:ext cx="4231400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Based on Figure 14 from Karakas &amp; Lattanzio 2014 (PASA)</a:t>
            </a:r>
          </a:p>
        </p:txBody>
      </p:sp>
    </p:spTree>
    <p:extLst>
      <p:ext uri="{BB962C8B-B14F-4D97-AF65-F5344CB8AC3E}">
        <p14:creationId xmlns:p14="http://schemas.microsoft.com/office/powerpoint/2010/main" val="984002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BD861-2CB6-D22A-0AA4-46D3D693D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84DA0-1300-F0E3-E86D-75AB2DDB0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The Thermal Pulse Cycle &amp; the </a:t>
            </a:r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s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-process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B1779C-248A-AC37-A0AD-436B90C12582}"/>
              </a:ext>
            </a:extLst>
          </p:cNvPr>
          <p:cNvSpPr/>
          <p:nvPr/>
        </p:nvSpPr>
        <p:spPr>
          <a:xfrm>
            <a:off x="152962" y="1825625"/>
            <a:ext cx="1782164" cy="343418"/>
          </a:xfrm>
          <a:prstGeom prst="rect">
            <a:avLst/>
          </a:prstGeom>
          <a:solidFill>
            <a:srgbClr val="020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2EF2D91-C266-9CE5-7346-218922991D65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69972A0-FDA6-4940-4E89-735DBB272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DF68AAB-700B-EB46-4F69-73F862A4A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397B543-AD58-7850-7BB2-D2419905D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649DFED-24DC-6CEC-74D6-3211B3DEA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3FB3D41-C57F-FE6D-4E33-20C8E9B866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E17AC053-97FD-7F34-2ABF-18CB73110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C813B40-047B-11AE-EA0F-A21933A41009}"/>
              </a:ext>
            </a:extLst>
          </p:cNvPr>
          <p:cNvSpPr txBox="1">
            <a:spLocks/>
          </p:cNvSpPr>
          <p:nvPr/>
        </p:nvSpPr>
        <p:spPr>
          <a:xfrm>
            <a:off x="5456890" y="1864814"/>
            <a:ext cx="5286532" cy="5526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SOURCES OF FREE NEUTRONS:</a:t>
            </a:r>
          </a:p>
          <a:p>
            <a:pPr>
              <a:buFontTx/>
              <a:buChar char="-"/>
            </a:pP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(</a:t>
            </a:r>
            <a:r>
              <a:rPr lang="el-GR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α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, n) </a:t>
            </a: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16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O: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Operates at ~100 MK, producing low neutron densities over long timescales.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>
              <a:buFontTx/>
              <a:buChar char="-"/>
            </a:pP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22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Ne (</a:t>
            </a:r>
            <a:r>
              <a:rPr lang="el-GR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α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, n) </a:t>
            </a: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25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Mg: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Activated at &gt;300 MK, producing high neutron densities in short bursts.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MAIN SITES OF CAPTURE:</a:t>
            </a:r>
          </a:p>
          <a:p>
            <a:pPr>
              <a:buFontTx/>
              <a:buChar char="-"/>
            </a:pP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pocket: Neutrons released radiatively during the interpulse period, providing the largest neutron exposure.</a:t>
            </a:r>
          </a:p>
          <a:p>
            <a:pPr>
              <a:buFontTx/>
              <a:buChar char="-"/>
            </a:pP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He-flash convection zone: Neutrons released during thermal pulses, producing a brief, high-density neutron burst.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D4292CA-249E-1F19-4165-864B5AF7123E}"/>
              </a:ext>
            </a:extLst>
          </p:cNvPr>
          <p:cNvSpPr txBox="1">
            <a:spLocks/>
          </p:cNvSpPr>
          <p:nvPr/>
        </p:nvSpPr>
        <p:spPr>
          <a:xfrm>
            <a:off x="1935126" y="3111170"/>
            <a:ext cx="2331106" cy="5758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rgbClr val="FFFF00"/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FIND FIGURE</a:t>
            </a:r>
          </a:p>
        </p:txBody>
      </p:sp>
    </p:spTree>
    <p:extLst>
      <p:ext uri="{BB962C8B-B14F-4D97-AF65-F5344CB8AC3E}">
        <p14:creationId xmlns:p14="http://schemas.microsoft.com/office/powerpoint/2010/main" val="1994929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1199E-7A59-935C-29AD-3B161B8AE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8C121-E8EF-55F3-6047-EC1EEBB9A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The Thermal Pulse Cycle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4E382A-0B32-B875-E218-BE84EEBDF9A9}"/>
              </a:ext>
            </a:extLst>
          </p:cNvPr>
          <p:cNvSpPr/>
          <p:nvPr/>
        </p:nvSpPr>
        <p:spPr>
          <a:xfrm>
            <a:off x="152962" y="1825625"/>
            <a:ext cx="1782164" cy="343418"/>
          </a:xfrm>
          <a:prstGeom prst="rect">
            <a:avLst/>
          </a:prstGeom>
          <a:solidFill>
            <a:srgbClr val="020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4DF642-DA67-3AAE-D06E-CCDB4D11B283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4BE4435-7216-55A9-E3A7-977C94FEC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99EEF8F-FA19-907E-2C98-373F079DC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18AE534-B057-00A2-1318-93A61A94B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C3EE0FD-6361-F5CF-583A-1286D9A1E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4538C30-561B-6838-AE8D-83C59B3C2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C55834B7-9A06-0003-E296-5686642ED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632C7F-10A0-CE66-3E76-4B3D4550E8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149"/>
          <a:stretch>
            <a:fillRect/>
          </a:stretch>
        </p:blipFill>
        <p:spPr>
          <a:xfrm>
            <a:off x="152962" y="1690688"/>
            <a:ext cx="5386601" cy="401899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91F5721-FBB4-7E71-4BE4-7B8BF4B7747D}"/>
              </a:ext>
            </a:extLst>
          </p:cNvPr>
          <p:cNvSpPr txBox="1">
            <a:spLocks/>
          </p:cNvSpPr>
          <p:nvPr/>
        </p:nvSpPr>
        <p:spPr>
          <a:xfrm>
            <a:off x="5460741" y="1862196"/>
            <a:ext cx="6018028" cy="5526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THERMAL PULSE 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  <a:sym typeface="Wingdings" pitchFamily="2" charset="2"/>
              </a:rPr>
              <a:t></a:t>
            </a:r>
            <a:r>
              <a:rPr lang="en-AU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POWER DOWN 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  <a:sym typeface="Wingdings" pitchFamily="2" charset="2"/>
              </a:rPr>
              <a:t> THIRD DREDGE UP INTERPULSE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  <a:sym typeface="Wingdings" pitchFamily="2" charset="2"/>
              </a:rPr>
              <a:t> REPEAT (?)</a:t>
            </a:r>
            <a:endParaRPr lang="en-AU" sz="20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ea typeface="Cambria Math" panose="02040503050406030204" pitchFamily="18" charset="0"/>
              <a:cs typeface="Segoe UI Semibold" panose="020B07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CYCLE EVOLVES:</a:t>
            </a:r>
            <a:r>
              <a:rPr lang="en-AU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Each pulse alters the core, envelope, temperature, composition, and mass-loss rate, changing subsequent nucleosynthesis.</a:t>
            </a:r>
          </a:p>
          <a:p>
            <a:pPr mar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MASS RETURNED TO ISM: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Strong stellar winds progressively remove the envelope, ejecting repeatedly processed and mixed material throughout the TP-AGB.</a:t>
            </a:r>
          </a:p>
          <a:p>
            <a:pPr mar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 &amp; METALLICITY DEPENDENCE: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</a:t>
            </a:r>
            <a:r>
              <a:rPr lang="en-AU" sz="1600" baseline="-25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ZAMS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and Z</a:t>
            </a:r>
            <a:r>
              <a:rPr lang="en-AU" sz="1600" baseline="-25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determine the number and strength of pulses, 3DU efficiency, </a:t>
            </a: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13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C-pocket formation, and HBB activation.</a:t>
            </a:r>
          </a:p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7B3A6A-C93B-1807-CA44-116F0E05013A}"/>
              </a:ext>
            </a:extLst>
          </p:cNvPr>
          <p:cNvSpPr/>
          <p:nvPr/>
        </p:nvSpPr>
        <p:spPr>
          <a:xfrm>
            <a:off x="224671" y="1755941"/>
            <a:ext cx="1782164" cy="343418"/>
          </a:xfrm>
          <a:prstGeom prst="rect">
            <a:avLst/>
          </a:prstGeom>
          <a:solidFill>
            <a:srgbClr val="020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63BF785-E873-5359-D32E-3DEE704959A6}"/>
              </a:ext>
            </a:extLst>
          </p:cNvPr>
          <p:cNvSpPr txBox="1">
            <a:spLocks/>
          </p:cNvSpPr>
          <p:nvPr/>
        </p:nvSpPr>
        <p:spPr>
          <a:xfrm>
            <a:off x="950200" y="5517602"/>
            <a:ext cx="4231400" cy="365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Based on Figure 14 from Karakas &amp; Lattanzio 2014 (PASA)</a:t>
            </a:r>
          </a:p>
        </p:txBody>
      </p:sp>
    </p:spTree>
    <p:extLst>
      <p:ext uri="{BB962C8B-B14F-4D97-AF65-F5344CB8AC3E}">
        <p14:creationId xmlns:p14="http://schemas.microsoft.com/office/powerpoint/2010/main" val="1661446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E47485-E4F4-DB38-7354-A608C321A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ZAMS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&amp; </a:t>
            </a:r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vs the Thermal Pulse Cycle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F533E12-E794-9EB9-4757-8A422470FBD3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63CC598-44D2-B1D8-5A08-052A09526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126E650-759F-2CEC-90C8-7D3167A89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4A5120C-0975-4AC2-9D12-9D75240C1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598F99C-6CF6-B64B-7B8B-185DF7E89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7BCD8F4-D1C8-D8AD-59D6-5E4618519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9710666D-B6D9-FD6E-94FA-585196FD0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E831090-38EE-E5E1-073B-8B178E4A8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728" y="1891104"/>
            <a:ext cx="9254437" cy="3818264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2E0E2B2-1B8B-A545-861C-2B2A374BA86C}"/>
              </a:ext>
            </a:extLst>
          </p:cNvPr>
          <p:cNvSpPr txBox="1">
            <a:spLocks/>
          </p:cNvSpPr>
          <p:nvPr/>
        </p:nvSpPr>
        <p:spPr>
          <a:xfrm>
            <a:off x="2133787" y="2754604"/>
            <a:ext cx="4412181" cy="6518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Campbell &amp; Lattanzio 2008 (A&amp;A): </a:t>
            </a:r>
            <a:r>
              <a:rPr lang="en-AU" sz="1000" i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</a:t>
            </a:r>
            <a:r>
              <a:rPr lang="en-AU" sz="1000" baseline="-25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i </a:t>
            </a: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= 0, -6.5 ≤ [Fe/H] ≤ -3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et al. 2018 (MNRAS): [Fe/H] = -0.7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2010 (MNRAS): -2.15 ≤ [Fe/H] ≤ +0.15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D4701C2-1D89-0CA0-F904-3E3BB9A8FC2E}"/>
              </a:ext>
            </a:extLst>
          </p:cNvPr>
          <p:cNvSpPr txBox="1">
            <a:spLocks/>
          </p:cNvSpPr>
          <p:nvPr/>
        </p:nvSpPr>
        <p:spPr>
          <a:xfrm>
            <a:off x="6376854" y="2751049"/>
            <a:ext cx="3763892" cy="828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&amp; Lugaro 2016 (ApJ): -0.3 ≤ [Fe/H] ≤ +0.15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Cinquegrana &amp; Karakas 2022 (MNRAS): +0.46 ≤ [Fe/H] ≤ +0.85</a:t>
            </a:r>
          </a:p>
          <a:p>
            <a:pPr marL="0" indent="0"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998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44A3-2AF7-18FD-DC46-928E75AB8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2FB11A8-4357-44F3-150B-C1F088D6A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M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ZAMS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&amp; 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vs the Thermal Pulse Cycle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DDE9C1-C5F6-BE39-27E1-71F79BD6A836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FBACD98-3948-5F8D-BA56-39F5590869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58CBE95-AB2C-55EE-0164-7C14314DA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C6EED38-35BF-3E0D-6386-F56A065CD2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D6A79B2-7BC7-BDD0-E9A4-D006138F9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AF3577B-6671-5E3C-C8AE-0FAB12409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49BFBC8-AC16-7D89-F8FB-1FC490D35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105203A-899E-0032-FCA9-044308A448DC}"/>
              </a:ext>
            </a:extLst>
          </p:cNvPr>
          <p:cNvCxnSpPr>
            <a:cxnSpLocks/>
          </p:cNvCxnSpPr>
          <p:nvPr/>
        </p:nvCxnSpPr>
        <p:spPr>
          <a:xfrm flipV="1">
            <a:off x="793438" y="1996966"/>
            <a:ext cx="0" cy="299544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8170BD8D-DB2D-E140-4318-47A3B94A7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728" y="1891104"/>
            <a:ext cx="9254437" cy="3818264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E266B0D-8517-17C6-9487-F24BDCBE78F2}"/>
              </a:ext>
            </a:extLst>
          </p:cNvPr>
          <p:cNvSpPr txBox="1">
            <a:spLocks/>
          </p:cNvSpPr>
          <p:nvPr/>
        </p:nvSpPr>
        <p:spPr>
          <a:xfrm>
            <a:off x="2133787" y="2754604"/>
            <a:ext cx="4412181" cy="6518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Campbell &amp; Lattanzio 2008 (A&amp;A): </a:t>
            </a:r>
            <a:r>
              <a:rPr lang="en-AU" sz="1000" i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</a:t>
            </a:r>
            <a:r>
              <a:rPr lang="en-AU" sz="1000" baseline="-25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i </a:t>
            </a: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= 0, -6.5 ≤ [Fe/H] ≤ -3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et al. 2018 (MNRAS): [Fe/H] = -0.7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2010 (MNRAS): -2.15 ≤ [Fe/H] ≤ +0.15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F49976B-1A91-8305-DB2A-BC79E45231E5}"/>
              </a:ext>
            </a:extLst>
          </p:cNvPr>
          <p:cNvSpPr txBox="1">
            <a:spLocks/>
          </p:cNvSpPr>
          <p:nvPr/>
        </p:nvSpPr>
        <p:spPr>
          <a:xfrm>
            <a:off x="6376854" y="2751049"/>
            <a:ext cx="3763892" cy="828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&amp; Lugaro 2016 (ApJ): -0.3 ≤ [Fe/H] ≤ +0.15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Cinquegrana &amp; Karakas 2022 (MNRAS): +0.46 ≤ [Fe/H] ≤ +0.85</a:t>
            </a:r>
          </a:p>
          <a:p>
            <a:pPr marL="0" indent="0"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640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08BD2-E773-AD34-9C55-7B7CB6CE9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7FBDD3-ACDE-FBC1-F8D2-AB8C65A09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M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ZAMS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&amp; 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vs the Thermal Pulse Cycle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65C3E2-3154-CDCE-7698-E8E97B4972F8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FC3B3F9-D8C5-6085-7F87-E0D13421E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FF00983-9063-D390-4E47-A2D91AC62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4E2D37C-222D-C728-B58E-87E9B764E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CD64628-581B-B15D-BC1F-AB88A91E3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997CED3-F80E-6716-FEBE-6407B4A893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48515F4E-326A-D8D1-C3BD-6D89C4D9E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C5F962D-43E1-1DF3-D35F-6BDBE0AD9D3A}"/>
              </a:ext>
            </a:extLst>
          </p:cNvPr>
          <p:cNvCxnSpPr>
            <a:cxnSpLocks/>
          </p:cNvCxnSpPr>
          <p:nvPr/>
        </p:nvCxnSpPr>
        <p:spPr>
          <a:xfrm flipV="1">
            <a:off x="3750376" y="1707100"/>
            <a:ext cx="0" cy="4094610"/>
          </a:xfrm>
          <a:prstGeom prst="straightConnector1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1B922AD-3BCE-FA02-F065-59BD9B99FE3D}"/>
              </a:ext>
            </a:extLst>
          </p:cNvPr>
          <p:cNvSpPr txBox="1">
            <a:spLocks/>
          </p:cNvSpPr>
          <p:nvPr/>
        </p:nvSpPr>
        <p:spPr>
          <a:xfrm>
            <a:off x="1434558" y="4726749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025DBC82-9C1D-BCDB-2BE5-99004B0D909E}"/>
              </a:ext>
            </a:extLst>
          </p:cNvPr>
          <p:cNvSpPr txBox="1">
            <a:spLocks/>
          </p:cNvSpPr>
          <p:nvPr/>
        </p:nvSpPr>
        <p:spPr>
          <a:xfrm>
            <a:off x="1434558" y="3837647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B14AAEC-A028-6CE1-2DDB-7F19DAC3498D}"/>
              </a:ext>
            </a:extLst>
          </p:cNvPr>
          <p:cNvSpPr txBox="1">
            <a:spLocks/>
          </p:cNvSpPr>
          <p:nvPr/>
        </p:nvSpPr>
        <p:spPr>
          <a:xfrm>
            <a:off x="1434558" y="1749140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1F3F313-30CE-BF4D-8963-7C876F44EC2E}"/>
              </a:ext>
            </a:extLst>
          </p:cNvPr>
          <p:cNvCxnSpPr/>
          <p:nvPr/>
        </p:nvCxnSpPr>
        <p:spPr>
          <a:xfrm>
            <a:off x="3750376" y="5592795"/>
            <a:ext cx="0" cy="505836"/>
          </a:xfrm>
          <a:prstGeom prst="line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53D2EF03-1999-C0B5-54CC-F28CF38BCF2F}"/>
              </a:ext>
            </a:extLst>
          </p:cNvPr>
          <p:cNvSpPr txBox="1">
            <a:spLocks/>
          </p:cNvSpPr>
          <p:nvPr/>
        </p:nvSpPr>
        <p:spPr>
          <a:xfrm rot="16200000">
            <a:off x="1476741" y="3632699"/>
            <a:ext cx="4197505" cy="4303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1400" b="1" i="1" dirty="0">
                <a:solidFill>
                  <a:schemeClr val="bg1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Increasing mass </a:t>
            </a:r>
            <a:r>
              <a:rPr lang="en-AU" sz="1400" i="1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(thresholds vary with metallicity)</a:t>
            </a:r>
            <a:endParaRPr lang="en-US" sz="1400" i="1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427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215C7-68E7-AC5F-9DB5-6967A7354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4CB3A06-8ED0-BEF6-B618-BC1A29EF5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M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ZAMS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&amp; 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vs the Thermal Pulse Cycle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FB9CE73-9C17-D090-8C8E-C78851F839AF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A41C70F-AD2D-5635-AA73-40F67A0F3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A783F8-71C8-4CB2-FA22-68870AD1A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CD4DF0B-6BAD-DFAA-EB99-5B4603721B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AAE5955-32C7-23AB-9CEF-C65D733759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6125B6F-903A-2554-66C8-BFC381EBA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99F7543B-D003-4AFB-B7A3-54F8C7607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11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0A6DA3-05DE-A73A-AED4-579DBDC5318C}"/>
              </a:ext>
            </a:extLst>
          </p:cNvPr>
          <p:cNvCxnSpPr>
            <a:cxnSpLocks/>
          </p:cNvCxnSpPr>
          <p:nvPr/>
        </p:nvCxnSpPr>
        <p:spPr>
          <a:xfrm flipV="1">
            <a:off x="3750376" y="1707100"/>
            <a:ext cx="0" cy="4094610"/>
          </a:xfrm>
          <a:prstGeom prst="straightConnector1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D87FD2-9766-7FF6-DB12-E0E7752DE3C5}"/>
              </a:ext>
            </a:extLst>
          </p:cNvPr>
          <p:cNvSpPr txBox="1">
            <a:spLocks/>
          </p:cNvSpPr>
          <p:nvPr/>
        </p:nvSpPr>
        <p:spPr>
          <a:xfrm>
            <a:off x="1434558" y="4726749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ACB5A7A-DAE6-D23F-A24C-0986FA110EFB}"/>
              </a:ext>
            </a:extLst>
          </p:cNvPr>
          <p:cNvSpPr txBox="1">
            <a:spLocks/>
          </p:cNvSpPr>
          <p:nvPr/>
        </p:nvSpPr>
        <p:spPr>
          <a:xfrm>
            <a:off x="1434558" y="3837647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2CAFA77-A449-15A8-A7CB-2779A3ABAA42}"/>
              </a:ext>
            </a:extLst>
          </p:cNvPr>
          <p:cNvSpPr txBox="1">
            <a:spLocks/>
          </p:cNvSpPr>
          <p:nvPr/>
        </p:nvSpPr>
        <p:spPr>
          <a:xfrm>
            <a:off x="1434558" y="1749140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890619B-7445-320F-A9B0-1BB446CE93DD}"/>
              </a:ext>
            </a:extLst>
          </p:cNvPr>
          <p:cNvCxnSpPr/>
          <p:nvPr/>
        </p:nvCxnSpPr>
        <p:spPr>
          <a:xfrm>
            <a:off x="3750376" y="5592795"/>
            <a:ext cx="0" cy="505836"/>
          </a:xfrm>
          <a:prstGeom prst="line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9281C66C-3EA9-7669-7F9E-115AACB40641}"/>
              </a:ext>
            </a:extLst>
          </p:cNvPr>
          <p:cNvSpPr txBox="1">
            <a:spLocks/>
          </p:cNvSpPr>
          <p:nvPr/>
        </p:nvSpPr>
        <p:spPr>
          <a:xfrm rot="16200000">
            <a:off x="1476741" y="3632699"/>
            <a:ext cx="4197505" cy="4303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1400" b="1" i="1" dirty="0">
                <a:solidFill>
                  <a:schemeClr val="bg1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Increasing mass </a:t>
            </a:r>
            <a:r>
              <a:rPr lang="en-AU" sz="1400" i="1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(thresholds vary with metallicity)</a:t>
            </a:r>
            <a:endParaRPr lang="en-US" sz="1400" i="1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80CBD1C-FAD1-D881-A45B-EE8BFB122451}"/>
              </a:ext>
            </a:extLst>
          </p:cNvPr>
          <p:cNvSpPr txBox="1">
            <a:spLocks/>
          </p:cNvSpPr>
          <p:nvPr/>
        </p:nvSpPr>
        <p:spPr>
          <a:xfrm>
            <a:off x="3803471" y="1666067"/>
            <a:ext cx="7621799" cy="4537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Type II core collapse supernovae progenitors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Ignite central carbon on the early AGB [</a:t>
            </a: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super AGBs</a:t>
            </a: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]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sustain Mg-Al &amp; Ne-Na chains at the base of the envelope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Ignite carbon off-centre on the early AGB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… full CNO cycle at the base of the envelope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… CN cycle at the base of the envelope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can sustain p-p chains at base of the convective envelope during interpulse periods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during third dredge up are too high to preserve </a:t>
            </a:r>
            <a:r>
              <a:rPr lang="en-AU" sz="1200" baseline="300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pocket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reached to activate </a:t>
            </a:r>
            <a:r>
              <a:rPr lang="en-AU" sz="1200" baseline="300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22</a:t>
            </a: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Ne neutron source during thermal pulses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Peak neutron exposure from </a:t>
            </a:r>
            <a:r>
              <a:rPr lang="en-AU" sz="1200" baseline="300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neutron source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Can form a </a:t>
            </a:r>
            <a:r>
              <a:rPr lang="en-AU" sz="1200" baseline="300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pocket during third dredge up &amp; reach temperatures to activate </a:t>
            </a:r>
            <a:r>
              <a:rPr lang="en-AU" sz="1200" baseline="300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source during interpulse periods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Minimum mass to undergo third dredge up mixing episodes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Massive enough to undergo more than 5 thermal pulses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Minimum core mass to enter the thermally pulsing AGB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Below here, stars only enter the early AGB</a:t>
            </a: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92DED1A-4583-EA13-C736-4D774CE15867}"/>
              </a:ext>
            </a:extLst>
          </p:cNvPr>
          <p:cNvSpPr txBox="1">
            <a:spLocks/>
          </p:cNvSpPr>
          <p:nvPr/>
        </p:nvSpPr>
        <p:spPr>
          <a:xfrm>
            <a:off x="-238812" y="1665761"/>
            <a:ext cx="3485419" cy="4537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AU" sz="1200" b="1" dirty="0">
                <a:solidFill>
                  <a:srgbClr val="05002E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Type II CC-SNe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rgbClr val="05002E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ONe WD or EC-SNe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&gt; 80 MK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rgbClr val="05002E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Hybrid C/O + ONe WD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70-80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50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40-50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40-50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300 MK</a:t>
            </a:r>
          </a:p>
          <a:p>
            <a:pPr marL="0" indent="0" algn="r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source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100 MK </a:t>
            </a:r>
          </a:p>
          <a:p>
            <a:pPr marL="0" indent="0" algn="r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episodes</a:t>
            </a:r>
          </a:p>
          <a:p>
            <a:pPr marL="0" indent="0" algn="r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pulses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C/O WD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He WD</a:t>
            </a:r>
            <a:endParaRPr lang="en-AU" sz="12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b="1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r">
              <a:buFont typeface="Arial" panose="020B0604020202020204" pitchFamily="34" charset="0"/>
              <a:buNone/>
            </a:pPr>
            <a:endParaRPr lang="en-US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881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A6A67-432D-6110-9612-9E4A78EE2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3DF7B37E-6605-438C-EE71-B38228CCFCE4}"/>
              </a:ext>
            </a:extLst>
          </p:cNvPr>
          <p:cNvSpPr txBox="1">
            <a:spLocks/>
          </p:cNvSpPr>
          <p:nvPr/>
        </p:nvSpPr>
        <p:spPr>
          <a:xfrm>
            <a:off x="3803471" y="1666067"/>
            <a:ext cx="7621799" cy="4537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Type II core collapse supernovae progenitors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Ignite central carbon on the early AGB [</a:t>
            </a: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super AGBs</a:t>
            </a: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]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sustain Mg-Al &amp; Ne-Na chains at the base of the envelope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Ignite carbon off-centre on the early AGB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… full CNO cycle at the base of the envelope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… CN cycle at the base of the envelope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can sustain p-p chains at base of the convective envelope during interpulse periods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during third dredge up are too high to preserve </a:t>
            </a:r>
            <a:r>
              <a:rPr lang="en-AU" sz="1200" baseline="300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pocket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reached to activate </a:t>
            </a:r>
            <a:r>
              <a:rPr lang="en-AU" sz="1200" baseline="300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22</a:t>
            </a: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Ne neutron source during thermal pulses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Peak neutron exposure from </a:t>
            </a:r>
            <a:r>
              <a:rPr lang="en-AU" sz="1200" baseline="300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neutron source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Can form a </a:t>
            </a:r>
            <a:r>
              <a:rPr lang="en-AU" sz="12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pocket during third dredge up &amp; reach temperatures to activate </a:t>
            </a:r>
            <a:r>
              <a:rPr lang="en-AU" sz="12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source during interpulse periods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Minimum mass to undergo third dredge up mixing episodes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Massive enough to undergo more than 5 thermal pulses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Minimum core mass to enter the thermally pulsing AGB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Below here, stars only enter the early AGB</a:t>
            </a: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5C42600-CD92-2921-C3FB-CEE05ECE8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M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ZAMS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&amp; 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vs the Thermal Pulse Cycle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9692B1F-DFDD-C8EC-6084-3D107AC70051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9221654-CCE9-85B3-721D-523BFE5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78A770-7C4C-DE4A-ED51-C030ADBC9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D1B6E06-3714-7123-60BE-8CE1FF961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8A7E943-E287-91BC-0598-2742D7F818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5C6E090-7EC0-BC43-1276-6309FFC96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2722098-D8C6-8E19-E8EE-4033781F9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5A135A-72DA-D251-5FEB-1EBEF925D4FA}"/>
              </a:ext>
            </a:extLst>
          </p:cNvPr>
          <p:cNvCxnSpPr>
            <a:cxnSpLocks/>
          </p:cNvCxnSpPr>
          <p:nvPr/>
        </p:nvCxnSpPr>
        <p:spPr>
          <a:xfrm flipV="1">
            <a:off x="3750376" y="1707100"/>
            <a:ext cx="0" cy="4094610"/>
          </a:xfrm>
          <a:prstGeom prst="straightConnector1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384ABEC-022E-47B4-2680-C017B3A1D9AE}"/>
              </a:ext>
            </a:extLst>
          </p:cNvPr>
          <p:cNvSpPr txBox="1">
            <a:spLocks/>
          </p:cNvSpPr>
          <p:nvPr/>
        </p:nvSpPr>
        <p:spPr>
          <a:xfrm>
            <a:off x="1434558" y="4726749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46DF9E2-1746-9BAE-DF49-4EEB574F8010}"/>
              </a:ext>
            </a:extLst>
          </p:cNvPr>
          <p:cNvSpPr txBox="1">
            <a:spLocks/>
          </p:cNvSpPr>
          <p:nvPr/>
        </p:nvSpPr>
        <p:spPr>
          <a:xfrm>
            <a:off x="1434558" y="3837647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00A19C9F-35BA-4EBB-0605-7B4E3D392EBD}"/>
              </a:ext>
            </a:extLst>
          </p:cNvPr>
          <p:cNvSpPr txBox="1">
            <a:spLocks/>
          </p:cNvSpPr>
          <p:nvPr/>
        </p:nvSpPr>
        <p:spPr>
          <a:xfrm>
            <a:off x="1434558" y="1749140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06B6C17-7582-89D3-1DFF-4EBD4D125637}"/>
              </a:ext>
            </a:extLst>
          </p:cNvPr>
          <p:cNvCxnSpPr/>
          <p:nvPr/>
        </p:nvCxnSpPr>
        <p:spPr>
          <a:xfrm>
            <a:off x="3750376" y="5592795"/>
            <a:ext cx="0" cy="505836"/>
          </a:xfrm>
          <a:prstGeom prst="line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64E0D301-D3B8-06B8-9F2A-D51971CF6D4B}"/>
              </a:ext>
            </a:extLst>
          </p:cNvPr>
          <p:cNvSpPr txBox="1">
            <a:spLocks/>
          </p:cNvSpPr>
          <p:nvPr/>
        </p:nvSpPr>
        <p:spPr>
          <a:xfrm>
            <a:off x="-238812" y="1665761"/>
            <a:ext cx="3485419" cy="4537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AU" sz="1200" b="1" dirty="0">
                <a:solidFill>
                  <a:srgbClr val="05002E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Type II CC-SNe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rgbClr val="05002E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ONe WD or EC-SNe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&gt; 80 MK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rgbClr val="05002E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Hybrid C/O + ONe WD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70-80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50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40-50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40-50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300 MK</a:t>
            </a:r>
          </a:p>
          <a:p>
            <a:pPr marL="0" indent="0" algn="r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source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100 MK </a:t>
            </a:r>
          </a:p>
          <a:p>
            <a:pPr marL="0" indent="0" algn="r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episodes</a:t>
            </a:r>
          </a:p>
          <a:p>
            <a:pPr marL="0" indent="0" algn="r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pulses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C/O WD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He WD</a:t>
            </a:r>
            <a:endParaRPr lang="en-AU" sz="12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b="1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r">
              <a:buFont typeface="Arial" panose="020B0604020202020204" pitchFamily="34" charset="0"/>
              <a:buNone/>
            </a:pPr>
            <a:endParaRPr lang="en-US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FDDBCCF3-435A-3D9B-76C4-C7C20FF835DB}"/>
              </a:ext>
            </a:extLst>
          </p:cNvPr>
          <p:cNvSpPr txBox="1">
            <a:spLocks/>
          </p:cNvSpPr>
          <p:nvPr/>
        </p:nvSpPr>
        <p:spPr>
          <a:xfrm rot="16200000">
            <a:off x="1476741" y="3632699"/>
            <a:ext cx="4197505" cy="4303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1400" b="1" i="1" dirty="0">
                <a:solidFill>
                  <a:schemeClr val="bg1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Increasing mass </a:t>
            </a:r>
            <a:r>
              <a:rPr lang="en-AU" sz="1400" i="1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(thresholds vary with metallicity)</a:t>
            </a:r>
            <a:endParaRPr lang="en-US" sz="1400" i="1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665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CC675-BC82-F02B-F8E1-ECDB9EB45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805674DB-0863-59C2-D7D3-CE1CAAE6F2B4}"/>
              </a:ext>
            </a:extLst>
          </p:cNvPr>
          <p:cNvSpPr txBox="1">
            <a:spLocks/>
          </p:cNvSpPr>
          <p:nvPr/>
        </p:nvSpPr>
        <p:spPr>
          <a:xfrm>
            <a:off x="3803471" y="1666067"/>
            <a:ext cx="7621799" cy="4537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Type II core collapse supernovae progenitors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Ignite central carbon on the early AGB [</a:t>
            </a: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super AGBs</a:t>
            </a: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]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sustain Mg-Al &amp; Ne-Na chains at the base of the envelope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Ignite carbon off-centre on the early AGB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… full CNO cycle at the base of the envelope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… CN cycle at the base of the envelope</a:t>
            </a:r>
          </a:p>
          <a:p>
            <a:pPr marL="0" indent="0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can sustain p-p chains at base of the convective envelope during interpulse periods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during third dredge up are too high to preserve </a:t>
            </a:r>
            <a:r>
              <a:rPr lang="en-AU" sz="12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pocket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reached to activate </a:t>
            </a:r>
            <a:r>
              <a:rPr lang="en-AU" sz="12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22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Ne neutron source during thermal pulses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Peak neutron exposure from </a:t>
            </a:r>
            <a:r>
              <a:rPr lang="en-AU" sz="12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neutron source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Can form a </a:t>
            </a:r>
            <a:r>
              <a:rPr lang="en-AU" sz="12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pocket during third dredge up &amp; reach temperatures to activate </a:t>
            </a:r>
            <a:r>
              <a:rPr lang="en-AU" sz="12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source during interpulse periods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Minimum mass to undergo third dredge up mixing episodes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Massive enough to undergo more than 5 thermal pulses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Minimum core mass to enter the thermally pulsing AGB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Below here, stars only enter the early AGB</a:t>
            </a: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40FA1B-61C1-60A6-B903-1188F5270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M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ZAMS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&amp; 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vs the Thermal Pulse Cycle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A681420-9D0F-F261-01C8-30A8E31285F5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A600CB1-FD75-A70A-59CC-524AFF052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ADDC5D1-2B0F-A61E-C948-5ED40EAD3D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520F95F-53B0-E6EC-0B9A-00496D5BB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E76B1FF-65BD-93B3-20C6-67DDE4B74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3EAE95F-4BFA-283C-D80E-6DC2B0B37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C69C5CD2-D174-AE7B-3A38-1F09FA64A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13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6E520A3-6AF8-0059-A430-9277F2C69CD4}"/>
              </a:ext>
            </a:extLst>
          </p:cNvPr>
          <p:cNvCxnSpPr>
            <a:cxnSpLocks/>
          </p:cNvCxnSpPr>
          <p:nvPr/>
        </p:nvCxnSpPr>
        <p:spPr>
          <a:xfrm flipV="1">
            <a:off x="3750376" y="1707100"/>
            <a:ext cx="0" cy="4094610"/>
          </a:xfrm>
          <a:prstGeom prst="straightConnector1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839CD19-937A-F64F-20A9-12760624805E}"/>
              </a:ext>
            </a:extLst>
          </p:cNvPr>
          <p:cNvSpPr txBox="1">
            <a:spLocks/>
          </p:cNvSpPr>
          <p:nvPr/>
        </p:nvSpPr>
        <p:spPr>
          <a:xfrm>
            <a:off x="1434558" y="4726749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7700387-B85D-4FA5-5A9D-A7284AFBAA23}"/>
              </a:ext>
            </a:extLst>
          </p:cNvPr>
          <p:cNvSpPr txBox="1">
            <a:spLocks/>
          </p:cNvSpPr>
          <p:nvPr/>
        </p:nvSpPr>
        <p:spPr>
          <a:xfrm>
            <a:off x="1434558" y="3837647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BF7A812F-73CB-FD4B-9E14-E4C0C692CAF7}"/>
              </a:ext>
            </a:extLst>
          </p:cNvPr>
          <p:cNvSpPr txBox="1">
            <a:spLocks/>
          </p:cNvSpPr>
          <p:nvPr/>
        </p:nvSpPr>
        <p:spPr>
          <a:xfrm>
            <a:off x="1434558" y="1749140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B11FBB5-A285-FC0D-C94C-1596C1FC82ED}"/>
              </a:ext>
            </a:extLst>
          </p:cNvPr>
          <p:cNvCxnSpPr/>
          <p:nvPr/>
        </p:nvCxnSpPr>
        <p:spPr>
          <a:xfrm>
            <a:off x="3750376" y="5592795"/>
            <a:ext cx="0" cy="505836"/>
          </a:xfrm>
          <a:prstGeom prst="line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7D84826F-CF4C-C357-EBDC-BF8E26267DA1}"/>
              </a:ext>
            </a:extLst>
          </p:cNvPr>
          <p:cNvSpPr txBox="1">
            <a:spLocks/>
          </p:cNvSpPr>
          <p:nvPr/>
        </p:nvSpPr>
        <p:spPr>
          <a:xfrm>
            <a:off x="-238812" y="1665761"/>
            <a:ext cx="3485419" cy="4537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AU" sz="1200" b="1" dirty="0">
                <a:solidFill>
                  <a:srgbClr val="05002E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Type II CC-SNe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rgbClr val="05002E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ONe WD or EC-SNe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&gt; 80 MK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rgbClr val="05002E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Hybrid C/O + ONe WD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70-80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50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40-50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40-50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300 MK</a:t>
            </a:r>
          </a:p>
          <a:p>
            <a:pPr marL="0" indent="0" algn="r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source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100 MK </a:t>
            </a:r>
          </a:p>
          <a:p>
            <a:pPr marL="0" indent="0" algn="r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episodes</a:t>
            </a:r>
          </a:p>
          <a:p>
            <a:pPr marL="0" indent="0" algn="r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pulses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C/O WD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He WD</a:t>
            </a:r>
            <a:endParaRPr lang="en-AU" sz="12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b="1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r">
              <a:buFont typeface="Arial" panose="020B0604020202020204" pitchFamily="34" charset="0"/>
              <a:buNone/>
            </a:pPr>
            <a:endParaRPr lang="en-US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67694EFA-91CA-F1BC-9C85-2A00783E5ECF}"/>
              </a:ext>
            </a:extLst>
          </p:cNvPr>
          <p:cNvSpPr txBox="1">
            <a:spLocks/>
          </p:cNvSpPr>
          <p:nvPr/>
        </p:nvSpPr>
        <p:spPr>
          <a:xfrm rot="16200000">
            <a:off x="1476741" y="3632699"/>
            <a:ext cx="4197505" cy="4303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1400" b="1" i="1" dirty="0">
                <a:solidFill>
                  <a:schemeClr val="bg1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Increasing mass </a:t>
            </a:r>
            <a:r>
              <a:rPr lang="en-AU" sz="1400" i="1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(thresholds vary with metallicity)</a:t>
            </a:r>
            <a:endParaRPr lang="en-US" sz="1400" i="1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350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56BEE-43EA-1232-41D4-7169FE241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21C404A2-846F-9687-26A6-8C583CBDFC76}"/>
              </a:ext>
            </a:extLst>
          </p:cNvPr>
          <p:cNvSpPr txBox="1">
            <a:spLocks/>
          </p:cNvSpPr>
          <p:nvPr/>
        </p:nvSpPr>
        <p:spPr>
          <a:xfrm>
            <a:off x="3803471" y="1666067"/>
            <a:ext cx="7621799" cy="4537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Type II core collapse supernovae progenitors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Ignite central carbon on the early AGB [</a:t>
            </a:r>
            <a:r>
              <a:rPr lang="en-AU" sz="1200" i="1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super AGBs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]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sustain Mg-Al &amp; Ne-Na chains at the base of the envelope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Ignite carbon off-centre on the early AGB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… full CNO cycle at the base of the envelope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… CN cycle at the base of the envelope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can sustain p-p chains at base of the convective envelope during interpulse periods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during third dredge up are too high to preserve </a:t>
            </a:r>
            <a:r>
              <a:rPr lang="en-AU" sz="12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pocket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Temperatures reached to activate </a:t>
            </a:r>
            <a:r>
              <a:rPr lang="en-AU" sz="12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22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Ne neutron source during thermal pulses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Peak neutron exposure from </a:t>
            </a:r>
            <a:r>
              <a:rPr lang="en-AU" sz="12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neutron source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Can form a </a:t>
            </a:r>
            <a:r>
              <a:rPr lang="en-AU" sz="12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pocket during third dredge up &amp; reach temperatures to activate </a:t>
            </a:r>
            <a:r>
              <a:rPr lang="en-AU" sz="12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 source during interpulse periods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Minimum mass to undergo third dredge up mixing episodes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Massive enough to undergo more than 5 thermal pulses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Minimum core mass to enter the thermally pulsing AGB</a:t>
            </a:r>
          </a:p>
          <a:p>
            <a:pPr marL="0" indent="0">
              <a:buNone/>
            </a:pPr>
            <a:r>
              <a:rPr lang="en-AU" sz="12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Below here, stars only enter the early AGB</a:t>
            </a: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12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36EAF44-8C1E-6D03-AB6E-17EAF2445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M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ZAMS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&amp; 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vs the Thermal Pulse Cycle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A6347F5-1CC1-4E9B-8DFC-0570030DF0F6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2A29FD8-A21D-B34D-ADA5-A3FA4ACD4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895F42A-D31C-4975-5077-CD89C3254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BDAF1F3-33F8-D4D1-3AB6-6CAD4694B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15FBE66-5BEE-957C-1E92-D6787C0FF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EA73D4E-08C7-453D-F4A7-7F8260E4E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50E14023-4A3E-DE7A-B4F7-BC0C0EA66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14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A2DD399-BBF0-B9ED-A2D0-CF5F7D3C33B6}"/>
              </a:ext>
            </a:extLst>
          </p:cNvPr>
          <p:cNvCxnSpPr>
            <a:cxnSpLocks/>
          </p:cNvCxnSpPr>
          <p:nvPr/>
        </p:nvCxnSpPr>
        <p:spPr>
          <a:xfrm flipV="1">
            <a:off x="3750376" y="1707100"/>
            <a:ext cx="0" cy="4094610"/>
          </a:xfrm>
          <a:prstGeom prst="straightConnector1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86830A2-EB85-3E36-0040-586492C4EDFB}"/>
              </a:ext>
            </a:extLst>
          </p:cNvPr>
          <p:cNvSpPr txBox="1">
            <a:spLocks/>
          </p:cNvSpPr>
          <p:nvPr/>
        </p:nvSpPr>
        <p:spPr>
          <a:xfrm>
            <a:off x="1434558" y="4726749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306A421-D101-0968-5B0D-028057FE2464}"/>
              </a:ext>
            </a:extLst>
          </p:cNvPr>
          <p:cNvSpPr txBox="1">
            <a:spLocks/>
          </p:cNvSpPr>
          <p:nvPr/>
        </p:nvSpPr>
        <p:spPr>
          <a:xfrm>
            <a:off x="1434558" y="3837647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00E54144-BE84-CFA6-DCA6-E0C3866B23BB}"/>
              </a:ext>
            </a:extLst>
          </p:cNvPr>
          <p:cNvSpPr txBox="1">
            <a:spLocks/>
          </p:cNvSpPr>
          <p:nvPr/>
        </p:nvSpPr>
        <p:spPr>
          <a:xfrm>
            <a:off x="1434558" y="1749140"/>
            <a:ext cx="6018028" cy="387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AU" sz="20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16FF16E-8548-012F-1E0B-45308936309F}"/>
              </a:ext>
            </a:extLst>
          </p:cNvPr>
          <p:cNvCxnSpPr/>
          <p:nvPr/>
        </p:nvCxnSpPr>
        <p:spPr>
          <a:xfrm>
            <a:off x="3750376" y="5592795"/>
            <a:ext cx="0" cy="505836"/>
          </a:xfrm>
          <a:prstGeom prst="line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B259D1B0-2E36-6C66-383A-88E04F45CC50}"/>
              </a:ext>
            </a:extLst>
          </p:cNvPr>
          <p:cNvSpPr txBox="1">
            <a:spLocks/>
          </p:cNvSpPr>
          <p:nvPr/>
        </p:nvSpPr>
        <p:spPr>
          <a:xfrm>
            <a:off x="-238812" y="1665761"/>
            <a:ext cx="3485419" cy="4537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AU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Type II CC-SNe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ONe WD or EC-SNe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&gt; 80 MK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Hybrid C/O + ONe WD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70-80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50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40-50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40-50 MK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300 MK</a:t>
            </a:r>
          </a:p>
          <a:p>
            <a:pPr marL="0" indent="0" algn="r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source</a:t>
            </a:r>
          </a:p>
          <a:p>
            <a:pPr marL="0" indent="0" algn="r">
              <a:buNone/>
            </a:pPr>
            <a:r>
              <a:rPr lang="en-AU" sz="12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100 MK </a:t>
            </a:r>
          </a:p>
          <a:p>
            <a:pPr marL="0" indent="0" algn="r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episodes</a:t>
            </a:r>
          </a:p>
          <a:p>
            <a:pPr marL="0" indent="0" algn="r">
              <a:buNone/>
            </a:pPr>
            <a:r>
              <a:rPr lang="en-AU" sz="1200" dirty="0">
                <a:solidFill>
                  <a:srgbClr val="05002E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pulses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C/O WD</a:t>
            </a:r>
          </a:p>
          <a:p>
            <a:pPr marL="0" indent="0" algn="r">
              <a:buNone/>
            </a:pPr>
            <a:r>
              <a:rPr lang="en-AU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He WD</a:t>
            </a:r>
            <a:endParaRPr lang="en-AU" sz="12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r">
              <a:buNone/>
            </a:pPr>
            <a:endParaRPr lang="en-AU" sz="1200" b="1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r">
              <a:buFont typeface="Arial" panose="020B0604020202020204" pitchFamily="34" charset="0"/>
              <a:buNone/>
            </a:pPr>
            <a:endParaRPr lang="en-US" sz="1200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626BB4BA-14DE-261A-12E4-6800B92713B2}"/>
              </a:ext>
            </a:extLst>
          </p:cNvPr>
          <p:cNvSpPr txBox="1">
            <a:spLocks/>
          </p:cNvSpPr>
          <p:nvPr/>
        </p:nvSpPr>
        <p:spPr>
          <a:xfrm rot="16200000">
            <a:off x="1476741" y="3632699"/>
            <a:ext cx="4197505" cy="4303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1400" b="1" i="1" dirty="0">
                <a:solidFill>
                  <a:schemeClr val="bg1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Increasing mass </a:t>
            </a:r>
            <a:r>
              <a:rPr lang="en-AU" sz="1400" i="1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(thresholds vary with metallicity)</a:t>
            </a:r>
            <a:endParaRPr lang="en-US" sz="1400" i="1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899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83C26-72CA-F472-3C82-D3FB5D55C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C0577E-730A-BCAF-2F40-F213820CB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ZAMS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&amp; </a:t>
            </a:r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vs the Thermal Pulse Cycle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62A00E2-05E0-55C6-0EEC-BA39519A423C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5C5B214-CC09-4E12-805B-32ADD35D4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B734B8D-24B8-9C56-F916-A327C885D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015E273-A0AA-5386-7D1D-55FE469F9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D470D1A-A925-DC2A-3946-56E546FA0C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E85CB49-2D58-F386-A1A0-3271AAC0C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095DA2BC-7379-6DFF-CCFE-7CEE122AC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15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96EE115-A71A-29A9-62C7-6B3F01E56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728" y="1891104"/>
            <a:ext cx="9254437" cy="3818264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6AD22AD-41AF-3B2D-719A-14C956FF88F4}"/>
              </a:ext>
            </a:extLst>
          </p:cNvPr>
          <p:cNvSpPr txBox="1">
            <a:spLocks/>
          </p:cNvSpPr>
          <p:nvPr/>
        </p:nvSpPr>
        <p:spPr>
          <a:xfrm>
            <a:off x="2133787" y="2754604"/>
            <a:ext cx="4412181" cy="6518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Campbell &amp; Lattanzio 2008 (A&amp;A): </a:t>
            </a:r>
            <a:r>
              <a:rPr lang="en-AU" sz="1000" i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</a:t>
            </a:r>
            <a:r>
              <a:rPr lang="en-AU" sz="1000" baseline="-25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i </a:t>
            </a: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= 0, -6.5 ≤ [Fe/H] ≤ -3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et al. 2018 (MNRAS): [Fe/H] = -0.7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2010 (MNRAS): -2.15 ≤ [Fe/H] ≤ +0.15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2E0FF9C-2440-05AB-1BCE-56CEB3ED516F}"/>
              </a:ext>
            </a:extLst>
          </p:cNvPr>
          <p:cNvSpPr txBox="1">
            <a:spLocks/>
          </p:cNvSpPr>
          <p:nvPr/>
        </p:nvSpPr>
        <p:spPr>
          <a:xfrm>
            <a:off x="6376854" y="2751049"/>
            <a:ext cx="3763892" cy="828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&amp; Lugaro 2016 (ApJ): -0.3 ≤ [Fe/H] ≤ +0.15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Cinquegrana &amp; Karakas 2022 (MNRAS): +0.46 ≤ [Fe/H] ≤ +0.85</a:t>
            </a:r>
          </a:p>
          <a:p>
            <a:pPr marL="0" indent="0"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319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66803-0303-3361-337C-AABC6A65D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6ED17C8-7487-6BBF-A151-549DC61D5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</a:t>
            </a:r>
            <a:r>
              <a:rPr lang="en-US" b="1" baseline="-25000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ZAMS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&amp; </a:t>
            </a:r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vs the Thermal Pulse Cycle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38A86A5-1BCC-E912-975D-6A094E20050B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4819F9C-6006-8A5A-5886-E6356D5B7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7FAFF20-FE0D-4629-BB83-17BEA730D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45AF30E-A52D-890E-59F1-1D1902458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8DF2AAC-8F55-1664-8309-CB13FDC78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2939DC4-F66F-3DCC-A9AC-66AA1D922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62CB86-1204-46E0-5F89-0D8B96380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16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F0AB04B-CA10-604A-21ED-6BAE3CD2004A}"/>
              </a:ext>
            </a:extLst>
          </p:cNvPr>
          <p:cNvCxnSpPr/>
          <p:nvPr/>
        </p:nvCxnSpPr>
        <p:spPr>
          <a:xfrm>
            <a:off x="6564085" y="5502729"/>
            <a:ext cx="2367643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9DD2AA38-95E4-CAD9-1369-4C9E758AB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728" y="1891104"/>
            <a:ext cx="9254437" cy="3818264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0CF43C8-DE18-883D-89C7-3177C53AECA8}"/>
              </a:ext>
            </a:extLst>
          </p:cNvPr>
          <p:cNvSpPr txBox="1">
            <a:spLocks/>
          </p:cNvSpPr>
          <p:nvPr/>
        </p:nvSpPr>
        <p:spPr>
          <a:xfrm>
            <a:off x="2133787" y="2754604"/>
            <a:ext cx="4412181" cy="6518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Campbell &amp; Lattanzio 2008 (A&amp;A): </a:t>
            </a:r>
            <a:r>
              <a:rPr lang="en-AU" sz="1000" i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</a:t>
            </a:r>
            <a:r>
              <a:rPr lang="en-AU" sz="1000" baseline="-25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i </a:t>
            </a: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= 0, -6.5 ≤ [Fe/H] ≤ -3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et al. 2018 (MNRAS): [Fe/H] = -0.7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2010 (MNRAS): -2.15 ≤ [Fe/H] ≤ +0.15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2C15C5B-F563-3AE2-8BE1-45C47D500E0B}"/>
              </a:ext>
            </a:extLst>
          </p:cNvPr>
          <p:cNvSpPr txBox="1">
            <a:spLocks/>
          </p:cNvSpPr>
          <p:nvPr/>
        </p:nvSpPr>
        <p:spPr>
          <a:xfrm>
            <a:off x="6376854" y="2751049"/>
            <a:ext cx="3763892" cy="828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&amp; Lugaro 2016 (ApJ): -0.3 ≤ [Fe/H] ≤ +0.15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Cinquegrana &amp; Karakas 2022 (MNRAS): +0.46 ≤ [Fe/H] ≤ +0.85</a:t>
            </a:r>
          </a:p>
          <a:p>
            <a:pPr marL="0" indent="0"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037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F2836-CBED-9247-59DA-E3E6F7405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60EB527-501B-1EEF-1324-9EEEC9D15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</a:t>
            </a:r>
            <a:r>
              <a:rPr lang="en-US" b="1" baseline="-25000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ZAMS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&amp; </a:t>
            </a:r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vs the Thermal Pulse Cycle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127F617-3B88-AC68-B44F-81BFE736E3C8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99A7531-8E4B-3927-3B08-98FBD8510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2A0823D-C5FE-BE31-2742-50C786AB3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3465540-BE27-2350-3948-0841DE6A7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FE8E0FD-51DC-D2A3-AC73-A6F5B4D7D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C34FAAA-5A62-8E96-E9A9-96F4DFCB85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E75A87EB-204A-9369-67E1-BC49FD185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17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EC1BBE-9450-BE94-F386-345801B471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6293" b="11256"/>
          <a:stretch>
            <a:fillRect/>
          </a:stretch>
        </p:blipFill>
        <p:spPr>
          <a:xfrm>
            <a:off x="1700448" y="1891104"/>
            <a:ext cx="4044859" cy="33884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6EEC66-A4F8-B387-A1DB-05613B8295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90943" b="17528"/>
          <a:stretch>
            <a:fillRect/>
          </a:stretch>
        </p:blipFill>
        <p:spPr>
          <a:xfrm>
            <a:off x="868947" y="1891104"/>
            <a:ext cx="838147" cy="31489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09D62D-523F-E43C-8553-EF7E3B56F3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8746" t="88744" r="41523" b="58"/>
          <a:stretch>
            <a:fillRect/>
          </a:stretch>
        </p:blipFill>
        <p:spPr>
          <a:xfrm>
            <a:off x="3221650" y="5279571"/>
            <a:ext cx="900547" cy="42759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04293A5-28B5-6BC7-B751-D2D07A70BD41}"/>
              </a:ext>
            </a:extLst>
          </p:cNvPr>
          <p:cNvSpPr txBox="1">
            <a:spLocks/>
          </p:cNvSpPr>
          <p:nvPr/>
        </p:nvSpPr>
        <p:spPr>
          <a:xfrm>
            <a:off x="5826265" y="1967024"/>
            <a:ext cx="5556809" cy="51165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OPACITY (</a:t>
            </a:r>
            <a:r>
              <a:rPr lang="el-GR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κ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):</a:t>
            </a:r>
            <a:r>
              <a:rPr lang="en-AU" sz="2000" b="1" dirty="0">
                <a:solidFill>
                  <a:schemeClr val="bg1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↑ </a:t>
            </a:r>
            <a:r>
              <a:rPr lang="en-AU" sz="1600" i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Z</a:t>
            </a:r>
            <a:r>
              <a:rPr lang="en-AU" sz="1600" baseline="-25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→ ↑ </a:t>
            </a:r>
            <a:r>
              <a:rPr lang="el-GR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κ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→ energy escapes less efficiently → cooler, less luminous star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MEAN MOLECULAR WEIGHT (</a:t>
            </a:r>
            <a:r>
              <a:rPr lang="el-GR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μ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):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↑ </a:t>
            </a:r>
            <a:r>
              <a:rPr lang="en-AU" sz="1600" i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</a:t>
            </a:r>
            <a:r>
              <a:rPr lang="en-AU" sz="1600" baseline="-25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with </a:t>
            </a:r>
            <a:r>
              <a:rPr lang="en-AU" sz="1600" i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Z</a:t>
            </a:r>
            <a:r>
              <a:rPr lang="en-AU" sz="1600" baseline="-25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→ ↑ </a:t>
            </a:r>
            <a:r>
              <a:rPr lang="el-GR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μ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→ contraction and heating → hotter, more luminous star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ENERGY GENERATION RATES (</a:t>
            </a:r>
            <a:r>
              <a:rPr lang="el-GR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ϵ</a:t>
            </a:r>
            <a:r>
              <a:rPr lang="en-AU" sz="2000" b="1" baseline="-250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nuc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): 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Changes with composition and burning mode → alters core temperature, density and luminosity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MASS LOSS RATES: </a:t>
            </a:r>
            <a:r>
              <a:rPr lang="en-AU" sz="2000" b="1" dirty="0">
                <a:solidFill>
                  <a:schemeClr val="bg1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↑ </a:t>
            </a:r>
            <a:r>
              <a:rPr lang="en-AU" sz="1600" i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Z</a:t>
            </a:r>
            <a:r>
              <a:rPr lang="en-AU" sz="1600" baseline="-25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→ stronger mass loss → lower stellar mass, changing the subsequent evolution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805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1834F-BDF3-DD0D-BFA4-3F88FE72C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1AA37C9-A8AC-E5B1-0028-219A879E0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&amp; Thermal Pulses</a:t>
            </a:r>
            <a:endParaRPr lang="en-US" b="1" baseline="-25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AFBEF4-0A98-1549-9137-E2CC3008C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32607"/>
            <a:ext cx="5083760" cy="3963059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AF47944-B282-4B91-E2AB-D464429C2C55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6928394-C704-6AEE-5441-96BD7326E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D35913C-667E-A2CF-075E-2AE586CE9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402D127-6381-C682-DA98-AD1ACFD44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AFB9EEC-7EE8-5991-2516-83E15C4E7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DA46179-3C68-5746-58E2-191B57F18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254C2355-BF5E-D77D-BF89-B58E1A16E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18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9FA4D6C-39F6-B2C2-085F-CB8D7A318452}"/>
              </a:ext>
            </a:extLst>
          </p:cNvPr>
          <p:cNvSpPr txBox="1">
            <a:spLocks/>
          </p:cNvSpPr>
          <p:nvPr/>
        </p:nvSpPr>
        <p:spPr>
          <a:xfrm>
            <a:off x="5921960" y="1925697"/>
            <a:ext cx="5768446" cy="4432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000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d/r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 He-burning shell's thickness over its outer radius — across the TP-AGB (t₀ to t₀+</a:t>
            </a:r>
            <a:r>
              <a:rPr lang="en-AU" sz="1600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Δt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), for models spanning 2.1 Z⊙ down to 1/4.3 Z⊙.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STABILITY CRITERION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 shell is thermally unstable (can trigger a pulse) when d/r &lt; </a:t>
            </a:r>
            <a:r>
              <a:rPr lang="en-AU" sz="1600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χ_ρ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/4, which for an ideal gas gives d/r ≲ 1/4 — the dashed line marks this threshold.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METALLICITY PATTERN:</a:t>
            </a:r>
            <a:r>
              <a:rPr lang="en-AU" sz="2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higher-Z models sustain a thicker shell (higher, longer-lived d/r) across more pulses; lower-Z models thin faster and drop below the threshold earlier in the TP-AGB. lower metallicity means lower opacity and a more compact, higher-density core/shell structure, so the He shell burns down and thins relative to its radius more rapidly, driving d/r below 1/4 sooner.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468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48C228A-2DF8-AB42-8E48-9354D9ACE301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315DDBE-4FE4-A8A4-96AC-9D0F74301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F28B769-83EF-0C5C-0BDE-8E97721FD5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B4AE44C-B078-47F7-3279-F9C3F020B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458CF27-A24A-12F8-717D-E470BC61D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10989F8-CC16-0926-2B41-CE31D5703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F4A04091-3348-DA8B-3C06-8E693FC50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19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3D3E727-A7DE-2D5F-884E-0D49DDF18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&amp; Third Dredge Up</a:t>
            </a:r>
            <a:endParaRPr lang="en-US" b="1" baseline="-25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D0C193D-E082-0D5E-7E1E-02E6840019A2}"/>
              </a:ext>
            </a:extLst>
          </p:cNvPr>
          <p:cNvSpPr txBox="1">
            <a:spLocks/>
          </p:cNvSpPr>
          <p:nvPr/>
        </p:nvSpPr>
        <p:spPr>
          <a:xfrm>
            <a:off x="5921959" y="1952985"/>
            <a:ext cx="5556809" cy="30647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METALLICITY CONTROLS TDU: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He-burning shell becomes thermally unstable. A brief flash from the He-shell drives a convective zone through the intershell.</a:t>
            </a:r>
          </a:p>
          <a:p>
            <a:pPr marL="0" indent="0">
              <a:buNone/>
            </a:pPr>
            <a:endParaRPr lang="en-AU" sz="5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CARBON ENRICHMENT</a:t>
            </a:r>
            <a:r>
              <a:rPr lang="en-AU" sz="1600" b="1" dirty="0">
                <a:solidFill>
                  <a:schemeClr val="bg1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: 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At low </a:t>
            </a:r>
            <a:r>
              <a:rPr lang="en-AU" sz="1600" i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Z</a:t>
            </a:r>
            <a:r>
              <a:rPr lang="en-AU" sz="1600" baseline="-25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, less initial oxygen means less carbon is needed to reach C/O &gt;1.</a:t>
            </a:r>
          </a:p>
          <a:p>
            <a:pPr marL="0" indent="0">
              <a:buNone/>
            </a:pPr>
            <a:endParaRPr lang="en-AU" sz="5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DOUBLE EFFECT: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Low metallicity both enhances dredge-up and makes carbon-star formation easier; at high Z, TDU is weaker while more carbon is required.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2000" b="1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B60220C-6A03-BACC-47DD-EF76243095CA}"/>
              </a:ext>
            </a:extLst>
          </p:cNvPr>
          <p:cNvSpPr txBox="1">
            <a:spLocks/>
          </p:cNvSpPr>
          <p:nvPr/>
        </p:nvSpPr>
        <p:spPr>
          <a:xfrm>
            <a:off x="1935126" y="3111170"/>
            <a:ext cx="2331106" cy="5758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rgbClr val="FFFF00"/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FIND FIGURE</a:t>
            </a:r>
          </a:p>
        </p:txBody>
      </p:sp>
    </p:spTree>
    <p:extLst>
      <p:ext uri="{BB962C8B-B14F-4D97-AF65-F5344CB8AC3E}">
        <p14:creationId xmlns:p14="http://schemas.microsoft.com/office/powerpoint/2010/main" val="796312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31AB5-2128-0029-16F2-D7CEE7ED4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6EF09-E6BB-99FD-FD49-9AAAAA462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&amp; Hot Bottom Burning</a:t>
            </a:r>
            <a:endParaRPr lang="en-US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686727-4823-CB28-25DA-6D72DED50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356" y="1685672"/>
            <a:ext cx="4011389" cy="396305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E343933-3E06-5D54-AE0F-4E3AA180A604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C1CBF1E-B35C-F168-C96A-DEEB74D3A6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B758D8C-FB25-92F3-0670-C63D67A1A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2D5CC6B-E365-76A9-80A9-970C16876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C86C7DC-3FD3-8E3F-9106-C4DEB0857D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520D6E4-15D5-6085-75FD-4645968D9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5F71829-D0A3-7038-C1ED-4787962AE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1CF778D-CC8C-7A1B-434B-B7A47AEFC09C}"/>
              </a:ext>
            </a:extLst>
          </p:cNvPr>
          <p:cNvSpPr txBox="1">
            <a:spLocks/>
          </p:cNvSpPr>
          <p:nvPr/>
        </p:nvSpPr>
        <p:spPr>
          <a:xfrm>
            <a:off x="5921959" y="1953335"/>
            <a:ext cx="5556809" cy="34933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HIGHER Zi 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  <a:sym typeface="Wingdings" pitchFamily="2" charset="2"/>
              </a:rPr>
              <a:t> COOLER HBB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At fixed initial mass, the maximum temperature at the base of the convective envelope generally decreases with increasing metallicity.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5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MASS THRESHOLD SHIFTS: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HBB therefore requires higher initial masses at higher $Z$, with the hottest, most massive models reaching the strongest H-burning conditions.</a:t>
            </a:r>
          </a:p>
          <a:p>
            <a:pPr marL="0" indent="0">
              <a:buNone/>
            </a:pPr>
            <a:endParaRPr lang="en-AU" sz="5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NUCLEOSYNTHESIS CHANGES:</a:t>
            </a:r>
            <a:r>
              <a:rPr lang="en-AU" sz="2000" b="1" dirty="0">
                <a:solidFill>
                  <a:schemeClr val="bg1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As </a:t>
            </a:r>
            <a:r>
              <a:rPr lang="en-AU" sz="1600" i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</a:t>
            </a:r>
            <a:r>
              <a:rPr lang="en-AU" sz="1600" baseline="-25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BCE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increases, burning at the base of the connective envelope  progresses from CN cycling (</a:t>
            </a:r>
            <a:r>
              <a:rPr lang="en-AU" sz="1600" dirty="0">
                <a:solidFill>
                  <a:schemeClr val="bg1"/>
                </a:solidFill>
              </a:rPr>
              <a:t>≥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50 MK) toward full CNO and Ne–Na/Mg–Al cycling (</a:t>
            </a:r>
            <a:r>
              <a:rPr lang="en-AU" sz="1600" dirty="0">
                <a:solidFill>
                  <a:schemeClr val="bg1"/>
                </a:solidFill>
              </a:rPr>
              <a:t>≥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MK).</a:t>
            </a:r>
            <a:endParaRPr lang="en-US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A5A019E-3341-E40B-498C-4B39FD56BD09}"/>
              </a:ext>
            </a:extLst>
          </p:cNvPr>
          <p:cNvSpPr txBox="1">
            <a:spLocks/>
          </p:cNvSpPr>
          <p:nvPr/>
        </p:nvSpPr>
        <p:spPr>
          <a:xfrm>
            <a:off x="4394225" y="3141050"/>
            <a:ext cx="2331106" cy="5758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rgbClr val="FFFF00"/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MAKE FIGURE WIDER</a:t>
            </a:r>
          </a:p>
        </p:txBody>
      </p:sp>
    </p:spTree>
    <p:extLst>
      <p:ext uri="{BB962C8B-B14F-4D97-AF65-F5344CB8AC3E}">
        <p14:creationId xmlns:p14="http://schemas.microsoft.com/office/powerpoint/2010/main" val="3536067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05FED-5BC4-5FA9-963E-279513AF5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B518D5D-AF8D-854F-B639-0743DF7C3358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AF4B331-5149-EA15-B6FC-404DD1D23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6A2829D-4963-2257-0C2E-8F28272DE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4A211F4-65F9-5FD6-F3BD-C79740CE1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7EFEA76-76E2-8A42-FD3A-FBB078819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66F00AE-490C-8D17-2F8B-E9F08F9A4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DB0469ED-F25E-56B5-7F23-DFA001CF5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21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655C92-166E-451B-7F5F-E93C773AFF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293" b="11256"/>
          <a:stretch>
            <a:fillRect/>
          </a:stretch>
        </p:blipFill>
        <p:spPr>
          <a:xfrm>
            <a:off x="1700448" y="1891104"/>
            <a:ext cx="4044859" cy="33884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562854-92A5-3CC6-5A9C-988F7C1872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0943" b="17528"/>
          <a:stretch>
            <a:fillRect/>
          </a:stretch>
        </p:blipFill>
        <p:spPr>
          <a:xfrm>
            <a:off x="868947" y="1891104"/>
            <a:ext cx="838147" cy="31489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4E755F4-CF2A-B5AE-44D0-9ABE671337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746" t="88744" r="41523" b="58"/>
          <a:stretch>
            <a:fillRect/>
          </a:stretch>
        </p:blipFill>
        <p:spPr>
          <a:xfrm>
            <a:off x="3221650" y="5279571"/>
            <a:ext cx="900547" cy="427590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F7DDDF9A-E13D-FDCC-B83B-9A0014317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&amp; </a:t>
            </a:r>
            <a:r>
              <a:rPr lang="en-AU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Opacity vs Mean Molecular Weight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A9B828E-8A1A-9F19-50D2-BD364FE718F8}"/>
              </a:ext>
            </a:extLst>
          </p:cNvPr>
          <p:cNvSpPr txBox="1">
            <a:spLocks/>
          </p:cNvSpPr>
          <p:nvPr/>
        </p:nvSpPr>
        <p:spPr>
          <a:xfrm>
            <a:off x="7081254" y="3141050"/>
            <a:ext cx="2331106" cy="5758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000" b="1" dirty="0">
                <a:solidFill>
                  <a:srgbClr val="FFFF00"/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finish</a:t>
            </a:r>
          </a:p>
        </p:txBody>
      </p:sp>
    </p:spTree>
    <p:extLst>
      <p:ext uri="{BB962C8B-B14F-4D97-AF65-F5344CB8AC3E}">
        <p14:creationId xmlns:p14="http://schemas.microsoft.com/office/powerpoint/2010/main" val="1818177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B8A7E-EA36-0BDD-F93C-ED01CE41A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54523B4-89D1-8BDF-7008-7FF3B4C25271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FB8F6B3-A726-0871-A0B2-5AEDE122B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3722E0F-023A-876F-AB3E-93775F4F4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6DE07BC-8315-A64F-73A8-F11EBA2E7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1C357E9-43F0-76D8-951C-2F02E7C96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29324C7-D102-120A-901A-C20F9CCE8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500853A-8650-AF90-09A2-C4F0141FF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22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AC6967F0-E12E-6774-00A2-768781EB8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&amp; Slow Neutron Capture Processes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4A3C404-C8F0-477F-E79A-F22BAFA54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86" y="1643180"/>
            <a:ext cx="9533314" cy="412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16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DBC08-8D85-0CDA-87BA-39111E545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80F415C-EEFD-B5B9-CCAC-2F1B6B379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728" y="1891104"/>
            <a:ext cx="9254437" cy="381826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161C85D-7971-BABF-C9E6-714D2ED22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</a:t>
            </a:r>
            <a:r>
              <a:rPr lang="en-US" b="1" baseline="-25000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ZAMS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&amp; </a:t>
            </a:r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i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vs the Thermal Pulse Cycle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26FCC16-B393-6CC2-3CAC-BEAEF280D0FC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A3D4AC9-6164-1478-5B71-5736E02F3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1CC20B1-49B7-FD52-C806-9B54B8FCF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85EDA12-2B1F-FD30-6256-C2F49B566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594B91F-5A04-D89F-AE75-AB1D90CE4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5020D9D-12D1-E841-0A2D-46FA3C8C7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A0D55316-C3D8-11AF-3F5B-D24E92D0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23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9C282AD-1837-5ED3-F920-C713AE0255C0}"/>
              </a:ext>
            </a:extLst>
          </p:cNvPr>
          <p:cNvCxnSpPr>
            <a:cxnSpLocks/>
          </p:cNvCxnSpPr>
          <p:nvPr/>
        </p:nvCxnSpPr>
        <p:spPr>
          <a:xfrm flipH="1">
            <a:off x="2807386" y="5502730"/>
            <a:ext cx="2580572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36E0BDC-BE68-CD2B-4D26-D2E1903DA848}"/>
              </a:ext>
            </a:extLst>
          </p:cNvPr>
          <p:cNvSpPr txBox="1">
            <a:spLocks/>
          </p:cNvSpPr>
          <p:nvPr/>
        </p:nvSpPr>
        <p:spPr>
          <a:xfrm>
            <a:off x="2133787" y="2754604"/>
            <a:ext cx="4412181" cy="6518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Campbell &amp; Lattanzio 2008 (A&amp;A): </a:t>
            </a:r>
            <a:r>
              <a:rPr lang="en-AU" sz="1000" i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</a:t>
            </a:r>
            <a:r>
              <a:rPr lang="en-AU" sz="1000" baseline="-25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i </a:t>
            </a: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= 0, -6.5 ≤ [Fe/H] ≤ -3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et al. 2018 (MNRAS): [Fe/H] = -0.7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2010 (MNRAS): -2.15 ≤ [Fe/H] ≤ +0.15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33A006C-E556-83B0-EBEB-D579F74360AF}"/>
              </a:ext>
            </a:extLst>
          </p:cNvPr>
          <p:cNvSpPr txBox="1">
            <a:spLocks/>
          </p:cNvSpPr>
          <p:nvPr/>
        </p:nvSpPr>
        <p:spPr>
          <a:xfrm>
            <a:off x="6376854" y="2751049"/>
            <a:ext cx="3763892" cy="828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&amp; Lugaro 2016 (ApJ): -0.3 ≤ [Fe/H] ≤ +0.15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Cinquegrana &amp; Karakas 2022 (MNRAS): +0.46 ≤ [Fe/H] ≤ +0.85</a:t>
            </a:r>
          </a:p>
          <a:p>
            <a:pPr marL="0" indent="0"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196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0CD1-89D4-C1CF-15A4-CCC9680DD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4D30-D4B3-E105-36C2-61CF51ED0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Proton Ingestion Episodes (PIEs)</a:t>
            </a:r>
            <a:endParaRPr lang="en-US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A04D690-9E3B-93EF-8D43-3AC52357667A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5EDEBDD-DF7B-3B14-8363-EC2330A9E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45E8E34-8B52-BB4F-43C4-B40D587A0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17B2530-AF4A-57F5-1FF0-3C1831E82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8FB06F9-989C-E67A-3C2C-8DAA4DC66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1FBB967-1FB9-FC64-8BE0-68ED17FDEE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059D725F-C235-817C-0FF3-BF2F0D4A1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24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D3FA2E1-A887-3376-DFB9-DA60D5C901E8}"/>
              </a:ext>
            </a:extLst>
          </p:cNvPr>
          <p:cNvSpPr txBox="1">
            <a:spLocks/>
          </p:cNvSpPr>
          <p:nvPr/>
        </p:nvSpPr>
        <p:spPr>
          <a:xfrm>
            <a:off x="5921959" y="1827604"/>
            <a:ext cx="5556809" cy="4893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LOW METALLICITY: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In </a:t>
            </a:r>
            <a:r>
              <a:rPr lang="en-AU" sz="1600" i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Z</a:t>
            </a:r>
            <a:r>
              <a:rPr lang="en-AU" sz="1600" baseline="-25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=0 and EMP stars, the He-burning convection zone can reach into the H-rich layer, mixing protons into hot He-burning material. Without CNO catalysts, H burning relies on the slower pp chains, producing a cooler, more diffuse H shell and a weaker entropy barrier to He-flash convection.</a:t>
            </a:r>
          </a:p>
          <a:p>
            <a:pPr marL="0" indent="0">
              <a:buNone/>
            </a:pPr>
            <a:endParaRPr lang="en-AU" sz="5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MULTIPLE SITES: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Proton ingestion can occur at different evolutionary stages and in different stellar environments. Two well-known cases are the Dual Core Flash (DCF) during the RGB core-He flash and the Dual Shell Flash (DSF) during the early TP-AGB in intermediate-mass stars.</a:t>
            </a:r>
          </a:p>
          <a:p>
            <a:pPr marL="0" indent="0">
              <a:buNone/>
            </a:pPr>
            <a:endParaRPr lang="en-AU" sz="5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RUNAWAY FEEDBACK: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Ingested protons react with abundant </a:t>
            </a: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12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C, triggering </a:t>
            </a: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13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 production and an H-burning flash. The additional energy can drive further proton ingestion before the convective region eventually splits into separate H- and He-burning zones.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136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FDB35-96BE-8EFD-82C3-B5871C76A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9B976-9B7D-BB05-B7E9-7C72C81D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Nucleosynthesis during PIEs</a:t>
            </a:r>
            <a:endParaRPr lang="en-US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B084611-1062-E040-818A-1D135C59084A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4EC3622-10F2-D6E6-F3EA-6CF049D1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EEB5BC9-0865-BFF9-BD57-51F0354AD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2798FA1-D506-4B36-ED03-E2043D66E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461D2D5-AF5A-822B-3EBA-E31D6FF58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F38001D-4634-533A-D207-36556A19C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AB00E152-EEC3-DAD2-33A5-44DA664A5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3823E9-E468-8BC1-6068-4ED38A7387AB}"/>
              </a:ext>
            </a:extLst>
          </p:cNvPr>
          <p:cNvSpPr txBox="1">
            <a:spLocks/>
          </p:cNvSpPr>
          <p:nvPr/>
        </p:nvSpPr>
        <p:spPr>
          <a:xfrm>
            <a:off x="5921959" y="1827604"/>
            <a:ext cx="5556809" cy="4893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000" b="1" baseline="30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16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O PRODUCTION: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 </a:t>
            </a: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12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C(</a:t>
            </a:r>
            <a:r>
              <a:rPr lang="en-AU" sz="1600" dirty="0" err="1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p,</a:t>
            </a:r>
            <a:r>
              <a:rPr lang="en-AU" sz="1600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γ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)</a:t>
            </a: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N(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β</a:t>
            </a: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+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)</a:t>
            </a: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13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C(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α,n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)</a:t>
            </a: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16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O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converts most of the He-flash ¹²C into ¹⁶O. This is a key signature distinguishing PIE pollution from ordinary 3DUP.</a:t>
            </a:r>
          </a:p>
          <a:p>
            <a:pPr marL="0" indent="0">
              <a:buNone/>
            </a:pPr>
            <a:endParaRPr lang="en-AU" sz="5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CNO EQUILIBRIUM: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 competing channel builds ¹⁴N via the CN cycle, leaving diagnostic ¹²C/¹³C ratios as low as ~4–5.</a:t>
            </a:r>
            <a:r>
              <a:rPr lang="en-AU" sz="2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 </a:t>
            </a:r>
            <a:endParaRPr lang="en-US" sz="20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5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ea typeface="Cambria Math" panose="02040503050406030204" pitchFamily="18" charset="0"/>
              <a:cs typeface="Segoe UI Semibold" panose="020B07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FREE NEUTRON RELEASE: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 same ¹³C(α,n)¹⁶O reaction liberates neutrons (Y</a:t>
            </a:r>
            <a:r>
              <a:rPr lang="en-AU" sz="1600" baseline="-25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~ 10⁻¹³–10⁻¹⁶). With ¹⁴N still scarce in this metal-poor material, the usual neutron poison is weak.</a:t>
            </a:r>
            <a:r>
              <a:rPr lang="en-AU" sz="2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 </a:t>
            </a:r>
            <a:endParaRPr lang="en-US" sz="20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5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ea typeface="Cambria Math" panose="02040503050406030204" pitchFamily="18" charset="0"/>
              <a:cs typeface="Segoe UI Semibold" panose="020B07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HEAVY-ELEMENT</a:t>
            </a:r>
            <a:r>
              <a:rPr lang="en-AU" sz="2000" b="1" baseline="30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 </a:t>
            </a: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NUCLEOSYNTHESIS: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Suppressed poisoning allows captures onto heavier nuclei (Sr, Ba, Pb), making PIEs a candidate s-/</a:t>
            </a:r>
            <a:r>
              <a:rPr lang="en-AU" sz="1600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-process site in the early universe.</a:t>
            </a:r>
            <a:r>
              <a:rPr lang="en-AU" sz="2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 </a:t>
            </a:r>
            <a:endParaRPr lang="en-US" sz="20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7827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B60E9-77A9-388E-280E-7DA5C1BE5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E2F06-B56E-BFE5-013A-AA573765A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Carbon Yields Across </a:t>
            </a:r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ZAMS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&amp; </a:t>
            </a:r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endParaRPr lang="en-US" b="1" baseline="-25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0BEAAF8-A8B9-8957-5C87-9E534AE94531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8B4845E-8899-8122-09AE-9603AABBA5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87E6578-84AC-F7B5-91E8-4D86B4809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01E8C9F-36A0-04CB-20A2-652B5F871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A8F09D2-8FF6-4B76-FD6B-D2D6F9DD35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F94D4A4-6CDE-D2EE-1B40-7F932A145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1B3F31D4-52B0-2078-C0D7-5110B6CD1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2629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26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BCDE92F-6AF1-C148-53FA-E798F5787380}"/>
              </a:ext>
            </a:extLst>
          </p:cNvPr>
          <p:cNvSpPr txBox="1">
            <a:spLocks/>
          </p:cNvSpPr>
          <p:nvPr/>
        </p:nvSpPr>
        <p:spPr>
          <a:xfrm>
            <a:off x="2105565" y="4914618"/>
            <a:ext cx="4412181" cy="1325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Gil-Pons et al. 2022 (A&amp;A):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AU" sz="1000" baseline="30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-10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≤ [Fe/H] ≤ 10</a:t>
            </a:r>
            <a:r>
              <a:rPr lang="en-AU" sz="1000" baseline="30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-6</a:t>
            </a: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Gil-Pons et al. 2021 (A&amp;A):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[Fe/H] = -3.15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Campbell &amp; Lattanzio 2008 (A&amp;A): </a:t>
            </a:r>
            <a:r>
              <a:rPr lang="en-AU" sz="10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</a:t>
            </a:r>
            <a:r>
              <a:rPr lang="en-AU" sz="1000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i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= 0, -6.5 ≤ [Fe/H] ≤ -3</a:t>
            </a: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Doherty et al. 2014a,b (MNRAS):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-2.15 ≤ [Fe/H] ≤ +0.15</a:t>
            </a: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AF5BE-223E-82F3-EE63-F9D95BDCF109}"/>
              </a:ext>
            </a:extLst>
          </p:cNvPr>
          <p:cNvSpPr txBox="1">
            <a:spLocks/>
          </p:cNvSpPr>
          <p:nvPr/>
        </p:nvSpPr>
        <p:spPr>
          <a:xfrm>
            <a:off x="6042209" y="4914345"/>
            <a:ext cx="3763892" cy="828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2010 (MNRAS):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-2.15 ≤ [Fe/H] ≤ +0.15</a:t>
            </a:r>
          </a:p>
          <a:p>
            <a:pPr marL="0" indent="0" algn="r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et al. 2018 (MNRAS):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[Fe/H] = -0.7</a:t>
            </a: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r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&amp; Lugaro 2016 (ApJ):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-0.3 ≤ [Fe/H] ≤ +0.15</a:t>
            </a: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r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Cinquegrana &amp; Karakas 2022 (MNRAS):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+0.46 ≤ [Fe/H] ≤ +0.85</a:t>
            </a:r>
          </a:p>
          <a:p>
            <a:pPr marL="0" indent="0" algn="r">
              <a:buNone/>
            </a:pPr>
            <a:endParaRPr lang="en-AU" sz="1000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r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DF2AAB2-6471-259F-79A4-B00C8F8C81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3208" y="1479633"/>
            <a:ext cx="9610823" cy="382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1269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1A3BA-E737-083E-EDAD-02BF12DA7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89279-AA8E-9656-CAB2-54AA1A7C8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Nitrogen Yields Across </a:t>
            </a:r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ZAMS</a:t>
            </a:r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&amp; </a:t>
            </a:r>
            <a:r>
              <a:rPr lang="en-US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Z</a:t>
            </a:r>
            <a:r>
              <a:rPr lang="en-US" b="1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</a:t>
            </a:r>
            <a:endParaRPr lang="en-US" b="1" baseline="-25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3758227-1071-6FE7-2272-8F4875173CAA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7D9469E-D956-A190-C39D-C289F61C5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23E9161-68E9-363F-AEBE-F849A9204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00C4E23-74A6-7405-4B41-E44C3EC56D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E9D46B6-5FC5-17C9-FFEF-4804DD8EC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B405251-7649-6772-83E5-C153A816F2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A5AE1A8E-EE90-B6D5-3CD6-8A57E58FB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2629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27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EC92638-FE87-F981-9670-76F661044B48}"/>
              </a:ext>
            </a:extLst>
          </p:cNvPr>
          <p:cNvSpPr txBox="1">
            <a:spLocks/>
          </p:cNvSpPr>
          <p:nvPr/>
        </p:nvSpPr>
        <p:spPr>
          <a:xfrm>
            <a:off x="2105565" y="4914618"/>
            <a:ext cx="4412181" cy="1325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Gil-Pons et al. 2022 (A&amp;A):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AU" sz="1000" baseline="30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-10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≤ [Fe/H] ≤ 10</a:t>
            </a:r>
            <a:r>
              <a:rPr lang="en-AU" sz="1000" baseline="30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-6</a:t>
            </a: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Gil-Pons et al. 2021 (A&amp;A):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[Fe/H] = -3.15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Campbell &amp; Lattanzio 2008 (A&amp;A): </a:t>
            </a:r>
            <a:r>
              <a:rPr lang="en-AU" sz="10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</a:t>
            </a:r>
            <a:r>
              <a:rPr lang="en-AU" sz="1000" baseline="-25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i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= 0, -6.5 ≤ [Fe/H] ≤ -3</a:t>
            </a: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Doherty et al. 2014a,b (MNRAS):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-2.15 ≤ [Fe/H] ≤ +0.15</a:t>
            </a: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F4DB8EF-B845-5721-0462-D42A58579643}"/>
              </a:ext>
            </a:extLst>
          </p:cNvPr>
          <p:cNvSpPr txBox="1">
            <a:spLocks/>
          </p:cNvSpPr>
          <p:nvPr/>
        </p:nvSpPr>
        <p:spPr>
          <a:xfrm>
            <a:off x="6042209" y="4914345"/>
            <a:ext cx="3763892" cy="828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2010 (MNRAS):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-2.15 ≤ [Fe/H] ≤ +0.15</a:t>
            </a:r>
          </a:p>
          <a:p>
            <a:pPr marL="0" indent="0" algn="r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et al. 2018 (MNRAS):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[Fe/H] = -0.7</a:t>
            </a: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r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&amp; Lugaro 2016 (ApJ):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-0.3 ≤ [Fe/H] ≤ +0.15</a:t>
            </a: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r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Cinquegrana &amp; Karakas 2022 (MNRAS): </a:t>
            </a:r>
            <a:r>
              <a:rPr lang="en-AU" sz="1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+0.46 ≤ [Fe/H] ≤ +0.85</a:t>
            </a:r>
          </a:p>
          <a:p>
            <a:pPr marL="0" indent="0" algn="r">
              <a:buNone/>
            </a:pPr>
            <a:endParaRPr lang="en-AU" sz="1000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r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EADBA5-D8D0-63C3-F22E-73540A4D3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719" y="1492090"/>
            <a:ext cx="9581346" cy="380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2226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E9D3D-7ED8-728E-6112-C77E9A63D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54080-B074-3B41-A06E-9A1B7B77A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Final Notes</a:t>
            </a:r>
            <a:endParaRPr lang="en-US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FE8E714-F2DB-8279-895C-087B2AECF3FD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A350715-67AE-7DB7-872F-5D485B096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1E96831-CC0E-C20C-B006-BF90E1AF8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48A1641-CF93-9E60-0FD0-C650B7CAC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D905DA2-6E18-E958-E808-5F52EEB8A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62F2A81-9169-C1E4-FC1E-F79552873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0AAA032B-4204-6AEF-5D27-E254FA65F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2629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28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E80ADE3-9EFF-0548-C834-3D115C995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728" y="1891104"/>
            <a:ext cx="9254437" cy="3818264"/>
          </a:xfrm>
          <a:prstGeom prst="rect">
            <a:avLst/>
          </a:prstGeom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E6F9325-99BF-2B9C-5C38-0E272C09DDCF}"/>
              </a:ext>
            </a:extLst>
          </p:cNvPr>
          <p:cNvSpPr txBox="1">
            <a:spLocks/>
          </p:cNvSpPr>
          <p:nvPr/>
        </p:nvSpPr>
        <p:spPr>
          <a:xfrm>
            <a:off x="2133787" y="2754604"/>
            <a:ext cx="4412181" cy="6518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Campbell &amp; Lattanzio 2008 (A&amp;A): </a:t>
            </a:r>
            <a:r>
              <a:rPr lang="en-AU" sz="1000" i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Z</a:t>
            </a:r>
            <a:r>
              <a:rPr lang="en-AU" sz="1000" baseline="-25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i </a:t>
            </a: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= 0, -6.5 ≤ [Fe/H] ≤ -3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et al. 2018 (MNRAS): [Fe/H] = -0.7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2010 (MNRAS): -2.15 ≤ [Fe/H] ≤ +0.15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2451A2D-1447-CC64-835F-7B5FDB1E653A}"/>
              </a:ext>
            </a:extLst>
          </p:cNvPr>
          <p:cNvSpPr txBox="1">
            <a:spLocks/>
          </p:cNvSpPr>
          <p:nvPr/>
        </p:nvSpPr>
        <p:spPr>
          <a:xfrm>
            <a:off x="6376854" y="2751049"/>
            <a:ext cx="3763892" cy="828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Karakas &amp; Lugaro 2016 (ApJ): -0.3 ≤ [Fe/H] ≤ +0.15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Cinquegrana &amp; Karakas 2022 (MNRAS): +0.46 ≤ [Fe/H] ≤ +0.85</a:t>
            </a:r>
          </a:p>
          <a:p>
            <a:pPr marL="0" indent="0"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1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ea typeface="Cambria Math" panose="020405030504060302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257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2515</TotalTime>
  <Words>3189</Words>
  <Application>Microsoft Macintosh PowerPoint</Application>
  <PresentationFormat>Widescreen</PresentationFormat>
  <Paragraphs>429</Paragraphs>
  <Slides>28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Aptos</vt:lpstr>
      <vt:lpstr>Aptos Display</vt:lpstr>
      <vt:lpstr>Arial</vt:lpstr>
      <vt:lpstr>Segoe UI</vt:lpstr>
      <vt:lpstr>Segoe UI Light</vt:lpstr>
      <vt:lpstr>Segoe UI Semibold</vt:lpstr>
      <vt:lpstr>Office Theme</vt:lpstr>
      <vt:lpstr>PowerPoint Presentation</vt:lpstr>
      <vt:lpstr>AGB Stars Matter For Chemical Evolution</vt:lpstr>
      <vt:lpstr>AGB Structure</vt:lpstr>
      <vt:lpstr>AGB Structure</vt:lpstr>
      <vt:lpstr>The Thermal Pulse Cycle</vt:lpstr>
      <vt:lpstr>The Thermal Pulse Cycle &amp; the s-process</vt:lpstr>
      <vt:lpstr>The Thermal Pulse Cycle</vt:lpstr>
      <vt:lpstr>MZAMS &amp; Zi vs the Thermal Pulse Cycle</vt:lpstr>
      <vt:lpstr>MZAMS &amp; Zi vs the Thermal Pulse Cycle</vt:lpstr>
      <vt:lpstr>MZAMS &amp; Zi vs the Thermal Pulse Cycle</vt:lpstr>
      <vt:lpstr>MZAMS &amp; Zi vs the Thermal Pulse Cycle</vt:lpstr>
      <vt:lpstr>MZAMS &amp; Zi vs the Thermal Pulse Cycle</vt:lpstr>
      <vt:lpstr>MZAMS &amp; Zi vs the Thermal Pulse Cycle</vt:lpstr>
      <vt:lpstr>MZAMS &amp; Zi vs the Thermal Pulse Cycle</vt:lpstr>
      <vt:lpstr>MZAMS &amp; Zi vs the Thermal Pulse Cycle</vt:lpstr>
      <vt:lpstr>MZAMS &amp; Zi vs the Thermal Pulse Cycle</vt:lpstr>
      <vt:lpstr>MZAMS &amp; Zi vs the Thermal Pulse Cycle</vt:lpstr>
      <vt:lpstr>Zi &amp; Thermal Pulses</vt:lpstr>
      <vt:lpstr>Zi &amp; Third Dredge Up</vt:lpstr>
      <vt:lpstr>Zi &amp; Hot Bottom Burning</vt:lpstr>
      <vt:lpstr>Zi &amp; Opacity vs Mean Molecular Weight</vt:lpstr>
      <vt:lpstr>Zi &amp; Slow Neutron Capture Processes</vt:lpstr>
      <vt:lpstr>MZAMS &amp; Zi vs the Thermal Pulse Cycle</vt:lpstr>
      <vt:lpstr>Proton Ingestion Episodes (PIEs)</vt:lpstr>
      <vt:lpstr>Nucleosynthesis during PIEs</vt:lpstr>
      <vt:lpstr>Carbon Yields Across MZAMS &amp; Zi</vt:lpstr>
      <vt:lpstr>Nitrogen Yields Across MZAMS &amp; Zi</vt:lpstr>
      <vt:lpstr>Final 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Giulia Catherine Cinquegrana</dc:creator>
  <cp:lastModifiedBy>Giulia Catherine Cinquegrana</cp:lastModifiedBy>
  <cp:revision>6</cp:revision>
  <dcterms:created xsi:type="dcterms:W3CDTF">2026-09-06T06:08:28Z</dcterms:created>
  <dcterms:modified xsi:type="dcterms:W3CDTF">2026-09-08T00:03:56Z</dcterms:modified>
</cp:coreProperties>
</file>