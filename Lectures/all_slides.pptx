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5" r:id="rId10"/>
    <p:sldId id="264" r:id="rId11"/>
    <p:sldId id="263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/>
    <p:restoredTop sz="94658"/>
  </p:normalViewPr>
  <p:slideViewPr>
    <p:cSldViewPr snapToGrid="0">
      <p:cViewPr varScale="1">
        <p:scale>
          <a:sx n="120" d="100"/>
          <a:sy n="120" d="100"/>
        </p:scale>
        <p:origin x="8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1781E3-DC37-024A-A905-CF9063AF0618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F7F73-0DCF-8B4E-ADFE-DF62D93A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672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EF7F73-0DCF-8B4E-ADFE-DF62D93ADA5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776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79439-1465-B282-28B2-40EE53E05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28BA8A-9692-AD0A-3F02-A53556568E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0641C-3B08-75E1-0E31-5F20EA7F3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46E63B-DF06-33E7-D950-2BF718AA9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76238-8498-4233-4237-5DD4FA855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543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18454-1F46-98D7-86C4-97101FF51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06098-0B6E-C718-E033-0B963F7649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BA97D5-A84B-068E-E4E5-0DA15A6D6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92431-8C2C-9976-2262-0D4DC8EC1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55E78-5662-FAA8-73DA-9F5BFA372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751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DC64F-2F6A-777D-B311-57EE91C1C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F8B63-5140-5D9F-807B-9F838391D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9CEB0-7C5A-FEC8-D9AC-D1CD0B555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A9AF5-CA1F-6E92-A8F4-FF34E8570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94E76-F4E1-EB3A-4332-84E04B134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2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BA8C1-142B-0FAB-63C7-633A157CA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854C7-C538-D4C5-5771-D226715C73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E36FE-6FA7-2F78-93A2-DA8EC3044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C7D732-1839-A91C-C6BF-0A3533F8A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E627C-748E-D440-4E9B-A5A8DA8EC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786AE-A4DD-0E9D-1191-4780BA31C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917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96C8B-8FBE-BE12-AF06-7DB06B169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E4056-F388-8C02-6E92-77CC82DF7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11B677-F411-4D79-D746-6B4ADD544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BD843-DEA8-0F9B-68B9-7065965019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AC3B59-EE5B-B938-1164-7140D3D551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7C412A-70B5-3D03-42E9-CDA176AF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2AD977-4ACF-8F01-10F6-8487D0C58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2F266A-23A5-0A57-5298-76C3F31EB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62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CB08-794D-8160-7F35-CDB2304D4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1BBACA-5F4C-2EF2-B8A4-F202DC164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64C68-8D33-6167-9D82-01528B5AC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48C0B2-AAFF-05CD-23E1-7E408C8F4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016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A604EC-5469-FD37-C333-E31393BC8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B2F89F-4D8C-A5BB-554D-9CA1ED3BB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C80F3-1937-C20C-ABCD-8B9D1464F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413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38A63-6379-B503-F293-C1A118B15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ECAF9-F4B5-92DB-FE22-45CDE7CF8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8CFC1A-9553-F74A-9E98-2E7082400D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313058-0A85-D309-4774-2FC98B872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97F69A-A58F-8C1B-E51C-404DBC63D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5E577A-33E0-4198-BA50-05A8FE314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93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ED010-1FB2-15C9-CCD0-0A98E8F9E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AB0FDF-15E9-1482-B39F-0770288757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0CEA01-928A-C315-6470-E25C802C1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8555B2-6142-AB6B-E2D2-FB07671E2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5EBB1-9837-52C0-4D70-BF07BC78F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4E3259-ECBE-9F8F-840A-40EC03F9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47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BD571-4BF4-1B8A-4BE3-A50804BD9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E4444B-2A15-15B4-2E0C-1B8B353FC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76CF5-674F-8FCB-531A-D66C478A0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6F62D9-EFCE-4A80-1678-876EE6C9B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51FDB-2715-7F0F-5497-4C0FF95BB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130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C4B296-E926-3947-FFB6-875EDF098C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0B48B3-FB90-48DC-AEFD-D287AF6F75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B3F56-58F6-66AD-7065-6CE6A44AC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26B53-7FB6-D0F4-635F-B831F853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E09D5-0938-7B8A-28BE-AB9DD360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401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A50804-C16C-63FB-F8B6-A2C338AC9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F6407-72DB-0632-96D3-91B11B34BD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2BE14-4FEE-E19A-0003-2C8EB5B687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0CCF0B-01DC-FD44-973D-A9C4E02EA187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4C365-EAA2-1F9E-50DF-A44BE7E9F7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AE2BAF-4452-2444-37F1-A20CB9B08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B881D2-1658-844D-91F6-28C97A05C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26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5BE62-738B-D142-60C5-59F6E04CF0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350388-6D19-9FD9-CF78-2917254D68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3D12C4-E65C-FC6B-F141-47715D4CD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27E8CA2-FEFA-65AD-1A65-3C50B555D9C8}"/>
              </a:ext>
            </a:extLst>
          </p:cNvPr>
          <p:cNvSpPr txBox="1">
            <a:spLocks/>
          </p:cNvSpPr>
          <p:nvPr/>
        </p:nvSpPr>
        <p:spPr>
          <a:xfrm>
            <a:off x="-29435" y="1405331"/>
            <a:ext cx="12221435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I. NUCLEOSYNTHESIS:</a:t>
            </a:r>
          </a:p>
          <a:p>
            <a:r>
              <a:rPr lang="en-US" sz="3000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 stellar origins of the elements</a:t>
            </a:r>
          </a:p>
        </p:txBody>
      </p:sp>
    </p:spTree>
    <p:extLst>
      <p:ext uri="{BB962C8B-B14F-4D97-AF65-F5344CB8AC3E}">
        <p14:creationId xmlns:p14="http://schemas.microsoft.com/office/powerpoint/2010/main" val="3423663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4C559-1ADC-67C0-1E91-72A56FBFF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21313-571A-090E-96D5-F3E2639AD6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7B8E86-9406-3B02-4167-FC2B8A355D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D9D1BA-4ACF-DD14-F65E-0057E2F72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43EE160-2FA5-D702-A5A2-EB09CAF6D249}"/>
              </a:ext>
            </a:extLst>
          </p:cNvPr>
          <p:cNvSpPr txBox="1">
            <a:spLocks/>
          </p:cNvSpPr>
          <p:nvPr/>
        </p:nvSpPr>
        <p:spPr>
          <a:xfrm>
            <a:off x="-29435" y="1405331"/>
            <a:ext cx="12221435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II. NUCLEI ON THE AGB:</a:t>
            </a:r>
          </a:p>
          <a:p>
            <a:r>
              <a:rPr lang="en-US" sz="3000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From the light elements to the </a:t>
            </a:r>
            <a:r>
              <a:rPr lang="en-US" sz="3000" i="1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s-</a:t>
            </a:r>
            <a:r>
              <a:rPr lang="en-US" sz="3000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and </a:t>
            </a:r>
            <a:r>
              <a:rPr lang="en-US" sz="3000" i="1" dirty="0" err="1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</a:t>
            </a:r>
            <a:r>
              <a:rPr lang="en-US" sz="3000" i="1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-</a:t>
            </a:r>
            <a:r>
              <a:rPr lang="en-US" sz="3000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processes</a:t>
            </a:r>
          </a:p>
        </p:txBody>
      </p:sp>
    </p:spTree>
    <p:extLst>
      <p:ext uri="{BB962C8B-B14F-4D97-AF65-F5344CB8AC3E}">
        <p14:creationId xmlns:p14="http://schemas.microsoft.com/office/powerpoint/2010/main" val="2169623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705EFF-0BE9-561C-052A-60DB148A4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6A4048-DDE7-2624-98C8-AE2B7A6B4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Why AGB stars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5C82F-E98C-59C4-0EFC-C7672C9CA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653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56C5-5802-A0D1-E0E3-5B61EBDD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4ADB99-DB64-F85E-802E-0B4D17F5E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5A4E56-8358-5E62-79DB-689A77E63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AGB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AD5B1-E688-7EB9-66B4-1555CBCF2E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9563" y="1825625"/>
            <a:ext cx="5814237" cy="4351338"/>
          </a:xfrm>
        </p:spPr>
        <p:txBody>
          <a:bodyPr>
            <a:normAutofit fontScale="62500" lnSpcReduction="20000"/>
          </a:bodyPr>
          <a:lstStyle/>
          <a:p>
            <a:pPr marL="0" lvl="0" indent="0">
              <a:buNone/>
            </a:pP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POST CORE HE BURNING: </a:t>
            </a:r>
            <a:r>
              <a:rPr lang="en-AU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Star contracts but is not massive enough to ignite C burning. </a:t>
            </a:r>
          </a:p>
          <a:p>
            <a:pPr marL="0" lvl="0" indent="0">
              <a:buNone/>
            </a:pP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EARLY AGB:</a:t>
            </a:r>
            <a:r>
              <a:rPr lang="en-AU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AU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He burning ignites in a shell around inert C/O core (with active H-burning </a:t>
            </a:r>
            <a:r>
              <a:rPr lang="en-AU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shell above). </a:t>
            </a:r>
            <a:r>
              <a:rPr lang="en-AU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 He shell burns itself progressively thinner until it becomes thermally unstable.</a:t>
            </a:r>
          </a:p>
          <a:p>
            <a:pPr marL="0" lvl="0" indent="0">
              <a:buNone/>
            </a:pP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THERMAL PULSE:</a:t>
            </a:r>
            <a:r>
              <a:rPr lang="en-AU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AU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 thermonuclear runaway produces a He-shell flash, driving the outer layers of the star to expand. </a:t>
            </a:r>
          </a:p>
          <a:p>
            <a:pPr marL="0" lvl="0" indent="0">
              <a:buNone/>
            </a:pP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AFTER THE PULSE:</a:t>
            </a:r>
            <a:r>
              <a:rPr lang="en-AU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AU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He burning subsides and the star contracts; sufficiently massive stars reignite the H-burning shell and enter the thermally pulsing AGB (TP-AGB). </a:t>
            </a:r>
          </a:p>
          <a:p>
            <a:pPr marL="0" lvl="0" indent="0">
              <a:buNone/>
            </a:pPr>
            <a:r>
              <a:rPr lang="en-AU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VERY LOW MASS AGBs: </a:t>
            </a:r>
            <a:r>
              <a:rPr lang="en-AU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May leave after the early-AGB phase without entering the TP-AGB.</a:t>
            </a:r>
          </a:p>
          <a:p>
            <a:pPr marL="0" lvl="0" indent="0">
              <a:buNone/>
            </a:pPr>
            <a:r>
              <a:rPr lang="en-AU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MASSIVE AGBs: </a:t>
            </a:r>
            <a:r>
              <a:rPr lang="en-AU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May ignite off-centre carbon burning during this period. And will go through a second dredge up mixing event before entering the TP-AGB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8FE61C7-0704-D63A-CAEE-F02F2AAFDC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7149"/>
          <a:stretch>
            <a:fillRect/>
          </a:stretch>
        </p:blipFill>
        <p:spPr>
          <a:xfrm>
            <a:off x="152962" y="1690688"/>
            <a:ext cx="5386601" cy="401899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1D7216B-2BC5-8CE6-52E5-D05B67A94CE1}"/>
              </a:ext>
            </a:extLst>
          </p:cNvPr>
          <p:cNvSpPr/>
          <p:nvPr/>
        </p:nvSpPr>
        <p:spPr>
          <a:xfrm>
            <a:off x="152962" y="1825625"/>
            <a:ext cx="1782164" cy="343418"/>
          </a:xfrm>
          <a:prstGeom prst="rect">
            <a:avLst/>
          </a:prstGeom>
          <a:solidFill>
            <a:srgbClr val="020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378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26954-303B-5F73-7132-66E4483F9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26F26-10CC-FF03-42AF-E773A4D20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674125A-5A5D-534F-500C-91E21EEE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 Thermal Pulse Cycle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AF1443-4B39-D1F3-7E36-B738297D2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9563" y="1825625"/>
            <a:ext cx="5814237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THERMAL PULSE</a:t>
            </a:r>
            <a:r>
              <a:rPr lang="en-US" sz="2400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: </a:t>
            </a:r>
          </a:p>
          <a:p>
            <a:pPr marL="0" indent="0">
              <a:buNone/>
            </a:pPr>
            <a:r>
              <a:rPr lang="en-AU" sz="2000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He-burning shell becomes thermally unstable. A brief </a:t>
            </a:r>
            <a:r>
              <a:rPr lang="en-AU" sz="2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flash</a:t>
            </a:r>
            <a:r>
              <a:rPr lang="en-AU" sz="2000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from the He-shell drives a convective zone through the intershell.</a:t>
            </a:r>
            <a:endParaRPr lang="en-US" sz="2000" dirty="0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POWER DOWN:</a:t>
            </a:r>
          </a:p>
          <a:p>
            <a:pPr marL="0" indent="0">
              <a:buNone/>
            </a:pPr>
            <a:r>
              <a:rPr lang="en-AU" sz="2000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He-shell burning rapidly subsides. The star expands and the H-burning shell may be temporarily extinguished.</a:t>
            </a:r>
            <a:endParaRPr lang="en-US" sz="2000" dirty="0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THIRD DREDGE UP:</a:t>
            </a:r>
          </a:p>
          <a:p>
            <a:pPr marL="0" lvl="0" indent="0">
              <a:buNone/>
            </a:pPr>
            <a:r>
              <a:rPr lang="en-AU" sz="2000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 convective envelope moves inward into the He-rich intershell, mixing He-burning products and s-process material to the surface.</a:t>
            </a:r>
            <a:endParaRPr lang="en-US" sz="2000" b="1" dirty="0">
              <a:solidFill>
                <a:schemeClr val="accent5">
                  <a:lumMod val="20000"/>
                  <a:lumOff val="80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INTERPULSE PHASE:</a:t>
            </a:r>
          </a:p>
          <a:p>
            <a:pPr marL="0" lvl="0" indent="0">
              <a:buNone/>
            </a:pPr>
            <a:r>
              <a:rPr lang="en-AU" sz="2000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H-burning shell reignites and provides most of the stellar luminosity. Pressure builds up on the He shell until the next thermal pulse.</a:t>
            </a:r>
            <a:endParaRPr lang="en-US" sz="2000" dirty="0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 total number of thermal-pulse cycles depends on the initial stellar mass and metallicity.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C1CC9E-4975-D4D1-B9C9-9307662159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149"/>
          <a:stretch>
            <a:fillRect/>
          </a:stretch>
        </p:blipFill>
        <p:spPr>
          <a:xfrm>
            <a:off x="152962" y="1690688"/>
            <a:ext cx="5386601" cy="401899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A5D163F-A882-4727-CE39-FDA766DF52DC}"/>
              </a:ext>
            </a:extLst>
          </p:cNvPr>
          <p:cNvSpPr/>
          <p:nvPr/>
        </p:nvSpPr>
        <p:spPr>
          <a:xfrm>
            <a:off x="152962" y="1825625"/>
            <a:ext cx="1782164" cy="343418"/>
          </a:xfrm>
          <a:prstGeom prst="rect">
            <a:avLst/>
          </a:prstGeom>
          <a:solidFill>
            <a:srgbClr val="020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02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27B55-A027-BDEF-8F9B-EC964CE8E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A0A2F4-8382-0716-D85F-3855272F6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659F87-70A5-D9D9-5131-83ACF6C2C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Dredge Up &amp; Surface Enrichment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46355-29D5-8606-36A2-591BD8714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478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51A7A-3AD4-6418-BAFB-61DEDA82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8D6E97-3F31-9EC8-2F59-CAD9CF923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F11DAB-E6BA-93A5-D1EE-EA4003096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Light Element Nucleosynthesis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D99AC-89A8-C0F5-B7CD-8B2C16AA4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7922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50B6C-6C2B-50A8-EDEF-45C089D37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DE31ED-4C99-11D9-DFEC-EB16FDDC3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0C40C-FFEB-B76E-10DF-DC43A3123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Neutron Sources in AGBs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E5823-CD47-F657-3380-F2A7EF3D3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25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5DAC6-A6CC-6A75-1CE7-9A6974AC6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F21AB7-C6EC-3A84-3476-5C873E199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48459E-D712-848C-90DD-F4F6FE2CB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 </a:t>
            </a:r>
            <a:r>
              <a:rPr lang="en-US" i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slow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neutron capture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592FB-BE1C-2027-836F-9981383CF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022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5F20-3D9F-A10F-503B-191217E6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871829E-048D-D30F-D923-4DE6E0BEC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D161EB-4A08-FB76-D92A-2D433AA25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 </a:t>
            </a:r>
            <a:r>
              <a:rPr lang="en-US" i="1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intermediate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neutron capture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D92356-4C94-1431-CE83-9A90F7E34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957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0D15-495E-3E16-897E-C76078BB2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9ECDC5-E188-56EA-2D34-1AAC8E47E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4ED874-2EB4-C159-5D18-7E6F5F83A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From Stellar Physics to Yields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EDE03-0444-5A06-5755-02599BA4B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843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68499-9130-8F1E-A293-6937F6D03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FDEC4-E796-5754-01A5-1E59C4E260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8B609-B99C-0324-9F77-9C58565EFA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6CE58C-A219-895B-9D68-84219466A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435" y="-17808"/>
            <a:ext cx="12223659" cy="687580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932991F-18DE-EC4E-C2DE-8CC8F1F14E0A}"/>
              </a:ext>
            </a:extLst>
          </p:cNvPr>
          <p:cNvSpPr txBox="1">
            <a:spLocks/>
          </p:cNvSpPr>
          <p:nvPr/>
        </p:nvSpPr>
        <p:spPr>
          <a:xfrm>
            <a:off x="1524000" y="1405331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III. STELLAR YIELDS:</a:t>
            </a:r>
          </a:p>
          <a:p>
            <a:r>
              <a:rPr lang="en-US" sz="3000" dirty="0">
                <a:solidFill>
                  <a:srgbClr val="FFD5F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What are they, and how are they calculated?</a:t>
            </a:r>
          </a:p>
        </p:txBody>
      </p:sp>
    </p:spTree>
    <p:extLst>
      <p:ext uri="{BB962C8B-B14F-4D97-AF65-F5344CB8AC3E}">
        <p14:creationId xmlns:p14="http://schemas.microsoft.com/office/powerpoint/2010/main" val="2678824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331</Words>
  <Application>Microsoft Macintosh PowerPoint</Application>
  <PresentationFormat>Widescreen</PresentationFormat>
  <Paragraphs>31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Why AGB stars matter</vt:lpstr>
      <vt:lpstr>AGB Structure</vt:lpstr>
      <vt:lpstr>The Thermal Pulse Cycle</vt:lpstr>
      <vt:lpstr>Dredge Up &amp; Surface Enrichment</vt:lpstr>
      <vt:lpstr>Light Element Nucleosynthesis</vt:lpstr>
      <vt:lpstr>Neutron Sources in AGBs</vt:lpstr>
      <vt:lpstr>The slow neutron capture process</vt:lpstr>
      <vt:lpstr>The intermediate neutron capture process</vt:lpstr>
      <vt:lpstr>From Stellar Physics to Yields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Catherine Cinquegrana</dc:creator>
  <cp:lastModifiedBy>Giulia Catherine Cinquegrana</cp:lastModifiedBy>
  <cp:revision>2</cp:revision>
  <dcterms:created xsi:type="dcterms:W3CDTF">2026-08-14T22:59:14Z</dcterms:created>
  <dcterms:modified xsi:type="dcterms:W3CDTF">2026-08-15T01:29:17Z</dcterms:modified>
</cp:coreProperties>
</file>