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70" r:id="rId5"/>
    <p:sldId id="258" r:id="rId6"/>
    <p:sldId id="259" r:id="rId7"/>
    <p:sldId id="260" r:id="rId8"/>
    <p:sldId id="261" r:id="rId9"/>
    <p:sldId id="262" r:id="rId10"/>
    <p:sldId id="265" r:id="rId11"/>
    <p:sldId id="264" r:id="rId12"/>
    <p:sldId id="263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70"/>
    <p:restoredTop sz="94658"/>
  </p:normalViewPr>
  <p:slideViewPr>
    <p:cSldViewPr snapToGrid="0">
      <p:cViewPr>
        <p:scale>
          <a:sx n="131" d="100"/>
          <a:sy n="131" d="100"/>
        </p:scale>
        <p:origin x="384" y="-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781E3-DC37-024A-A905-CF9063AF0618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F7F73-0DCF-8B4E-ADFE-DF62D93AD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72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F7F73-0DCF-8B4E-ADFE-DF62D93ADA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26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3AFB5-0F48-7BB9-6259-8F02BE0B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17FCAD-B92C-4F1F-1519-94E1FD848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8CC3B-1924-1C0A-0446-D31883A20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18D75-6435-5461-3579-D7FC3A5B45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F7F73-0DCF-8B4E-ADFE-DF62D93ADA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69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F7F73-0DCF-8B4E-ADFE-DF62D93ADA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76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79439-1465-B282-28B2-40EE53E05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8BA8A-9692-AD0A-3F02-A53556568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0641C-3B08-75E1-0E31-5F20EA7F3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CF0B-01DC-FD44-973D-A9C4E02EA187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6E63B-DF06-33E7-D950-2BF718AA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76238-8498-4233-4237-5DD4FA85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81D2-1658-844D-91F6-28C97A05C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43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18454-1F46-98D7-86C4-97101FF5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06098-0B6E-C718-E033-0B963F764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A97D5-A84B-068E-E4E5-0DA15A6D6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CF0B-01DC-FD44-973D-A9C4E02EA187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92431-8C2C-9976-2262-0D4DC8EC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55E78-5662-FAA8-73DA-9F5BFA372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81D2-1658-844D-91F6-28C97A05C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51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DC64F-2F6A-777D-B311-57EE91C1C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F8B63-5140-5D9F-807B-9F838391D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9CEB0-7C5A-FEC8-D9AC-D1CD0B555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CF0B-01DC-FD44-973D-A9C4E02EA187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A9AF5-CA1F-6E92-A8F4-FF34E8570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94E76-F4E1-EB3A-4332-84E04B13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81D2-1658-844D-91F6-28C97A05C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1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A8C1-142B-0FAB-63C7-633A157CA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854C7-C538-D4C5-5771-D226715C7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E36FE-6FA7-2F78-93A2-DA8EC3044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7D732-1839-A91C-C6BF-0A3533F8A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CF0B-01DC-FD44-973D-A9C4E02EA187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E627C-748E-D440-4E9B-A5A8DA8EC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786AE-A4DD-0E9D-1191-4780BA31C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81D2-1658-844D-91F6-28C97A05C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917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96C8B-8FBE-BE12-AF06-7DB06B169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E4056-F388-8C02-6E92-77CC82DF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1B677-F411-4D79-D746-6B4ADD544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BD843-DEA8-0F9B-68B9-706596501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AC3B59-EE5B-B938-1164-7140D3D55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7C412A-70B5-3D03-42E9-CDA176AF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CF0B-01DC-FD44-973D-A9C4E02EA187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AD977-4ACF-8F01-10F6-8487D0C5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2F266A-23A5-0A57-5298-76C3F31E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81D2-1658-844D-91F6-28C97A05C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2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ACB08-794D-8160-7F35-CDB2304D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1BBACA-5F4C-2EF2-B8A4-F202DC164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CF0B-01DC-FD44-973D-A9C4E02EA187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64C68-8D33-6167-9D82-01528B5AC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8C0B2-AAFF-05CD-23E1-7E408C8F4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81D2-1658-844D-91F6-28C97A05C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16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A604EC-5469-FD37-C333-E31393BC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CF0B-01DC-FD44-973D-A9C4E02EA187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B2F89F-4D8C-A5BB-554D-9CA1ED3B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C80F3-1937-C20C-ABCD-8B9D1464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81D2-1658-844D-91F6-28C97A05C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13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8A63-6379-B503-F293-C1A118B15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ECAF9-F4B5-92DB-FE22-45CDE7CF8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CFC1A-9553-F74A-9E98-2E7082400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13058-0A85-D309-4774-2FC98B872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CF0B-01DC-FD44-973D-A9C4E02EA187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7F69A-A58F-8C1B-E51C-404DBC63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E577A-33E0-4198-BA50-05A8FE31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81D2-1658-844D-91F6-28C97A05C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93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ED010-1FB2-15C9-CCD0-0A98E8F9E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AB0FDF-15E9-1482-B39F-0770288757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CEA01-928A-C315-6470-E25C802C1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555B2-6142-AB6B-E2D2-FB07671E2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CF0B-01DC-FD44-973D-A9C4E02EA187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5EBB1-9837-52C0-4D70-BF07BC78F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E3259-ECBE-9F8F-840A-40EC03F9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81D2-1658-844D-91F6-28C97A05C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7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D571-4BF4-1B8A-4BE3-A50804BD9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4444B-2A15-15B4-2E0C-1B8B353FC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76CF5-674F-8FCB-531A-D66C478A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CF0B-01DC-FD44-973D-A9C4E02EA187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F62D9-EFCE-4A80-1678-876EE6C9B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51FDB-2715-7F0F-5497-4C0FF95BB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81D2-1658-844D-91F6-28C97A05C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3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C4B296-E926-3947-FFB6-875EDF098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B48B3-FB90-48DC-AEFD-D287AF6F7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B3F56-58F6-66AD-7065-6CE6A44AC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CF0B-01DC-FD44-973D-A9C4E02EA187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26B53-7FB6-D0F4-635F-B831F853E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E09D5-0938-7B8A-28BE-AB9DD360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81D2-1658-844D-91F6-28C97A05C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01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A50804-C16C-63FB-F8B6-A2C338AC9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F6407-72DB-0632-96D3-91B11B34B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2BE14-4FEE-E19A-0003-2C8EB5B687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0CCF0B-01DC-FD44-973D-A9C4E02EA187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4C365-EAA2-1F9E-50DF-A44BE7E9F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E2BAF-4452-2444-37F1-A20CB9B08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B881D2-1658-844D-91F6-28C97A05C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6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5BE62-738B-D142-60C5-59F6E04CF0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350388-6D19-9FD9-CF78-2917254D68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3D12C4-E65C-FC6B-F141-47715D4CD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435" y="-17808"/>
            <a:ext cx="12223659" cy="687580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27E8CA2-FEFA-65AD-1A65-3C50B555D9C8}"/>
              </a:ext>
            </a:extLst>
          </p:cNvPr>
          <p:cNvSpPr txBox="1">
            <a:spLocks/>
          </p:cNvSpPr>
          <p:nvPr/>
        </p:nvSpPr>
        <p:spPr>
          <a:xfrm>
            <a:off x="-14718" y="2042319"/>
            <a:ext cx="12221435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rgbClr val="FFD5F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I. NUCLEOSYNTHESIS:</a:t>
            </a:r>
          </a:p>
          <a:p>
            <a:r>
              <a:rPr lang="en-US" sz="3000" dirty="0">
                <a:solidFill>
                  <a:srgbClr val="FFD5F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stellar origins of the elements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A7C872-A3A4-FBA2-4134-A2DB71C14A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62" t="22834" r="66424" b="20804"/>
          <a:stretch>
            <a:fillRect/>
          </a:stretch>
        </p:blipFill>
        <p:spPr>
          <a:xfrm>
            <a:off x="5365310" y="1513934"/>
            <a:ext cx="1418346" cy="143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63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4C559-1ADC-67C0-1E91-72A56FBFF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1313-571A-090E-96D5-F3E2639AD6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B8E86-9406-3B02-4167-FC2B8A355D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D9D1BA-4ACF-DD14-F65E-0057E2F72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435" y="-17808"/>
            <a:ext cx="12223659" cy="687580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C359070-706D-8594-6489-93C991B88D37}"/>
              </a:ext>
            </a:extLst>
          </p:cNvPr>
          <p:cNvSpPr txBox="1">
            <a:spLocks/>
          </p:cNvSpPr>
          <p:nvPr/>
        </p:nvSpPr>
        <p:spPr>
          <a:xfrm>
            <a:off x="-29435" y="2042645"/>
            <a:ext cx="12221435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rgbClr val="FFD5F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II. NUCLEI ON THE AGB:</a:t>
            </a:r>
          </a:p>
          <a:p>
            <a:r>
              <a:rPr lang="en-US" sz="3000" dirty="0">
                <a:solidFill>
                  <a:srgbClr val="FFD5F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Light element nucleosynthesis to </a:t>
            </a:r>
            <a:r>
              <a:rPr lang="en-US" sz="3000" i="1" dirty="0">
                <a:solidFill>
                  <a:srgbClr val="FFD5F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s-</a:t>
            </a:r>
            <a:r>
              <a:rPr lang="en-US" sz="3000" dirty="0">
                <a:solidFill>
                  <a:srgbClr val="FFD5F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en-US" sz="3000" i="1" dirty="0" err="1">
                <a:solidFill>
                  <a:srgbClr val="FFD5F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3000" i="1" dirty="0">
                <a:solidFill>
                  <a:srgbClr val="FFD5F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US" sz="3000" dirty="0">
                <a:solidFill>
                  <a:srgbClr val="FFD5F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processes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17A9EC-F96B-DAF0-0722-F016511306F9}"/>
              </a:ext>
            </a:extLst>
          </p:cNvPr>
          <p:cNvSpPr txBox="1">
            <a:spLocks/>
          </p:cNvSpPr>
          <p:nvPr/>
        </p:nvSpPr>
        <p:spPr>
          <a:xfrm>
            <a:off x="8200439" y="3715302"/>
            <a:ext cx="2446778" cy="2550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" dirty="0">
                <a:solidFill>
                  <a:srgbClr val="FFD5F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Asymptotic Giant Branch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5AF308-08E4-D134-A5EC-076C93E365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112" t="22855" r="39435" b="18370"/>
          <a:stretch>
            <a:fillRect/>
          </a:stretch>
        </p:blipFill>
        <p:spPr>
          <a:xfrm>
            <a:off x="5415099" y="1489027"/>
            <a:ext cx="1361802" cy="148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62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705EFF-0BE9-561C-052A-60DB148A4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435" y="-17808"/>
            <a:ext cx="12223659" cy="68758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6A4048-DDE7-2624-98C8-AE2B7A6B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AGB stars matter for chemical evolution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038A3F-B292-D692-1461-3633668ED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79681" y="1487337"/>
            <a:ext cx="4581060" cy="257684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EB24498-1F53-A279-1531-8B5C076F3FDD}"/>
              </a:ext>
            </a:extLst>
          </p:cNvPr>
          <p:cNvSpPr txBox="1">
            <a:spLocks/>
          </p:cNvSpPr>
          <p:nvPr/>
        </p:nvSpPr>
        <p:spPr>
          <a:xfrm>
            <a:off x="5460741" y="1600947"/>
            <a:ext cx="6018028" cy="47417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LIGHT ELEMENTS: </a:t>
            </a:r>
          </a:p>
          <a:p>
            <a:pPr marL="0" indent="0">
              <a:buNone/>
            </a:pP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 burning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N, Na, Al. 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 burning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C, O, Ne.</a:t>
            </a:r>
          </a:p>
          <a:p>
            <a:pPr marL="0" indent="0">
              <a:buNone/>
            </a:pPr>
            <a:endParaRPr lang="en-AU" sz="17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HEAVY ELEMENTS:</a:t>
            </a:r>
            <a:r>
              <a:rPr lang="en-AU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indent="0">
              <a:buNone/>
            </a:pP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Sr, Y, Zr (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AU" sz="1700" b="1" baseline="30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s-process peak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 Cs, Ba, La, Hf (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AU" sz="1700" b="1" baseline="30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nd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peak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), Pb (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AU" sz="1700" b="1" baseline="30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rd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peak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). These abundance peaks correspond to 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magic neutron numbers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which produce particularly stable nuclei.</a:t>
            </a:r>
          </a:p>
          <a:p>
            <a:pPr marL="0" indent="0">
              <a:buNone/>
            </a:pPr>
            <a:endParaRPr lang="en-AU" sz="17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rgbClr val="02013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INITIAL MASS FUNCTION:</a:t>
            </a:r>
            <a:r>
              <a:rPr lang="en-AU" sz="2000" dirty="0">
                <a:solidFill>
                  <a:srgbClr val="02013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indent="0">
              <a:buNone/>
            </a:pPr>
            <a:r>
              <a:rPr lang="en-AU" sz="1700" dirty="0">
                <a:solidFill>
                  <a:srgbClr val="02013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 a Kroupa style IMF, there are roughly 100 </a:t>
            </a:r>
            <a:r>
              <a:rPr lang="en-AU" sz="1700" b="1" dirty="0">
                <a:solidFill>
                  <a:srgbClr val="02013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low-mass stars </a:t>
            </a:r>
            <a:r>
              <a:rPr lang="en-AU" sz="1700" dirty="0">
                <a:solidFill>
                  <a:srgbClr val="02013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 every 20 </a:t>
            </a:r>
            <a:r>
              <a:rPr lang="en-AU" sz="1700" b="1" dirty="0">
                <a:solidFill>
                  <a:srgbClr val="02013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intermediate-mass</a:t>
            </a:r>
            <a:r>
              <a:rPr lang="en-AU" sz="1700" dirty="0">
                <a:solidFill>
                  <a:srgbClr val="02013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and 4 </a:t>
            </a:r>
            <a:r>
              <a:rPr lang="en-AU" sz="1700" b="1" dirty="0">
                <a:solidFill>
                  <a:srgbClr val="02013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massive stars</a:t>
            </a:r>
            <a:r>
              <a:rPr lang="en-AU" sz="1700" dirty="0">
                <a:solidFill>
                  <a:srgbClr val="02013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0" indent="0">
              <a:buNone/>
            </a:pPr>
            <a:endParaRPr lang="en-AU" sz="17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653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62C40-FC9D-CDCC-2801-2C48B33B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BB013E-832A-E61F-7C46-8574F240E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435" y="-17808"/>
            <a:ext cx="12223659" cy="68758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86F367-126D-8FFB-8631-C75D4EDC7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AGB stars matter for chemical evolution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D70743-7889-5B22-981B-C6C4589D8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79681" y="1487337"/>
            <a:ext cx="4581060" cy="257684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2654215-7C0A-0C89-F79A-4BC9F577BC33}"/>
              </a:ext>
            </a:extLst>
          </p:cNvPr>
          <p:cNvSpPr txBox="1">
            <a:spLocks/>
          </p:cNvSpPr>
          <p:nvPr/>
        </p:nvSpPr>
        <p:spPr>
          <a:xfrm>
            <a:off x="5460741" y="1600947"/>
            <a:ext cx="6018028" cy="47417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LIGHT ELEMENTS: </a:t>
            </a:r>
          </a:p>
          <a:p>
            <a:pPr marL="0" indent="0">
              <a:buNone/>
            </a:pP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 burning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N, Na, Al. 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 burning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C, O, Ne.</a:t>
            </a:r>
          </a:p>
          <a:p>
            <a:pPr marL="0" indent="0">
              <a:buNone/>
            </a:pPr>
            <a:endParaRPr lang="en-AU" sz="17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HEAVY ELEMENTS:</a:t>
            </a:r>
            <a:r>
              <a:rPr lang="en-AU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indent="0">
              <a:buNone/>
            </a:pP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Sr, Y, Zr (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AU" sz="1700" b="1" baseline="30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s-process peak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 Cs, Ba, La, Hf (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AU" sz="1700" b="1" baseline="30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nd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peak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), Pb (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AU" sz="1700" b="1" baseline="30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rd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peak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). These abundance peaks correspond to 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magic neutron numbers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which produce particularly stable nuclei.</a:t>
            </a:r>
          </a:p>
          <a:p>
            <a:pPr marL="0" indent="0">
              <a:buNone/>
            </a:pPr>
            <a:endParaRPr lang="en-AU" sz="17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INITIAL MASS FUNCTION:</a:t>
            </a:r>
            <a:r>
              <a:rPr lang="en-AU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indent="0">
              <a:buNone/>
            </a:pP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 a Kroupa style IMF, there are roughly 100 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low-mass stars 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 every 20 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intermediate-mass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and 4 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massive stars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0" indent="0">
              <a:buNone/>
            </a:pPr>
            <a:endParaRPr lang="en-AU" sz="17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3076223-C7ED-9ED8-612D-DE7D9D5DE4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122" b="24809"/>
          <a:stretch>
            <a:fillRect/>
          </a:stretch>
        </p:blipFill>
        <p:spPr>
          <a:xfrm>
            <a:off x="641792" y="3995314"/>
            <a:ext cx="4818949" cy="17367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8FAEFC1-FEB6-EFB8-49A7-DF73B73360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329697" y="4213273"/>
            <a:ext cx="598250" cy="12520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95EE3AD-1643-7A0B-E370-6FC8E9F7E5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329697" y="3717566"/>
            <a:ext cx="598250" cy="125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59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556C5-5802-A0D1-E0E3-5B61EBDD2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4ADB99-DB64-F85E-802E-0B4D17F5E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435" y="-17808"/>
            <a:ext cx="12223659" cy="68758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5A4E56-8358-5E62-79DB-689A77E6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AGB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AD5B1-E688-7EB9-66B4-1555CBCF2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0741" y="1557401"/>
            <a:ext cx="6018028" cy="447764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 CORE He BURNING: </a:t>
            </a:r>
          </a:p>
          <a:p>
            <a:pPr marL="0" lvl="0" indent="0">
              <a:buNone/>
            </a:pP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Star contracts but is not massive enough to ignite C burning. Instead, ignites He burning shell below pre-existing H burning shell.</a:t>
            </a: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EARLY AGB:</a:t>
            </a:r>
            <a:r>
              <a:rPr lang="en-AU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lvl="0" indent="0">
              <a:buNone/>
            </a:pP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 shell burns progressively itself thinner in mass until it is thermally unstable (the thin shell instability).</a:t>
            </a: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THERMAL PULSE:</a:t>
            </a:r>
            <a:r>
              <a:rPr lang="en-AU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lvl="0" indent="0">
              <a:buNone/>
            </a:pP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Thermonuclear runaway produces a flash originating from the He-shell. This drives an expansion of the outer layers.</a:t>
            </a: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AFTER THE PULSE:</a:t>
            </a:r>
            <a:r>
              <a:rPr lang="en-AU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lvl="0" indent="0">
              <a:buNone/>
            </a:pP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 burning subsides and star contracts. Sufficiently massive stars reignite H-burning and enter the TP-AGB.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FE61C7-0704-D63A-CAEE-F02F2AAFDC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348"/>
          <a:stretch>
            <a:fillRect/>
          </a:stretch>
        </p:blipFill>
        <p:spPr>
          <a:xfrm>
            <a:off x="152962" y="1690688"/>
            <a:ext cx="5259011" cy="401899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1D7216B-2BC5-8CE6-52E5-D05B67A94CE1}"/>
              </a:ext>
            </a:extLst>
          </p:cNvPr>
          <p:cNvSpPr/>
          <p:nvPr/>
        </p:nvSpPr>
        <p:spPr>
          <a:xfrm>
            <a:off x="152962" y="1825625"/>
            <a:ext cx="1782164" cy="343418"/>
          </a:xfrm>
          <a:prstGeom prst="rect">
            <a:avLst/>
          </a:prstGeom>
          <a:solidFill>
            <a:srgbClr val="020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78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26954-303B-5F73-7132-66E4483F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326F26-10CC-FF03-42AF-E773A4D20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435" y="-17808"/>
            <a:ext cx="12223659" cy="68758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74125A-5A5D-534F-500C-91E21EEE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thermally pulsing AGB cycle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C1CC9E-4975-D4D1-B9C9-9307662159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149"/>
          <a:stretch>
            <a:fillRect/>
          </a:stretch>
        </p:blipFill>
        <p:spPr>
          <a:xfrm>
            <a:off x="152962" y="1690688"/>
            <a:ext cx="5386601" cy="401899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A5D163F-A882-4727-CE39-FDA766DF52DC}"/>
              </a:ext>
            </a:extLst>
          </p:cNvPr>
          <p:cNvSpPr/>
          <p:nvPr/>
        </p:nvSpPr>
        <p:spPr>
          <a:xfrm>
            <a:off x="152962" y="1825625"/>
            <a:ext cx="1782164" cy="343418"/>
          </a:xfrm>
          <a:prstGeom prst="rect">
            <a:avLst/>
          </a:prstGeom>
          <a:solidFill>
            <a:srgbClr val="020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8B26B57-695E-A381-BCFC-85444747F11F}"/>
              </a:ext>
            </a:extLst>
          </p:cNvPr>
          <p:cNvSpPr txBox="1">
            <a:spLocks/>
          </p:cNvSpPr>
          <p:nvPr/>
        </p:nvSpPr>
        <p:spPr>
          <a:xfrm>
            <a:off x="5460741" y="1557400"/>
            <a:ext cx="6018028" cy="5526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1. THERMAL PULSE: </a:t>
            </a:r>
          </a:p>
          <a:p>
            <a:pPr marL="0" indent="0">
              <a:buNone/>
            </a:pP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He-burning shell becomes thermally unstable. A brief </a:t>
            </a:r>
            <a:r>
              <a:rPr lang="en-AU" sz="17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flash</a:t>
            </a: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from the He-shell drives a convective zone through the intershell.</a:t>
            </a:r>
            <a:endParaRPr lang="en-US" sz="17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2. POWER DOWN:</a:t>
            </a:r>
            <a:r>
              <a:rPr lang="en-AU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indent="0">
              <a:buNone/>
            </a:pP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He-shell burning rapidly subsides. The star expands and the H-burning shell may be temporarily extinguished.</a:t>
            </a:r>
            <a:endParaRPr lang="en-US" sz="17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3. THIRD DREDGE UP:</a:t>
            </a:r>
            <a:r>
              <a:rPr lang="en-AU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lvl="0" indent="0">
              <a:buNone/>
            </a:pP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convective envelope moves inward into the He-rich intershell, mixing He-burning products and s-process material to the surface.</a:t>
            </a:r>
            <a:endParaRPr lang="en-US" sz="1700" b="1" dirty="0">
              <a:solidFill>
                <a:schemeClr val="accent5">
                  <a:lumMod val="20000"/>
                  <a:lumOff val="8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4. INTERPULSE PHASE:</a:t>
            </a:r>
            <a:r>
              <a:rPr lang="en-AU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lvl="0" indent="0">
              <a:buNone/>
            </a:pPr>
            <a:r>
              <a:rPr lang="en-AU" sz="17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H-burning shell reignites and provides most of the stellar luminosity. Pressure builds up on the He shell until the next thermal pulse.</a:t>
            </a:r>
            <a:endParaRPr lang="en-US" sz="17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002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27B55-A027-BDEF-8F9B-EC964CE8E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A0A2F4-8382-0716-D85F-3855272F6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435" y="-17808"/>
            <a:ext cx="12223659" cy="68758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659F87-70A5-D9D9-5131-83ACF6C2C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Surface enrichment from dredge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46355-29D5-8606-36A2-591BD8714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Show theory and </a:t>
            </a:r>
            <a:r>
              <a:rPr lang="en-US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obs</a:t>
            </a: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evidence here</a:t>
            </a:r>
          </a:p>
        </p:txBody>
      </p:sp>
    </p:spTree>
    <p:extLst>
      <p:ext uri="{BB962C8B-B14F-4D97-AF65-F5344CB8AC3E}">
        <p14:creationId xmlns:p14="http://schemas.microsoft.com/office/powerpoint/2010/main" val="3098478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51A7A-3AD4-6418-BAFB-61DEDA82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8D6E97-3F31-9EC8-2F59-CAD9CF923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435" y="-17808"/>
            <a:ext cx="12223659" cy="68758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F11DAB-E6BA-93A5-D1EE-EA400309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Light element nucleosynthesis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D99AC-89A8-C0F5-B7CD-8B2C16AA4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Including HBB</a:t>
            </a:r>
          </a:p>
        </p:txBody>
      </p:sp>
    </p:spTree>
    <p:extLst>
      <p:ext uri="{BB962C8B-B14F-4D97-AF65-F5344CB8AC3E}">
        <p14:creationId xmlns:p14="http://schemas.microsoft.com/office/powerpoint/2010/main" val="1887922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50B6C-6C2B-50A8-EDEF-45C089D3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DE31ED-4C99-11D9-DFEC-EB16FDDC3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435" y="-17808"/>
            <a:ext cx="12223659" cy="68758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0C40C-FFEB-B76E-10DF-DC43A3123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Neutron sources on the AGB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E5823-CD47-F657-3380-F2A7EF3D3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2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5DAC6-A6CC-6A75-1CE7-9A6974AC6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21AB7-C6EC-3A84-3476-5C873E199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435" y="-17808"/>
            <a:ext cx="12223659" cy="68758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48459E-D712-848C-90DD-F4F6FE2C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</a:t>
            </a:r>
            <a:r>
              <a:rPr lang="en-US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slow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neutron capture (s-)process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592FB-BE1C-2027-836F-9981383CF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022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B5F20-3D9F-A10F-503B-191217E6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71829E-048D-D30F-D923-4DE6E0BEC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435" y="-17808"/>
            <a:ext cx="12223659" cy="68758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D161EB-4A08-FB76-D92A-2D433AA25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Intermediate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neutron capture (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-)process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92356-4C94-1431-CE83-9A90F7E34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957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0D15-495E-3E16-897E-C76078BB2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9ECDC5-E188-56EA-2D34-1AAC8E47E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435" y="-17808"/>
            <a:ext cx="12223659" cy="68758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4ED874-2EB4-C159-5D18-7E6F5F83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Stellar models to yields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EDE03-0444-5A06-5755-02599BA4B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Cumulative effect of the TP-AGB </a:t>
            </a:r>
          </a:p>
          <a:p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Mass and metallicity: how does it effect the yields?</a:t>
            </a:r>
          </a:p>
        </p:txBody>
      </p:sp>
    </p:spTree>
    <p:extLst>
      <p:ext uri="{BB962C8B-B14F-4D97-AF65-F5344CB8AC3E}">
        <p14:creationId xmlns:p14="http://schemas.microsoft.com/office/powerpoint/2010/main" val="4020843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68499-9130-8F1E-A293-6937F6D03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DEC4-E796-5754-01A5-1E59C4E260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8B609-B99C-0324-9F77-9C58565EFA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6CE58C-A219-895B-9D68-84219466A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435" y="-17808"/>
            <a:ext cx="12223659" cy="687580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13CDDED-70AF-18B2-5F42-6C97EEC65412}"/>
              </a:ext>
            </a:extLst>
          </p:cNvPr>
          <p:cNvSpPr txBox="1">
            <a:spLocks/>
          </p:cNvSpPr>
          <p:nvPr/>
        </p:nvSpPr>
        <p:spPr>
          <a:xfrm>
            <a:off x="1524000" y="204265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rgbClr val="FFD5F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III. STELLAR YIELDS:</a:t>
            </a:r>
          </a:p>
          <a:p>
            <a:r>
              <a:rPr lang="en-US" sz="3000" dirty="0">
                <a:solidFill>
                  <a:srgbClr val="FFD5F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 introduction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C21E39-FFA9-9F0C-6287-6FF3C38370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101" t="22834" r="9954" b="21151"/>
          <a:stretch>
            <a:fillRect/>
          </a:stretch>
        </p:blipFill>
        <p:spPr>
          <a:xfrm>
            <a:off x="5348871" y="1600200"/>
            <a:ext cx="1494258" cy="139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24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8895</TotalTime>
  <Words>488</Words>
  <Application>Microsoft Macintosh PowerPoint</Application>
  <PresentationFormat>Widescreen</PresentationFormat>
  <Paragraphs>56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AGB stars matter for chemical evolution</vt:lpstr>
      <vt:lpstr>AGB stars matter for chemical evolution</vt:lpstr>
      <vt:lpstr>AGB structure</vt:lpstr>
      <vt:lpstr>The thermally pulsing AGB cycle</vt:lpstr>
      <vt:lpstr>Surface enrichment from dredge up</vt:lpstr>
      <vt:lpstr>Light element nucleosynthesis</vt:lpstr>
      <vt:lpstr>Neutron sources on the AGB</vt:lpstr>
      <vt:lpstr>The slow neutron capture (s-)process</vt:lpstr>
      <vt:lpstr>Intermediate neutron capture (i-)process</vt:lpstr>
      <vt:lpstr>Stellar models to yields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 Catherine Cinquegrana</dc:creator>
  <cp:lastModifiedBy>Giulia Catherine Cinquegrana</cp:lastModifiedBy>
  <cp:revision>3</cp:revision>
  <dcterms:created xsi:type="dcterms:W3CDTF">2026-08-14T22:59:14Z</dcterms:created>
  <dcterms:modified xsi:type="dcterms:W3CDTF">2026-08-21T03:14:18Z</dcterms:modified>
</cp:coreProperties>
</file>